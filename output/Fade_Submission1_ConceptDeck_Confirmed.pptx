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4e5f7a53b24975" /><Relationship Type="http://schemas.openxmlformats.org/officeDocument/2006/relationships/extended-properties" Target="/docProps/app.xml" Id="Rf38e0c90692d44bd" /><Relationship Type="http://schemas.openxmlformats.org/officeDocument/2006/relationships/officeDocument" Target="/ppt/presentation.xml" Id="Ra44338514167411f" /></Relationships>
</file>

<file path=ppt/presentation.xml><?xml version="1.0" encoding="utf-8"?>
<p:presentation xmlns:p="http://schemas.openxmlformats.org/presentationml/2006/main">
  <p:sldMasterIdLst>
    <p:sldMasterId xmlns:r="http://schemas.openxmlformats.org/officeDocument/2006/relationships" id="2147483648" r:id="R0f8e312b7eab424f"/>
  </p:sldMasterIdLst>
  <p:notesMasterIdLst>
    <p:notesMasterId xmlns:r="http://schemas.openxmlformats.org/officeDocument/2006/relationships" r:id="R8b701f435c214b98"/>
  </p:notesMasterIdLst>
  <p:sldIdLst>
    <p:sldId xmlns:r="http://schemas.openxmlformats.org/officeDocument/2006/relationships" id="256" r:id="R499312910787459a"/>
    <p:sldId xmlns:r="http://schemas.openxmlformats.org/officeDocument/2006/relationships" id="257" r:id="R61467d67310c4e1c"/>
    <p:sldId xmlns:r="http://schemas.openxmlformats.org/officeDocument/2006/relationships" id="258" r:id="R651ab84ed12a42f6"/>
    <p:sldId xmlns:r="http://schemas.openxmlformats.org/officeDocument/2006/relationships" id="259" r:id="R4ed7b9e7b7e54c08"/>
    <p:sldId xmlns:r="http://schemas.openxmlformats.org/officeDocument/2006/relationships" id="260" r:id="R0f153e3fb8e4443a"/>
    <p:sldId xmlns:r="http://schemas.openxmlformats.org/officeDocument/2006/relationships" id="261" r:id="Rddb90316f4b844fe"/>
    <p:sldId xmlns:r="http://schemas.openxmlformats.org/officeDocument/2006/relationships" id="262" r:id="R84efea46c7264f31"/>
    <p:sldId xmlns:r="http://schemas.openxmlformats.org/officeDocument/2006/relationships" id="263" r:id="R13bb27d37e8f4f30"/>
    <p:sldId xmlns:r="http://schemas.openxmlformats.org/officeDocument/2006/relationships" id="264" r:id="R985d90930e0e4cc7"/>
    <p:sldId xmlns:r="http://schemas.openxmlformats.org/officeDocument/2006/relationships" id="265" r:id="R4867c5ffc29e4d75"/>
    <p:sldId xmlns:r="http://schemas.openxmlformats.org/officeDocument/2006/relationships" id="266" r:id="R6b29f0f4f5ce4ca2"/>
    <p:sldId xmlns:r="http://schemas.openxmlformats.org/officeDocument/2006/relationships" id="267" r:id="R8348491aa7d74db8"/>
    <p:sldId xmlns:r="http://schemas.openxmlformats.org/officeDocument/2006/relationships" id="268" r:id="R7df1dd0223e44846"/>
    <p:sldId xmlns:r="http://schemas.openxmlformats.org/officeDocument/2006/relationships" id="269" r:id="R4b35e9d9602e4e7c"/>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c0066800209467c" /><Relationship Type="http://schemas.openxmlformats.org/officeDocument/2006/relationships/slideMaster" Target="/ppt/slideMasters/slideMaster1.xml" Id="R0f8e312b7eab424f" /><Relationship Type="http://schemas.openxmlformats.org/officeDocument/2006/relationships/notesMaster" Target="/ppt/notesMasters/notesMaster1.xml" Id="R8b701f435c214b98" /><Relationship Type="http://schemas.openxmlformats.org/officeDocument/2006/relationships/presProps" Target="/ppt/presProps.xml" Id="R645931e4a080454a" /><Relationship Type="http://schemas.openxmlformats.org/officeDocument/2006/relationships/viewProps" Target="/ppt/viewProps.xml" Id="Rceeccedb410d4808" /><Relationship Type="http://schemas.openxmlformats.org/officeDocument/2006/relationships/tableStyles" Target="/ppt/tableStyles.xml" Id="R209d8215f46847d2" /><Relationship Type="http://schemas.openxmlformats.org/officeDocument/2006/relationships/slide" Target="/ppt/slides/slide1.xml" Id="R499312910787459a" /><Relationship Type="http://schemas.openxmlformats.org/officeDocument/2006/relationships/slide" Target="/ppt/slides/slide2.xml" Id="R61467d67310c4e1c" /><Relationship Type="http://schemas.openxmlformats.org/officeDocument/2006/relationships/slide" Target="/ppt/slides/slide3.xml" Id="R651ab84ed12a42f6" /><Relationship Type="http://schemas.openxmlformats.org/officeDocument/2006/relationships/slide" Target="/ppt/slides/slide4.xml" Id="R4ed7b9e7b7e54c08" /><Relationship Type="http://schemas.openxmlformats.org/officeDocument/2006/relationships/slide" Target="/ppt/slides/slide5.xml" Id="R0f153e3fb8e4443a" /><Relationship Type="http://schemas.openxmlformats.org/officeDocument/2006/relationships/slide" Target="/ppt/slides/slide6.xml" Id="Rddb90316f4b844fe" /><Relationship Type="http://schemas.openxmlformats.org/officeDocument/2006/relationships/slide" Target="/ppt/slides/slide7.xml" Id="R84efea46c7264f31" /><Relationship Type="http://schemas.openxmlformats.org/officeDocument/2006/relationships/slide" Target="/ppt/slides/slide8.xml" Id="R13bb27d37e8f4f30" /><Relationship Type="http://schemas.openxmlformats.org/officeDocument/2006/relationships/slide" Target="/ppt/slides/slide9.xml" Id="R985d90930e0e4cc7" /><Relationship Type="http://schemas.openxmlformats.org/officeDocument/2006/relationships/slide" Target="/ppt/slides/slide10.xml" Id="R4867c5ffc29e4d75" /><Relationship Type="http://schemas.openxmlformats.org/officeDocument/2006/relationships/slide" Target="/ppt/slides/slide11.xml" Id="R6b29f0f4f5ce4ca2" /><Relationship Type="http://schemas.openxmlformats.org/officeDocument/2006/relationships/slide" Target="/ppt/slides/slide12.xml" Id="R8348491aa7d74db8" /><Relationship Type="http://schemas.openxmlformats.org/officeDocument/2006/relationships/slide" Target="/ppt/slides/slide13.xml" Id="R7df1dd0223e44846" /><Relationship Type="http://schemas.openxmlformats.org/officeDocument/2006/relationships/slide" Target="/ppt/slides/slide14.xml" Id="R4b35e9d9602e4e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ec973b4a8241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DG Sprints 2026">
  <a:themeElements>
    <a:clrScheme name="SDG Sprints 2026">
      <a:dk1>
        <a:srgbClr val="0F1B3D"/>
      </a:dk1>
      <a:lt1>
        <a:srgbClr val="FFFFFF"/>
      </a:lt1>
      <a:dk2>
        <a:srgbClr val="1B2B63"/>
      </a:dk2>
      <a:lt2>
        <a:srgbClr val="EEF2F8"/>
      </a:lt2>
      <a:accent1>
        <a:srgbClr val="00629B"/>
      </a:accent1>
      <a:accent2>
        <a:srgbClr val="F28C28"/>
      </a:accent2>
      <a:accent3>
        <a:srgbClr val="2E9E6B"/>
      </a:accent3>
      <a:accent4>
        <a:srgbClr val="55606E"/>
      </a:accent4>
      <a:accent5>
        <a:srgbClr val="C0392B"/>
      </a:accent5>
      <a:accent6>
        <a:srgbClr val="7B5EA7"/>
      </a:accent6>
      <a:hlink>
        <a:srgbClr val="00629B"/>
      </a:hlink>
      <a:folHlink>
        <a:srgbClr val="7B5EA7"/>
      </a:folHlink>
    </a:clrScheme>
    <a:fontScheme name="SDG Sprints 202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DG Sprints 2026">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ca3ed3b71c43b8" /><Relationship Type="http://schemas.openxmlformats.org/officeDocument/2006/relationships/notesMaster" Target="/ppt/notesMasters/notesMaster1.xml" Id="R5918de08c8e647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ca9e1ba35c4316" /><Relationship Type="http://schemas.openxmlformats.org/officeDocument/2006/relationships/notesMaster" Target="/ppt/notesMasters/notesMaster1.xml" Id="R6db0fd1eb01443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b32de364694373" /><Relationship Type="http://schemas.openxmlformats.org/officeDocument/2006/relationships/notesMaster" Target="/ppt/notesMasters/notesMaster1.xml" Id="R102084f96ee642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2a8e8c7747415a" /><Relationship Type="http://schemas.openxmlformats.org/officeDocument/2006/relationships/notesMaster" Target="/ppt/notesMasters/notesMaster1.xml" Id="Rdcd12eccd71440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3a71a4c6904a2e" /><Relationship Type="http://schemas.openxmlformats.org/officeDocument/2006/relationships/notesMaster" Target="/ppt/notesMasters/notesMaster1.xml" Id="Rb71f903ca40349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71a7601f054f19" /><Relationship Type="http://schemas.openxmlformats.org/officeDocument/2006/relationships/notesMaster" Target="/ppt/notesMasters/notesMaster1.xml" Id="R88911a587a9b4f6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8f02b25833411a" /><Relationship Type="http://schemas.openxmlformats.org/officeDocument/2006/relationships/notesMaster" Target="/ppt/notesMasters/notesMaster1.xml" Id="R03b5f8f20b0342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1936446f1fd64b65" /><Relationship Type="http://schemas.openxmlformats.org/officeDocument/2006/relationships/notesMaster" Target="/ppt/notesMasters/notesMaster1.xml" Id="R1dc5c76d918342a8" /></Relationships>
</file>

<file path=ppt/notesSlides/_rels/notesSlide9.xml.rels>&#65279;<?xml version="1.0" encoding="utf-8"?><Relationships xmlns="http://schemas.openxmlformats.org/package/2006/relationships"><Relationship Type="http://schemas.openxmlformats.org/officeDocument/2006/relationships/slide" Target="/ppt/slides/slide9.xml" Id="R5a03bb34c72045b6" /><Relationship Type="http://schemas.openxmlformats.org/officeDocument/2006/relationships/notesMaster" Target="/ppt/notesMasters/notesMaster1.xml" Id="Rc09bbddfb5b1438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c03bc90cdf9489d" /><Relationship Type="http://schemas.openxmlformats.org/officeDocument/2006/relationships/notesMaster" Target="/ppt/notesMasters/notesMaster1.xml" Id="R6325a8232c75445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909181f487746f8" /><Relationship Type="http://schemas.openxmlformats.org/officeDocument/2006/relationships/notesMaster" Target="/ppt/notesMasters/notesMaster1.xml" Id="Rf7554f095eec4d2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8464d8d56ad4584" /><Relationship Type="http://schemas.openxmlformats.org/officeDocument/2006/relationships/notesMaster" Target="/ppt/notesMasters/notesMaster1.xml" Id="Rd45931738fc1492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bbb3c27f7d94190" /><Relationship Type="http://schemas.openxmlformats.org/officeDocument/2006/relationships/notesMaster" Target="/ppt/notesMasters/notesMaster1.xml" Id="R9f7c2b0bb64b4a3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474d7272ecd4f99" /><Relationship Type="http://schemas.openxmlformats.org/officeDocument/2006/relationships/notesMaster" Target="/ppt/notesMasters/notesMaster1.xml" Id="R09d3657bfebb4b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Team name Fade and submission number 1 confirmed by the user. The problem IDs [2.2], [12.2] and [1.3] are valid pool IDs. Confirm their registration selection before upload. Deck updated 27 October 2026. University spelling: https://kdu.ac.lk/our-history-heritage/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 timed. Three members, all second-year Software Engineering students at KDU. Mohanaram leads backend, reservation logic and testing; Manidu covers interface and usability testing; Yasith covers coordination, vendor interviews and the presentation. All three share field notes, evidence review and final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s. State the problem in one breath. The earlier submission reported unsold food near closing time and unsold produce at wholesale markets; these findings are preliminary and a new documented study is needed. The statistics are context only: 32.8% of Sri Lankan households experienced moderate or severe food insecurity in the 12 months preceding the 2024–25 BRIGHT survey, and 35.3% of urban households on the same measure. The about-42% Colombo figure is historical and cited from earlier research. Root causes are hypotheses until measured. Outreach areas Wellawatte, Ratmalana and Panadura are proposed; nobody has been recruited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 Retail buyers near closing time and bulk recipients who can collect with their own transport. Persona details are not established. Donation access is a proposed policy: approved organisations first; individual access remains an open decision. The earlier survey and interviews cannot be verified because the original records are unavailable, so they are preliminary and a new documented study is needed. Nobody has been recruited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s. Lead with the diagram. Retail bundles and wholesale produce lots go through one proposed platform to a buyer or a bulk recipient. Each transfer is a discounted sale or a free donation, with no food price and no platform fee for donations. The buyer or recipient arranges collection; AgriLoop provides no delivery. AgriLoop is a proposed business with a free donation channel. Nothing is built or tested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 Walk the four steps left to right. One server-side stock count stops two buyers taking the last unit; a bulk request is not guaranteed stock until the vendor accepts; accepted weight can differ from requested weight. The technology is a proposal: a web app run locally on our own laptops and phones at first. The QR is only a way to show the reservation reference; the server record decides validity. A working application is planned, with simulated food data. Render and Supabase are costed options, not purchased or final technology commitments. Local development precedes funded hosting.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 Sources reviewed 25–26 October 2026. Too Good To Go offers store pickup and Parcels from manufacturers and wholesalers delivered to customers. Robin Hood Army describes volunteer redistribution and a zero-funds model; its official site lists Sri Lanka in its network. FoodLoop is an unresolved research lead in Appendix B, not a verified comparator. Our combination is a proposed adaptation to test, with no claim of uniqueness or superiority. Sources: https://www.toogoodtogo.com/en-us ; https://www.toogoodtogo.com/en-gb/surplus-food-parcels ; https://robinhoodarmy.com/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 SDG 12 (target 12.3) is primary; SDG 2 (target 2.1) is secondary. For this initial phase we measure prototype performance and learning: all four workflows shown, whether participants complete tasks independently, with help or not at all, whether they understand price or free status and collection arrangements, cancellation, expiry and partial wholesale acceptance, and stock-control tests that prevent double booking. Food collected, collection rate and savings after travel are future live-pilot measures; baselines and targets are not set. Kilograms and portions are reported separately. Simulated transfers never count as food rescued, meals provided or waste prevented. Proposed live-pilot definitions: due reservations are confirmed reservations whose pickup windows have ended during the measurement period; cancelled before the window and expired before the window are excluded. Count a reservation completed when its handover is recorded. Define cancellation and expiry treatment in the pilot protocol before measuring. For sales, net buyer saving equals the price of a comparable item or basket at a documented normal local retail price, minus the actual amount paid and incremental collection travel cost; report donations separately and record the reference price, units and collection cost. These methods are proposed and must be validated before a live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 Distinguish estimated project cost from available cash. The LKR 60,000 paid deployment option is proposed and subject to funding; only LKR 5,000 is committed by the team. Proposed costed scenario, not a quote, commitment or minimum cost. Four-week functional web prototype plus a second month for fixes and demonstrations. Planning FX: USD 1 = LKR 350, a rounded budgeting assumption, not a live bank rate. Render Pro workspace USD 25/month plus one Starter service USD 7/month: 2 x 32 x 350 = LKR 22,400. Pro workspace allows team collaboration; compute is charged separately. Supabase Pro, one Micro project: 2 x USD 25 x 350 = LKR 17,500, assuming included compute credit and usage limits. Domain allowance LKR 5,000 for one year: domain not selected or quoted. Travel 3,000 + data/calls 750 + printing 250 = LKR 4,000. Base subtotal 48,900; contingency 11,100 covers tax, card FX differences, overages and unexpected testing costs; actual costs may exceed it. Total LKR 60,000. Team cash commitment remains LKR 5,000; funding gap LKR 55,000 is unsecured. Existing devices and student development/testing/documentation labour are in-kind, not included in this cash estimate or valued as a commercial development quote. Labour planning assumption: 3 students x 20 hours/week x 4 weeks = 240 hours, subject to team availability. No outsourced developer salary, live-food operations, payment gateway, SMS, paid maps, native app-store fees, or legal/safety professional fees are included. Test accounts are provisioned manually; no paid transactional email required for this phase. Base recurring hosting after month 2: USD 57 x 350 = LKR 19,950/month before taxes, usage extras, domain renewal and labour. Cancel or revise paid services if funding is unavailable. Local development and a smaller demo remain possible under the original team cap. Sources checked 26 Oct 2026: https://render.com/pricing ; https://render.com/docs/platform-features-by-plan ; https://render.com/articles/render-vs-railway ; https://supabase.com/pricing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 Build a working app with simulated food transactions, not just mock-up screens. The four-week schedule depends on recruitment and team availability. Targets remain 2 retail vendors, 1 wholesale vendor, 4 buyers and 1 bulk-recipient representative. Proposed costed scenario, not a quote, commitment or minimum cost. Four-week functional web prototype plus a second month for fixes and demonstrations. Planning FX: USD 1 = LKR 350, a rounded budgeting assumption, not a live bank rate. Render Pro workspace USD 25/month plus one Starter service USD 7/month: 2 x 32 x 350 = LKR 22,400. Pro workspace allows team collaboration; compute is charged separately. Supabase Pro, one Micro project: 2 x USD 25 x 350 = LKR 17,500, assuming included compute credit and usage limits. Domain allowance LKR 5,000 for one year: domain not selected or quoted. Travel 3,000 + data/calls 750 + printing 250 = LKR 4,000. Base subtotal 48,900; contingency 11,100 covers tax, card FX differences, overages and unexpected testing costs; actual costs may exceed it. Total LKR 60,000. Team cash commitment remains LKR 5,000; funding gap LKR 55,000 is unsecured. Existing devices and student development/testing/documentation labour are in-kind, not included in this cash estimate or valued as a commercial development quote. Labour planning assumption: 3 students x 20 hours/week x 4 weeks = 240 hours, subject to team availability. No outsourced developer salary, live-food operations, payment gateway, SMS, paid maps, native app-store fees, or legal/safety professional fees are included. Test accounts are provisioned manually; no paid transactional email required for this phase. Base recurring hosting after month 2: USD 57 x 350 = LKR 19,950/month before taxes, usage extras, domain renewal and labour. Cancel or revise paid services if funding is unavailable. Local development and a smaller demo remain possible under the original team cap. Sources checked 26 Oct 2026: https://render.com/pricing ; https://render.com/docs/platform-features-by-plan ; https://render.com/articles/render-vs-railway ; https://supabase.com/pricing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 Ratings are working estimates, not measured values. Recruitment is not secured; if wholesale or recipient access cannot be arranged we will report that limitation and keep those workflows as simulated demonstrations. Food safety likelihood is "not assessed" on purpose: no real food is used in this phase. Before any later real-food pilot we need participating vendors, eligible food categories, suitable safety advice, handling and collection procedures, incident arrangements and a separate budget. We claim no regulatory approval and no operational readiness. The operational collection assumption requires a later live pilot; simulated usability sessions cannot establish collection feasibility. The proposed LKR 60,000 cash plan has an unsecured LKR 55,000 gap. Limit current spending to the agreed LKR 5,000 team contribution and activate paid services only when funded. Uneven surplus is a separate later-pilot risk: log eligible quantities and zero-surplus days before selecting categories and sites. Atomic transactions and duplicate-handover checks are planned, not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 AgriLoop is at idea stage. Ask for LKR 55,000 of additional funding toward the proposed LKR 60,000 functional prototype budget, plus access to vendors and recipients for research. No funding or partners are secured. Contact: mohanuvaram123@gmail.com.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(not timed). Citations map to numbered references. Competitor sources reviewed 25–26 October 2026 describe advertised features and organisational models, not independently audited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(not timed). The earlier survey and interview records are unavailable, so these findings are preliminary and need a new documented study. Secondary sources are cited with their scope and one known inconsistency in the source text. FoodLoop remains a research lead: identity, Sri Lankan presence and features require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3eb1907646463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9bd7ef211464d0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4258e9ad20c454c"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LIGHT">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ACF9B4F-B572-426D-8584-35960724E2A2}"/>
              </a:ext>
            </a:extLst>
          </p:cNvPr>
          <p:cNvSpPr>
            <a:spLocks xmlns:a="http://schemas.openxmlformats.org/drawingml/2006/main" noGrp="1"/>
          </p:cNvSpPr>
          <p:nvPr/>
        </p:nvSpPr>
        <p:spPr>
          <a:xfrm xmlns:a="http://schemas.openxmlformats.org/drawingml/2006/main">
            <a:off x="548640" y="6419088"/>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chemeClr val="accent4"/>
                </a:solidFill>
              </a:rPr>
              <a:t>IEEE SIGHT · SDG SPRINTS 2026  |  Solution Concept Deck</a:t>
            </a:r>
            <a:endParaRPr sz="1000"/>
          </a:p>
        </p:txBody>
      </p:sp>
      <p:sp>
        <p:nvSpPr>
          <p:cNvPr id="25" name="Slide Number Placeholder 0">
            <a:extLst xmlns:a="http://schemas.openxmlformats.org/drawingml/2006/main">
              <a:ext uri="{FF2B5EF4-FFF2-40B4-BE49-F238E27FC236}">
                <a16:creationId xmlns:a16="http://schemas.microsoft.com/office/drawing/2014/main" id="{4555CB16-4064-4B45-9EE6-79B507C6BD26}"/>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a:t>
            </a:fld>
            <a:endParaRPr/>
          </a:p>
        </p:txBody>
      </p:sp>
    </p:spTree>
  </p:cSld>
</p:sldLayout>
</file>

<file path=ppt/slideLayouts/slideLayout3.xml><?xml version="1.0" encoding="utf-8"?>
<p:sldLayout xmlns:p="http://schemas.openxmlformats.org/presentationml/2006/main" preserve="1">
  <p:cSld name="DARK">
    <p:bg>
      <p:bgPr>
        <a:solidFill xmlns:a="http://schemas.openxmlformats.org/drawingml/2006/main">
          <a:schemeClr val="tx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52468FE-8B23-45ED-9BFB-FA15ED3E2E57}"/>
              </a:ext>
            </a:extLst>
          </p:cNvPr>
          <p:cNvSpPr>
            <a:spLocks xmlns:a="http://schemas.openxmlformats.org/drawingml/2006/main" noGrp="1"/>
          </p:cNvSpPr>
          <p:nvPr/>
        </p:nvSpPr>
        <p:spPr>
          <a:xfrm xmlns:a="http://schemas.openxmlformats.org/drawingml/2006/main">
            <a:off x="548640" y="6419088"/>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chemeClr val="bg2"/>
                </a:solidFill>
              </a:rPr>
              <a:t>IEEE SIGHT · SDG SPRINTS 2026  |  Solution Concept Deck</a:t>
            </a:r>
            <a:endParaRPr sz="1000"/>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d1294e1a6741e7" /><Relationship Type="http://schemas.openxmlformats.org/officeDocument/2006/relationships/slideLayout" Target="/ppt/slideLayouts/slideLayout1.xml" Id="R40788c64357a4f63" /><Relationship Type="http://schemas.openxmlformats.org/officeDocument/2006/relationships/slideLayout" Target="/ppt/slideLayouts/slideLayout2.xml" Id="R676a3e95fc78426a" /><Relationship Type="http://schemas.openxmlformats.org/officeDocument/2006/relationships/slideLayout" Target="/ppt/slideLayouts/slideLayout3.xml" Id="R627c2de202a44df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03051DB2-C8E4-405E-B570-E1C9A134F7EB}"/>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788c64357a4f63"/>
    <p:sldLayoutId xmlns:r="http://schemas.openxmlformats.org/officeDocument/2006/relationships" id="2147483650" r:id="R676a3e95fc78426a"/>
    <p:sldLayoutId xmlns:r="http://schemas.openxmlformats.org/officeDocument/2006/relationships" id="2147483651" r:id="R627c2de202a44dfe"/>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SDG Sprints 2026">
  <a:themeElements>
    <a:clrScheme name="SDG Sprints 2026">
      <a:dk1>
        <a:srgbClr val="0F1B3D"/>
      </a:dk1>
      <a:lt1>
        <a:srgbClr val="FFFFFF"/>
      </a:lt1>
      <a:dk2>
        <a:srgbClr val="1B2B63"/>
      </a:dk2>
      <a:lt2>
        <a:srgbClr val="EEF2F8"/>
      </a:lt2>
      <a:accent1>
        <a:srgbClr val="00629B"/>
      </a:accent1>
      <a:accent2>
        <a:srgbClr val="F28C28"/>
      </a:accent2>
      <a:accent3>
        <a:srgbClr val="2E9E6B"/>
      </a:accent3>
      <a:accent4>
        <a:srgbClr val="55606E"/>
      </a:accent4>
      <a:accent5>
        <a:srgbClr val="C0392B"/>
      </a:accent5>
      <a:accent6>
        <a:srgbClr val="7B5EA7"/>
      </a:accent6>
      <a:hlink>
        <a:srgbClr val="00629B"/>
      </a:hlink>
      <a:folHlink>
        <a:srgbClr val="7B5EA7"/>
      </a:folHlink>
    </a:clrScheme>
    <a:fontScheme name="SDG Sprints 202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DG Sprints 2026">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d3de3b0a1c55456e" /><Relationship Type="http://schemas.openxmlformats.org/officeDocument/2006/relationships/notesSlide" Target="/ppt/notesSlides/notesSlide1.xml" Id="R701e1e56c1de41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7d6eb023a29c4c07" /><Relationship Type="http://schemas.openxmlformats.org/officeDocument/2006/relationships/notesSlide" Target="/ppt/notesSlides/notesSlide2.xml" Id="R20c68e6ff63548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43a315e4fc5b4f16" /><Relationship Type="http://schemas.openxmlformats.org/officeDocument/2006/relationships/notesSlide" Target="/ppt/notesSlides/notesSlide3.xml" Id="Ra3a43cd415b949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06d1bf546bc34531" /><Relationship Type="http://schemas.openxmlformats.org/officeDocument/2006/relationships/notesSlide" Target="/ppt/notesSlides/notesSlide4.xml" Id="Rd40e0635d6034a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5431ed5a8eff44f5" /><Relationship Type="http://schemas.openxmlformats.org/officeDocument/2006/relationships/notesSlide" Target="/ppt/notesSlides/notesSlide5.xml" Id="Ra9ecbf414a4344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98b6340f4f6c4450" /><Relationship Type="http://schemas.openxmlformats.org/officeDocument/2006/relationships/notesSlide" Target="/ppt/notesSlides/notesSlide6.xml" Id="Rcd0f3799855443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be9c19d66e8a4a90" /><Relationship Type="http://schemas.openxmlformats.org/officeDocument/2006/relationships/notesSlide" Target="/ppt/notesSlides/notesSlide7.xml" Id="Rf90cc14f9f044a7e"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d7f2edd6861a47c9" /><Relationship Type="http://schemas.openxmlformats.org/officeDocument/2006/relationships/notesSlide" Target="/ppt/notesSlides/notesSlide8.xml" Id="R306d2a1e23674ba4"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527f5d39e8884d95" /><Relationship Type="http://schemas.openxmlformats.org/officeDocument/2006/relationships/notesSlide" Target="/ppt/notesSlides/notesSlide9.xml" Id="R9df061ba3c2e425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b5d92d2ec0e64002" /><Relationship Type="http://schemas.openxmlformats.org/officeDocument/2006/relationships/notesSlide" Target="/ppt/notesSlides/notesSlide10.xml" Id="Rb45a371c09fa482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16546a3b0f534cd8" /><Relationship Type="http://schemas.openxmlformats.org/officeDocument/2006/relationships/notesSlide" Target="/ppt/notesSlides/notesSlide11.xml" Id="R76ab4e7d3ab34de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61a6911dbdd44971" /><Relationship Type="http://schemas.openxmlformats.org/officeDocument/2006/relationships/notesSlide" Target="/ppt/notesSlides/notesSlide12.xml" Id="Rbf650f40d07a4e6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420c5fe0775e4c27" /><Relationship Type="http://schemas.openxmlformats.org/officeDocument/2006/relationships/notesSlide" Target="/ppt/notesSlides/notesSlide13.xml" Id="R077786763055449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55a42d7a40ba4d38" /><Relationship Type="http://schemas.openxmlformats.org/officeDocument/2006/relationships/notesSlide" Target="/ppt/notesSlides/notesSlide14.xml" Id="R54aa5487c2064c8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E5A4E46-4393-4ED7-99D2-93B0EE8DB4E1}"/>
              </a:ext>
            </a:extLst>
          </p:cNvPr>
          <p:cNvSpPr>
            <a:spLocks xmlns:a="http://schemas.openxmlformats.org/drawingml/2006/main" noGrp="1"/>
          </p:cNvSpPr>
          <p:nvPr/>
        </p:nvSpPr>
        <p:spPr>
          <a:xfrm xmlns:a="http://schemas.openxmlformats.org/drawingml/2006/main">
            <a:off x="548640" y="731520"/>
            <a:ext cx="6766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chemeClr val="accent2"/>
                </a:solidFill>
              </a:rPr>
              <a:t>IEEE SIGHT · SDG SPRINTS 2026</a:t>
            </a:r>
            <a:endParaRPr sz="1600"/>
          </a:p>
        </p:txBody>
      </p:sp>
      <p:sp>
        <p:nvSpPr>
          <p:cNvPr id="3" name="Text 1">
            <a:extLst xmlns:a="http://schemas.openxmlformats.org/drawingml/2006/main">
              <a:ext uri="{FF2B5EF4-FFF2-40B4-BE49-F238E27FC236}">
                <a16:creationId xmlns:a16="http://schemas.microsoft.com/office/drawing/2014/main" id="{C19BE088-FDD7-4308-9928-F1A9B87AE6F9}"/>
              </a:ext>
            </a:extLst>
          </p:cNvPr>
          <p:cNvSpPr>
            <a:spLocks xmlns:a="http://schemas.openxmlformats.org/drawingml/2006/main" noGrp="1"/>
          </p:cNvSpPr>
          <p:nvPr/>
        </p:nvSpPr>
        <p:spPr>
          <a:xfrm xmlns:a="http://schemas.openxmlformats.org/drawingml/2006/main">
            <a:off x="548640" y="1051560"/>
            <a:ext cx="6766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bg2"/>
                </a:solidFill>
              </a:rPr>
              <a:t>SOLUTION CONCEPT DECK  ·  CHECKPOINT 3</a:t>
            </a:r>
            <a:endParaRPr sz="1400"/>
          </a:p>
        </p:txBody>
      </p:sp>
      <p:sp>
        <p:nvSpPr>
          <p:cNvPr id="4" name="Text 2">
            <a:extLst xmlns:a="http://schemas.openxmlformats.org/drawingml/2006/main">
              <a:ext uri="{FF2B5EF4-FFF2-40B4-BE49-F238E27FC236}">
                <a16:creationId xmlns:a16="http://schemas.microsoft.com/office/drawing/2014/main" id="{F1CC83D4-2177-4DAC-8EA5-2747053163F9}"/>
              </a:ext>
            </a:extLst>
          </p:cNvPr>
          <p:cNvSpPr>
            <a:spLocks xmlns:a="http://schemas.openxmlformats.org/drawingml/2006/main" noGrp="1"/>
          </p:cNvSpPr>
          <p:nvPr/>
        </p:nvSpPr>
        <p:spPr>
          <a:xfrm xmlns:a="http://schemas.openxmlformats.org/drawingml/2006/main">
            <a:off x="548640" y="1463040"/>
            <a:ext cx="676656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400" b="1">
                <a:solidFill>
                  <a:schemeClr val="bg1"/>
                </a:solidFill>
              </a:rPr>
              <a:t>AgriLoop</a:t>
            </a:r>
            <a:endParaRPr sz="4400"/>
          </a:p>
        </p:txBody>
      </p:sp>
      <p:sp>
        <p:nvSpPr>
          <p:cNvPr id="5" name="Text 3">
            <a:extLst xmlns:a="http://schemas.openxmlformats.org/drawingml/2006/main">
              <a:ext uri="{FF2B5EF4-FFF2-40B4-BE49-F238E27FC236}">
                <a16:creationId xmlns:a16="http://schemas.microsoft.com/office/drawing/2014/main" id="{7097D90C-B65C-4F30-8F73-C8192F36C061}"/>
              </a:ext>
            </a:extLst>
          </p:cNvPr>
          <p:cNvSpPr>
            <a:spLocks xmlns:a="http://schemas.openxmlformats.org/drawingml/2006/main" noGrp="1"/>
          </p:cNvSpPr>
          <p:nvPr/>
        </p:nvSpPr>
        <p:spPr>
          <a:xfrm xmlns:a="http://schemas.openxmlformats.org/drawingml/2006/main">
            <a:off x="548640" y="3840480"/>
            <a:ext cx="676656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i="1">
                <a:solidFill>
                  <a:schemeClr val="bg2"/>
                </a:solidFill>
              </a:rPr>
              <a:t>A proposed business with a free donation channel, helping retail and wholesale vendors offer eligible surplus for discounted sale or free donation, collected by the buyer or recipient.</a:t>
            </a:r>
            <a:endParaRPr sz="1800"/>
          </a:p>
        </p:txBody>
      </p:sp>
      <p:sp>
        <p:nvSpPr>
          <p:cNvPr id="6" name="Logo area">
            <a:extLst xmlns:a="http://schemas.openxmlformats.org/drawingml/2006/main">
              <a:ext uri="{FF2B5EF4-FFF2-40B4-BE49-F238E27FC236}">
                <a16:creationId xmlns:a16="http://schemas.microsoft.com/office/drawing/2014/main" id="{1A24E1CE-0BC4-470C-B920-70F4B15AA3CB}"/>
              </a:ext>
            </a:extLst>
          </p:cNvPr>
          <p:cNvSpPr>
            <a:spLocks xmlns:a="http://schemas.openxmlformats.org/drawingml/2006/main" noGrp="1"/>
          </p:cNvSpPr>
          <p:nvPr/>
        </p:nvSpPr>
        <p:spPr>
          <a:xfrm xmlns:a="http://schemas.openxmlformats.org/drawingml/2006/main">
            <a:off x="548640" y="5486400"/>
            <a:ext cx="6766560" cy="640080"/>
          </a:xfrm>
          <a:prstGeom xmlns:a="http://schemas.openxmlformats.org/drawingml/2006/main" prst="roundRect">
            <a:avLst>
              <a:gd name="adj" fmla="val 11429"/>
            </a:avLst>
          </a:prstGeom>
          <a:noFill xmlns:a="http://schemas.openxmlformats.org/drawingml/2006/main"/>
          <a:ln xmlns:a="http://schemas.openxmlformats.org/drawingml/2006/main" w="12700">
            <a:solidFill>
              <a:srgbClr val="8FA3C7"/>
            </a:solidFill>
            <a:prstDash val="dash"/>
          </a:ln>
        </p:spPr>
        <p:txBody>
          <a:bodyPr xmlns:a="http://schemas.openxmlformats.org/drawingml/2006/main" wrap="square" anchor="ctr"/>
          <a:lstStyle xmlns:a="http://schemas.openxmlformats.org/drawingml/2006/main"/>
          <a:p xmlns:a="http://schemas.openxmlformats.org/drawingml/2006/main">
            <a:pPr marL="0" indent="0" algn="ctr">
              <a:buNone/>
            </a:pPr>
            <a:r>
              <a:rPr sz="1200">
                <a:solidFill>
                  <a:schemeClr val="bg2"/>
                </a:solidFill>
              </a:rPr>
              <a:t>“Small acts, when multiplied by millions of people, can transform the world”  –  Howard Zinn  –</a:t>
            </a:r>
          </a:p>
        </p:txBody>
      </p:sp>
      <p:sp>
        <p:nvSpPr>
          <p:cNvPr id="7" name="Cover details">
            <a:extLst xmlns:a="http://schemas.openxmlformats.org/drawingml/2006/main">
              <a:ext uri="{FF2B5EF4-FFF2-40B4-BE49-F238E27FC236}">
                <a16:creationId xmlns:a16="http://schemas.microsoft.com/office/drawing/2014/main" id="{D5B17751-DA97-45CF-81C8-EA60AAA08B39}"/>
              </a:ext>
            </a:extLst>
          </p:cNvPr>
          <p:cNvSpPr>
            <a:spLocks xmlns:a="http://schemas.openxmlformats.org/drawingml/2006/main" noGrp="1"/>
          </p:cNvSpPr>
          <p:nvPr/>
        </p:nvSpPr>
        <p:spPr>
          <a:xfrm xmlns:a="http://schemas.openxmlformats.org/drawingml/2006/main">
            <a:off x="7863840" y="731520"/>
            <a:ext cx="3794760" cy="5394960"/>
          </a:xfrm>
          <a:prstGeom xmlns:a="http://schemas.openxmlformats.org/drawingml/2006/main" prst="roundRect">
            <a:avLst>
              <a:gd name="adj" fmla="val 1928"/>
            </a:avLst>
          </a:prstGeom>
          <a:solidFill xmlns:a="http://schemas.openxmlformats.org/drawingml/2006/main">
            <a:schemeClr val="bg1"/>
          </a:solidFill>
        </p:spPr>
        <p:txBody>
          <a:bodyPr xmlns:a="http://schemas.openxmlformats.org/drawingml/2006/main" wrap="square" lIns="203200" tIns="203200" rIns="203200" bIns="203200" anchor="t"/>
          <a:lstStyle xmlns:a="http://schemas.openxmlformats.org/drawingml/2006/main"/>
          <a:p xmlns:a="http://schemas.openxmlformats.org/drawingml/2006/main">
            <a:pPr marL="0" indent="0">
              <a:spcAft>
                <a:spcPts val="0"/>
              </a:spcAft>
              <a:buNone/>
            </a:pPr>
            <a:r>
              <a:rPr sz="1200" b="1">
                <a:solidFill>
                  <a:schemeClr val="accent1"/>
                </a:solidFill>
              </a:rPr>
              <a:t>Team name</a:t>
            </a:r>
          </a:p>
          <a:p xmlns:a="http://schemas.openxmlformats.org/drawingml/2006/main">
            <a:pPr marL="0" indent="0">
              <a:spcAft>
                <a:spcPts val="900"/>
              </a:spcAft>
              <a:buNone/>
            </a:pPr>
            <a:r>
              <a:rPr sz="1400">
                <a:solidFill>
                  <a:schemeClr val="tx1"/>
                </a:solidFill>
              </a:rPr>
              <a:t>Fade</a:t>
            </a:r>
          </a:p>
          <a:p xmlns:a="http://schemas.openxmlformats.org/drawingml/2006/main">
            <a:pPr marL="0" indent="0">
              <a:spcAft>
                <a:spcPts val="0"/>
              </a:spcAft>
              <a:buNone/>
            </a:pPr>
            <a:r>
              <a:rPr sz="1200" b="1">
                <a:solidFill>
                  <a:schemeClr val="accent1"/>
                </a:solidFill>
              </a:rPr>
              <a:t>University</a:t>
            </a:r>
          </a:p>
          <a:p xmlns:a="http://schemas.openxmlformats.org/drawingml/2006/main">
            <a:pPr marL="0" indent="0">
              <a:spcAft>
                <a:spcPts val="900"/>
              </a:spcAft>
              <a:buNone/>
            </a:pPr>
            <a:r>
              <a:rPr sz="1400">
                <a:solidFill>
                  <a:schemeClr val="tx1"/>
                </a:solidFill>
              </a:rPr>
              <a:t>General Sir John Kotelawala </a:t>
            </a:r>
            <a:r>
              <a:rPr sz="1400">
                <a:solidFill>
                  <a:schemeClr val="tx1"/>
                </a:solidFill>
              </a:rPr>
              <a:t>Defence</a:t>
            </a:r>
            <a:r>
              <a:rPr sz="1400">
                <a:solidFill>
                  <a:schemeClr val="tx1"/>
                </a:solidFill>
              </a:rPr>
              <a:t> University</a:t>
            </a:r>
          </a:p>
          <a:p xmlns:a="http://schemas.openxmlformats.org/drawingml/2006/main">
            <a:pPr marL="0" indent="0">
              <a:spcAft>
                <a:spcPts val="0"/>
              </a:spcAft>
              <a:buNone/>
            </a:pPr>
            <a:r>
              <a:rPr sz="1200" b="1">
                <a:solidFill>
                  <a:schemeClr val="accent1"/>
                </a:solidFill>
              </a:rPr>
              <a:t>Problem statement ID</a:t>
            </a:r>
          </a:p>
          <a:p xmlns:a="http://schemas.openxmlformats.org/drawingml/2006/main">
            <a:pPr marL="0" indent="0">
              <a:spcAft>
                <a:spcPts val="900"/>
              </a:spcAft>
              <a:buNone/>
            </a:pPr>
            <a:r>
              <a:rPr sz="1400">
                <a:solidFill>
                  <a:schemeClr val="tx1"/>
                </a:solidFill>
              </a:rPr>
              <a:t>[2.2], [12.2], [1.3] (confirm)</a:t>
            </a:r>
          </a:p>
          <a:p xmlns:a="http://schemas.openxmlformats.org/drawingml/2006/main">
            <a:pPr marL="0" indent="0">
              <a:spcAft>
                <a:spcPts val="0"/>
              </a:spcAft>
              <a:buNone/>
            </a:pPr>
            <a:r>
              <a:rPr sz="1200" b="1">
                <a:solidFill>
                  <a:schemeClr val="accent1"/>
                </a:solidFill>
              </a:rPr>
              <a:t>SDG(s) addressed</a:t>
            </a:r>
          </a:p>
          <a:p xmlns:a="http://schemas.openxmlformats.org/drawingml/2006/main">
            <a:pPr marL="0" indent="0">
              <a:spcAft>
                <a:spcPts val="900"/>
              </a:spcAft>
              <a:buNone/>
            </a:pPr>
            <a:r>
              <a:rPr sz="1400">
                <a:solidFill>
                  <a:schemeClr val="tx1"/>
                </a:solidFill>
              </a:rPr>
              <a:t>SDG 12 (target 12.3) and SDG 2 (target 2.1)</a:t>
            </a:r>
          </a:p>
          <a:p xmlns:a="http://schemas.openxmlformats.org/drawingml/2006/main">
            <a:pPr marL="0" indent="0">
              <a:spcAft>
                <a:spcPts val="0"/>
              </a:spcAft>
              <a:buNone/>
            </a:pPr>
            <a:r>
              <a:rPr sz="1200" b="1">
                <a:solidFill>
                  <a:schemeClr val="accent1"/>
                </a:solidFill>
              </a:rPr>
              <a:t>Submission no.</a:t>
            </a:r>
          </a:p>
          <a:p xmlns:a="http://schemas.openxmlformats.org/drawingml/2006/main">
            <a:pPr marL="0" indent="0">
              <a:spcAft>
                <a:spcPts val="0"/>
              </a:spcAft>
              <a:buNone/>
            </a:pPr>
            <a:r>
              <a:rPr sz="1200" b="1">
                <a:solidFill>
                  <a:schemeClr val="accent1"/>
                </a:solidFill>
              </a:rPr>
              <a:t>1</a:t>
            </a:r>
          </a:p>
          <a:p xmlns:a="http://schemas.openxmlformats.org/drawingml/2006/main">
            <a:pPr marL="0" indent="0">
              <a:spcAft>
                <a:spcPts val="0"/>
              </a:spcAft>
              <a:buNone/>
            </a:pPr>
            <a:r>
              <a:rPr sz="1200" b="1">
                <a:solidFill>
                  <a:schemeClr val="accent1"/>
                </a:solidFill>
              </a:rPr>
              <a:t>Team leader</a:t>
            </a:r>
          </a:p>
          <a:p xmlns:a="http://schemas.openxmlformats.org/drawingml/2006/main">
            <a:pPr marL="0" indent="0">
              <a:spcAft>
                <a:spcPts val="900"/>
              </a:spcAft>
              <a:buNone/>
            </a:pPr>
            <a:r>
              <a:rPr sz="1400">
                <a:solidFill>
                  <a:schemeClr val="tx1"/>
                </a:solidFill>
              </a:rPr>
              <a:t>Mohanaram Uvaram</a:t>
            </a:r>
          </a:p>
          <a:p xmlns:a="http://schemas.openxmlformats.org/drawingml/2006/main">
            <a:pPr marL="0" indent="0">
              <a:spcAft>
                <a:spcPts val="0"/>
              </a:spcAft>
              <a:buNone/>
            </a:pPr>
            <a:r>
              <a:rPr sz="1200" b="1">
                <a:solidFill>
                  <a:schemeClr val="accent1"/>
                </a:solidFill>
              </a:rPr>
              <a:t>Deck updated</a:t>
            </a:r>
          </a:p>
          <a:p xmlns:a="http://schemas.openxmlformats.org/drawingml/2006/main">
            <a:pPr marL="0" indent="0">
              <a:spcAft>
                <a:spcPts val="900"/>
              </a:spcAft>
              <a:buNone/>
            </a:pPr>
            <a:r>
              <a:rPr sz="1400">
                <a:solidFill>
                  <a:schemeClr val="tx1"/>
                </a:solidFill>
              </a:rPr>
              <a:t>27.10.2026</a:t>
            </a:r>
          </a:p>
        </p:txBody>
      </p:sp>
    </p:spTree>
    <p:extLst>
      <p:ext uri="{BB962C8B-B14F-4D97-AF65-F5344CB8AC3E}">
        <p14:creationId xmlns:p14="http://schemas.microsoft.com/office/powerpoint/2010/main" val="21909204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631D3F1-E80B-48A4-9D0E-3BA4CECC8E30}"/>
              </a:ext>
            </a:extLst>
          </p:cNvPr>
          <p:cNvSpPr>
            <a:spLocks xmlns:a="http://schemas.openxmlformats.org/drawingml/2006/main" noGrp="1"/>
          </p:cNvSpPr>
          <p:nvPr/>
        </p:nvSpPr>
        <p:spPr>
          <a:xfrm xmlns:a="http://schemas.openxmlformats.org/drawingml/2006/main">
            <a:off x="548640" y="27432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accent2"/>
                </a:solidFill>
              </a:rPr>
              <a:t>01 · TEAM</a:t>
            </a:r>
            <a:endParaRPr sz="1200"/>
          </a:p>
        </p:txBody>
      </p:sp>
      <p:sp>
        <p:nvSpPr>
          <p:cNvPr id="3" name="Text 1">
            <a:extLst xmlns:a="http://schemas.openxmlformats.org/drawingml/2006/main">
              <a:ext uri="{FF2B5EF4-FFF2-40B4-BE49-F238E27FC236}">
                <a16:creationId xmlns:a16="http://schemas.microsoft.com/office/drawing/2014/main" id="{B0E9C7B0-5C56-4B87-AA3D-3917D310A548}"/>
              </a:ext>
            </a:extLst>
          </p:cNvPr>
          <p:cNvSpPr>
            <a:spLocks xmlns:a="http://schemas.openxmlformats.org/drawingml/2006/main" noGrp="1"/>
          </p:cNvSpPr>
          <p:nvPr/>
        </p:nvSpPr>
        <p:spPr>
          <a:xfrm xmlns:a="http://schemas.openxmlformats.org/drawingml/2006/main">
            <a:off x="548640" y="566928"/>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tx1"/>
                </a:solidFill>
              </a:rPr>
              <a:t>Team &amp; mentors</a:t>
            </a:r>
            <a:endParaRPr sz="3400"/>
          </a:p>
        </p:txBody>
      </p:sp>
      <p:sp>
        <p:nvSpPr>
          <p:cNvPr id="5" name="Member card 1">
            <a:extLst xmlns:a="http://schemas.openxmlformats.org/drawingml/2006/main">
              <a:ext uri="{FF2B5EF4-FFF2-40B4-BE49-F238E27FC236}">
                <a16:creationId xmlns:a16="http://schemas.microsoft.com/office/drawing/2014/main" id="{04E06B08-E0D0-4D3B-A499-1E8874CD7E82}"/>
              </a:ext>
            </a:extLst>
          </p:cNvPr>
          <p:cNvSpPr>
            <a:spLocks xmlns:a="http://schemas.openxmlformats.org/drawingml/2006/main" noGrp="1"/>
          </p:cNvSpPr>
          <p:nvPr/>
        </p:nvSpPr>
        <p:spPr>
          <a:xfrm xmlns:a="http://schemas.openxmlformats.org/drawingml/2006/main">
            <a:off x="548640" y="1463040"/>
            <a:ext cx="3566160" cy="1874519"/>
          </a:xfrm>
          <a:prstGeom xmlns:a="http://schemas.openxmlformats.org/drawingml/2006/main" prst="roundRect">
            <a:avLst>
              <a:gd name="adj" fmla="val 3478"/>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7" name="Text 4">
            <a:extLst xmlns:a="http://schemas.openxmlformats.org/drawingml/2006/main">
              <a:ext uri="{FF2B5EF4-FFF2-40B4-BE49-F238E27FC236}">
                <a16:creationId xmlns:a16="http://schemas.microsoft.com/office/drawing/2014/main" id="{3CFDD515-D087-4B5A-AB7D-100D8BA2BEE6}"/>
              </a:ext>
            </a:extLst>
          </p:cNvPr>
          <p:cNvSpPr>
            <a:spLocks xmlns:a="http://schemas.openxmlformats.org/drawingml/2006/main" noGrp="1"/>
          </p:cNvSpPr>
          <p:nvPr/>
        </p:nvSpPr>
        <p:spPr>
          <a:xfrm xmlns:a="http://schemas.openxmlformats.org/drawingml/2006/main">
            <a:off x="731520" y="1600200"/>
            <a:ext cx="3246120" cy="16459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lstStyle xmlns:a="http://schemas.openxmlformats.org/drawingml/2006/main"/>
          <a:p xmlns:a="http://schemas.openxmlformats.org/drawingml/2006/main">
            <a:pPr marL="0" indent="0">
              <a:spcAft>
                <a:spcPts val="100"/>
              </a:spcAft>
              <a:buNone/>
            </a:pPr>
            <a:r>
              <a:rPr sz="1400" b="1">
                <a:solidFill>
                  <a:schemeClr val="tx2"/>
                </a:solidFill>
              </a:rPr>
              <a:t>Mohanaram Uvaram</a:t>
            </a:r>
          </a:p>
          <a:p xmlns:a="http://schemas.openxmlformats.org/drawingml/2006/main">
            <a:pPr marL="0" indent="0">
              <a:spcAft>
                <a:spcPts val="200"/>
              </a:spcAft>
              <a:buNone/>
            </a:pPr>
            <a:r>
              <a:rPr sz="1400" b="1">
                <a:solidFill>
                  <a:schemeClr val="accent1"/>
                </a:solidFill>
              </a:rPr>
              <a:t>Team leader</a:t>
            </a:r>
          </a:p>
          <a:p xmlns:a="http://schemas.openxmlformats.org/drawingml/2006/main">
            <a:pPr marL="0" indent="0">
              <a:spcAft>
                <a:spcPts val="200"/>
              </a:spcAft>
              <a:buNone/>
            </a:pPr>
            <a:r>
              <a:rPr sz="1400">
                <a:solidFill>
                  <a:schemeClr val="tx1"/>
                </a:solidFill>
              </a:rPr>
              <a:t>Backend, reservation logic, testing</a:t>
            </a:r>
          </a:p>
          <a:p xmlns:a="http://schemas.openxmlformats.org/drawingml/2006/main">
            <a:pPr marL="0" indent="0">
              <a:spcAft>
                <a:spcPts val="0"/>
              </a:spcAft>
              <a:buNone/>
            </a:pPr>
            <a:r>
              <a:rPr sz="1400">
                <a:solidFill>
                  <a:schemeClr val="accent4"/>
                </a:solidFill>
              </a:rPr>
              <a:t>KDU · Software Engineering · Year 2</a:t>
            </a:r>
          </a:p>
        </p:txBody>
      </p:sp>
      <p:sp>
        <p:nvSpPr>
          <p:cNvPr id="8" name="Member card 2">
            <a:extLst xmlns:a="http://schemas.openxmlformats.org/drawingml/2006/main">
              <a:ext uri="{FF2B5EF4-FFF2-40B4-BE49-F238E27FC236}">
                <a16:creationId xmlns:a16="http://schemas.microsoft.com/office/drawing/2014/main" id="{D45DE92C-CC70-41B2-8BD9-DFFE8AAA6761}"/>
              </a:ext>
            </a:extLst>
          </p:cNvPr>
          <p:cNvSpPr>
            <a:spLocks xmlns:a="http://schemas.openxmlformats.org/drawingml/2006/main" noGrp="1"/>
          </p:cNvSpPr>
          <p:nvPr/>
        </p:nvSpPr>
        <p:spPr>
          <a:xfrm xmlns:a="http://schemas.openxmlformats.org/drawingml/2006/main">
            <a:off x="4297680" y="1463040"/>
            <a:ext cx="3566160" cy="1874519"/>
          </a:xfrm>
          <a:prstGeom xmlns:a="http://schemas.openxmlformats.org/drawingml/2006/main" prst="roundRect">
            <a:avLst>
              <a:gd name="adj" fmla="val 3478"/>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10" name="Text 7">
            <a:extLst xmlns:a="http://schemas.openxmlformats.org/drawingml/2006/main">
              <a:ext uri="{FF2B5EF4-FFF2-40B4-BE49-F238E27FC236}">
                <a16:creationId xmlns:a16="http://schemas.microsoft.com/office/drawing/2014/main" id="{524FC7AF-23C0-4719-8871-6F49C809DFBF}"/>
              </a:ext>
            </a:extLst>
          </p:cNvPr>
          <p:cNvSpPr>
            <a:spLocks xmlns:a="http://schemas.openxmlformats.org/drawingml/2006/main" noGrp="1"/>
          </p:cNvSpPr>
          <p:nvPr/>
        </p:nvSpPr>
        <p:spPr>
          <a:xfrm xmlns:a="http://schemas.openxmlformats.org/drawingml/2006/main">
            <a:off x="4480560" y="1600200"/>
            <a:ext cx="3246120" cy="16459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lstStyle xmlns:a="http://schemas.openxmlformats.org/drawingml/2006/main"/>
          <a:p xmlns:a="http://schemas.openxmlformats.org/drawingml/2006/main">
            <a:pPr marL="0" indent="0">
              <a:spcAft>
                <a:spcPts val="100"/>
              </a:spcAft>
              <a:buNone/>
            </a:pPr>
            <a:r>
              <a:rPr sz="1400" b="1">
                <a:solidFill>
                  <a:schemeClr val="tx2"/>
                </a:solidFill>
              </a:rPr>
              <a:t>Manidu Samaranayake</a:t>
            </a:r>
          </a:p>
          <a:p xmlns:a="http://schemas.openxmlformats.org/drawingml/2006/main">
            <a:pPr marL="0" indent="0">
              <a:spcAft>
                <a:spcPts val="200"/>
              </a:spcAft>
              <a:buNone/>
            </a:pPr>
            <a:r>
              <a:rPr sz="1400" b="1">
                <a:solidFill>
                  <a:schemeClr val="accent1"/>
                </a:solidFill>
              </a:rPr>
              <a:t>Team member</a:t>
            </a:r>
          </a:p>
          <a:p xmlns:a="http://schemas.openxmlformats.org/drawingml/2006/main">
            <a:pPr marL="0" indent="0">
              <a:spcAft>
                <a:spcPts val="200"/>
              </a:spcAft>
              <a:buNone/>
            </a:pPr>
            <a:r>
              <a:rPr sz="1400">
                <a:solidFill>
                  <a:schemeClr val="tx1"/>
                </a:solidFill>
              </a:rPr>
              <a:t>Interface and usability testing</a:t>
            </a:r>
          </a:p>
          <a:p xmlns:a="http://schemas.openxmlformats.org/drawingml/2006/main">
            <a:pPr marL="0" indent="0">
              <a:spcAft>
                <a:spcPts val="0"/>
              </a:spcAft>
              <a:buNone/>
            </a:pPr>
            <a:r>
              <a:rPr sz="1400">
                <a:solidFill>
                  <a:schemeClr val="accent4"/>
                </a:solidFill>
              </a:rPr>
              <a:t>KDU · Software Engineering · Year 2</a:t>
            </a:r>
          </a:p>
        </p:txBody>
      </p:sp>
      <p:sp>
        <p:nvSpPr>
          <p:cNvPr id="11" name="Member card 3">
            <a:extLst xmlns:a="http://schemas.openxmlformats.org/drawingml/2006/main">
              <a:ext uri="{FF2B5EF4-FFF2-40B4-BE49-F238E27FC236}">
                <a16:creationId xmlns:a16="http://schemas.microsoft.com/office/drawing/2014/main" id="{ACEFD4CF-43E2-45F5-933D-ACDF8CF04D25}"/>
              </a:ext>
            </a:extLst>
          </p:cNvPr>
          <p:cNvSpPr>
            <a:spLocks xmlns:a="http://schemas.openxmlformats.org/drawingml/2006/main" noGrp="1"/>
          </p:cNvSpPr>
          <p:nvPr/>
        </p:nvSpPr>
        <p:spPr>
          <a:xfrm xmlns:a="http://schemas.openxmlformats.org/drawingml/2006/main">
            <a:off x="8046720" y="1463040"/>
            <a:ext cx="3566160" cy="1874519"/>
          </a:xfrm>
          <a:prstGeom xmlns:a="http://schemas.openxmlformats.org/drawingml/2006/main" prst="roundRect">
            <a:avLst>
              <a:gd name="adj" fmla="val 3478"/>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20C253D8-88A8-47F2-B0DD-BCF546E61669}"/>
              </a:ext>
            </a:extLst>
          </p:cNvPr>
          <p:cNvSpPr>
            <a:spLocks xmlns:a="http://schemas.openxmlformats.org/drawingml/2006/main" noGrp="1"/>
          </p:cNvSpPr>
          <p:nvPr/>
        </p:nvSpPr>
        <p:spPr>
          <a:xfrm xmlns:a="http://schemas.openxmlformats.org/drawingml/2006/main">
            <a:off x="8229600" y="1600200"/>
            <a:ext cx="3246120" cy="16459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lstStyle xmlns:a="http://schemas.openxmlformats.org/drawingml/2006/main"/>
          <a:p xmlns:a="http://schemas.openxmlformats.org/drawingml/2006/main">
            <a:pPr marL="0" indent="0">
              <a:spcAft>
                <a:spcPts val="100"/>
              </a:spcAft>
              <a:buNone/>
            </a:pPr>
            <a:r>
              <a:rPr sz="1400" b="1">
                <a:solidFill>
                  <a:schemeClr val="tx2"/>
                </a:solidFill>
              </a:rPr>
              <a:t>Yasith Peiris</a:t>
            </a:r>
          </a:p>
          <a:p xmlns:a="http://schemas.openxmlformats.org/drawingml/2006/main">
            <a:pPr marL="0" indent="0">
              <a:spcAft>
                <a:spcPts val="200"/>
              </a:spcAft>
              <a:buNone/>
            </a:pPr>
            <a:r>
              <a:rPr sz="1400" b="1">
                <a:solidFill>
                  <a:schemeClr val="accent1"/>
                </a:solidFill>
              </a:rPr>
              <a:t>Team member</a:t>
            </a:r>
          </a:p>
          <a:p xmlns:a="http://schemas.openxmlformats.org/drawingml/2006/main">
            <a:pPr marL="0" indent="0">
              <a:spcAft>
                <a:spcPts val="200"/>
              </a:spcAft>
              <a:buNone/>
            </a:pPr>
            <a:r>
              <a:rPr sz="1400">
                <a:solidFill>
                  <a:schemeClr val="tx1"/>
                </a:solidFill>
              </a:rPr>
              <a:t>Coordination, vendor interviews, presentation</a:t>
            </a:r>
          </a:p>
          <a:p xmlns:a="http://schemas.openxmlformats.org/drawingml/2006/main">
            <a:pPr marL="0" indent="0">
              <a:spcAft>
                <a:spcPts val="0"/>
              </a:spcAft>
              <a:buNone/>
            </a:pPr>
            <a:r>
              <a:rPr sz="1400">
                <a:solidFill>
                  <a:schemeClr val="accent4"/>
                </a:solidFill>
              </a:rPr>
              <a:t>KDU · Software Engineering · Year 2</a:t>
            </a:r>
          </a:p>
        </p:txBody>
      </p:sp>
      <p:sp>
        <p:nvSpPr>
          <p:cNvPr id="20" name="University / faculty">
            <a:extLst xmlns:a="http://schemas.openxmlformats.org/drawingml/2006/main">
              <a:ext uri="{FF2B5EF4-FFF2-40B4-BE49-F238E27FC236}">
                <a16:creationId xmlns:a16="http://schemas.microsoft.com/office/drawing/2014/main" id="{4EAE48B3-62C5-4D34-A8A0-968EC40F93B3}"/>
              </a:ext>
            </a:extLst>
          </p:cNvPr>
          <p:cNvSpPr>
            <a:spLocks xmlns:a="http://schemas.openxmlformats.org/drawingml/2006/main" noGrp="1"/>
          </p:cNvSpPr>
          <p:nvPr/>
        </p:nvSpPr>
        <p:spPr>
          <a:xfrm xmlns:a="http://schemas.openxmlformats.org/drawingml/2006/main">
            <a:off x="548640" y="4663440"/>
            <a:ext cx="5440680" cy="1280160"/>
          </a:xfrm>
          <a:prstGeom xmlns:a="http://schemas.openxmlformats.org/drawingml/2006/main" prst="roundRect">
            <a:avLst>
              <a:gd name="adj" fmla="val 6957"/>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University / programme</a:t>
            </a:r>
          </a:p>
          <a:p xmlns:a="http://schemas.openxmlformats.org/drawingml/2006/main">
            <a:pPr marL="0" indent="0">
              <a:spcAft>
                <a:spcPts val="0"/>
              </a:spcAft>
              <a:buNone/>
            </a:pPr>
            <a:r>
              <a:rPr sz="1400">
                <a:solidFill>
                  <a:schemeClr val="tx1"/>
                </a:solidFill>
              </a:rPr>
              <a:t>KDU, Software Engineering. All three members are in their second year.</a:t>
            </a:r>
          </a:p>
        </p:txBody>
      </p:sp>
      <p:sp>
        <p:nvSpPr>
          <p:cNvPr id="21" name="Mentor / supervisor">
            <a:extLst xmlns:a="http://schemas.openxmlformats.org/drawingml/2006/main">
              <a:ext uri="{FF2B5EF4-FFF2-40B4-BE49-F238E27FC236}">
                <a16:creationId xmlns:a16="http://schemas.microsoft.com/office/drawing/2014/main" id="{62688BA3-1D3E-4AA4-8CFB-E1FBA3403C4F}"/>
              </a:ext>
            </a:extLst>
          </p:cNvPr>
          <p:cNvSpPr>
            <a:spLocks xmlns:a="http://schemas.openxmlformats.org/drawingml/2006/main" noGrp="1"/>
          </p:cNvSpPr>
          <p:nvPr/>
        </p:nvSpPr>
        <p:spPr>
          <a:xfrm xmlns:a="http://schemas.openxmlformats.org/drawingml/2006/main">
            <a:off x="6172200" y="4663440"/>
            <a:ext cx="5440680" cy="1280160"/>
          </a:xfrm>
          <a:prstGeom xmlns:a="http://schemas.openxmlformats.org/drawingml/2006/main" prst="roundRect">
            <a:avLst>
              <a:gd name="adj" fmla="val 6957"/>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Mentor / supervisor</a:t>
            </a:r>
          </a:p>
          <a:p xmlns:a="http://schemas.openxmlformats.org/drawingml/2006/main">
            <a:pPr marL="0" indent="0">
              <a:spcAft>
                <a:spcPts val="0"/>
              </a:spcAft>
              <a:buNone/>
            </a:pPr>
            <a:r>
              <a:rPr sz="1400">
                <a:solidFill>
                  <a:schemeClr val="tx1"/>
                </a:solidFill>
              </a:rPr>
              <a:t>No mentor yet. We are seeking a food-safety advisor to guide a later live-food pilot.</a:t>
            </a:r>
          </a:p>
        </p:txBody>
      </p:sp>
      <p:sp>
        <p:nvSpPr>
          <p:cNvPr id="25" name="Slide Number Placeholder 0">
            <a:extLst xmlns:a="http://schemas.openxmlformats.org/drawingml/2006/main">
              <a:ext uri="{FF2B5EF4-FFF2-40B4-BE49-F238E27FC236}">
                <a16:creationId xmlns:a16="http://schemas.microsoft.com/office/drawing/2014/main" id="{9B4F0084-70C2-4D54-8D9E-D1F906BDF981}"/>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2</a:t>
            </a:fld>
            <a:endParaRPr/>
          </a:p>
        </p:txBody>
      </p:sp>
      <p:sp>
        <p:nvSpPr>
          <p:cNvPr id="26" name="Shared work">
            <a:extLst xmlns:a="http://schemas.openxmlformats.org/drawingml/2006/main">
              <a:ext uri="{FF2B5EF4-FFF2-40B4-BE49-F238E27FC236}">
                <a16:creationId xmlns:a16="http://schemas.microsoft.com/office/drawing/2014/main" id="{8D61944E-ECDD-4388-9729-20AE5536A2C1}"/>
              </a:ext>
            </a:extLst>
          </p:cNvPr>
          <p:cNvSpPr>
            <a:spLocks xmlns:a="http://schemas.openxmlformats.org/drawingml/2006/main" noGrp="1"/>
          </p:cNvSpPr>
          <p:nvPr/>
        </p:nvSpPr>
        <p:spPr>
          <a:xfrm xmlns:a="http://schemas.openxmlformats.org/drawingml/2006/main">
            <a:off x="548640" y="3520440"/>
            <a:ext cx="11064240" cy="1005840"/>
          </a:xfrm>
          <a:prstGeom xmlns:a="http://schemas.openxmlformats.org/drawingml/2006/main" prst="roundRect">
            <a:avLst>
              <a:gd name="adj" fmla="val 6000"/>
            </a:avLst>
          </a:prstGeom>
          <a:solidFill xmlns:a="http://schemas.openxmlformats.org/drawingml/2006/main">
            <a:schemeClr val="bg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28016" tIns="128016" rIns="128016" bIns="128016" anchor="t"/>
          <a:lstStyle xmlns:a="http://schemas.openxmlformats.org/drawingml/2006/main"/>
          <a:p xmlns:a="http://schemas.openxmlformats.org/drawingml/2006/main">
            <a:pPr marL="0" indent="0">
              <a:spcAft>
                <a:spcPts val="200"/>
              </a:spcAft>
              <a:buNone/>
            </a:pPr>
            <a:r>
              <a:rPr sz="1400" b="1">
                <a:solidFill>
                  <a:schemeClr val="tx2"/>
                </a:solidFill>
              </a:rPr>
              <a:t>All three members</a:t>
            </a:r>
          </a:p>
          <a:p xmlns:a="http://schemas.openxmlformats.org/drawingml/2006/main">
            <a:pPr marL="0" indent="0">
              <a:spcAft>
                <a:spcPts val="0"/>
              </a:spcAft>
              <a:buNone/>
            </a:pPr>
            <a:r>
              <a:rPr sz="1400">
                <a:solidFill>
                  <a:schemeClr val="tx1"/>
                </a:solidFill>
              </a:rPr>
              <a:t>Field notes, evidence review and final decisions.</a:t>
            </a:r>
          </a:p>
        </p:txBody>
      </p:sp>
    </p:spTree>
    <p:extLst>
      <p:ext uri="{BB962C8B-B14F-4D97-AF65-F5344CB8AC3E}">
        <p14:creationId xmlns:p14="http://schemas.microsoft.com/office/powerpoint/2010/main" val="103771123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FEEA35F-8410-4806-BDDD-5F87A88F8FBC}"/>
              </a:ext>
            </a:extLst>
          </p:cNvPr>
          <p:cNvSpPr>
            <a:spLocks xmlns:a="http://schemas.openxmlformats.org/drawingml/2006/main" noGrp="1"/>
          </p:cNvSpPr>
          <p:nvPr/>
        </p:nvSpPr>
        <p:spPr>
          <a:xfrm xmlns:a="http://schemas.openxmlformats.org/drawingml/2006/main">
            <a:off x="548640" y="27432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accent2"/>
                </a:solidFill>
              </a:rPr>
              <a:t>02 · PROBLEM  ·  ~65 s</a:t>
            </a:r>
            <a:endParaRPr sz="1200"/>
          </a:p>
        </p:txBody>
      </p:sp>
      <p:sp>
        <p:nvSpPr>
          <p:cNvPr id="3" name="Text 1">
            <a:extLst xmlns:a="http://schemas.openxmlformats.org/drawingml/2006/main">
              <a:ext uri="{FF2B5EF4-FFF2-40B4-BE49-F238E27FC236}">
                <a16:creationId xmlns:a16="http://schemas.microsoft.com/office/drawing/2014/main" id="{FD2C97B5-C624-48F0-995A-BF1DB8EFE7A4}"/>
              </a:ext>
            </a:extLst>
          </p:cNvPr>
          <p:cNvSpPr>
            <a:spLocks xmlns:a="http://schemas.openxmlformats.org/drawingml/2006/main" noGrp="1"/>
          </p:cNvSpPr>
          <p:nvPr/>
        </p:nvSpPr>
        <p:spPr>
          <a:xfrm xmlns:a="http://schemas.openxmlformats.org/drawingml/2006/main">
            <a:off x="548640" y="566928"/>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tx1"/>
                </a:solidFill>
              </a:rPr>
              <a:t>The problem and our preliminary evidence</a:t>
            </a:r>
            <a:endParaRPr sz="3400"/>
          </a:p>
        </p:txBody>
      </p:sp>
      <p:sp>
        <p:nvSpPr>
          <p:cNvPr id="5" name="Validated problem statement">
            <a:extLst xmlns:a="http://schemas.openxmlformats.org/drawingml/2006/main">
              <a:ext uri="{FF2B5EF4-FFF2-40B4-BE49-F238E27FC236}">
                <a16:creationId xmlns:a16="http://schemas.microsoft.com/office/drawing/2014/main" id="{41190AB0-1B58-42F9-8757-19F90EBB99D8}"/>
              </a:ext>
            </a:extLst>
          </p:cNvPr>
          <p:cNvSpPr>
            <a:spLocks xmlns:a="http://schemas.openxmlformats.org/drawingml/2006/main" noGrp="1"/>
          </p:cNvSpPr>
          <p:nvPr/>
        </p:nvSpPr>
        <p:spPr>
          <a:xfrm xmlns:a="http://schemas.openxmlformats.org/drawingml/2006/main">
            <a:off x="548640" y="1417320"/>
            <a:ext cx="5760720" cy="1691640"/>
          </a:xfrm>
          <a:prstGeom xmlns:a="http://schemas.openxmlformats.org/drawingml/2006/main" prst="roundRect">
            <a:avLst>
              <a:gd name="adj" fmla="val 3404"/>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Problem statement (preliminary)</a:t>
            </a:r>
          </a:p>
          <a:p xmlns:a="http://schemas.openxmlformats.org/drawingml/2006/main">
            <a:pPr marL="0" indent="0">
              <a:spcAft>
                <a:spcPts val="300"/>
              </a:spcAft>
              <a:buNone/>
            </a:pPr>
            <a:r>
              <a:rPr sz="1400">
                <a:solidFill>
                  <a:schemeClr val="tx1"/>
                </a:solidFill>
              </a:rPr>
              <a:t>Fade</a:t>
            </a:r>
            <a:r>
              <a:rPr sz="1400">
                <a:solidFill>
                  <a:schemeClr val="tx1"/>
                </a:solidFill>
              </a:rPr>
              <a:t>'s earlier submission reported unsold food near closing time and unsold produce at wholesale markets in Colombo and nearby areas.</a:t>
            </a:r>
          </a:p>
          <a:p xmlns:a="http://schemas.openxmlformats.org/drawingml/2006/main">
            <a:pPr marL="0" indent="0">
              <a:spcAft>
                <a:spcPts val="0"/>
              </a:spcAft>
              <a:buNone/>
            </a:pPr>
            <a:r>
              <a:rPr sz="1400">
                <a:solidFill>
                  <a:schemeClr val="tx1"/>
                </a:solidFill>
              </a:rPr>
              <a:t>A new documented study is needed to measure how much eligible surplus could reach buyers at an acceptable total cost.</a:t>
            </a:r>
          </a:p>
        </p:txBody>
      </p:sp>
      <p:sp>
        <p:nvSpPr>
          <p:cNvPr id="6" name="Who is affected, where, how many">
            <a:extLst xmlns:a="http://schemas.openxmlformats.org/drawingml/2006/main">
              <a:ext uri="{FF2B5EF4-FFF2-40B4-BE49-F238E27FC236}">
                <a16:creationId xmlns:a16="http://schemas.microsoft.com/office/drawing/2014/main" id="{572316B8-7ABF-41FC-AE00-A683FD6682F7}"/>
              </a:ext>
            </a:extLst>
          </p:cNvPr>
          <p:cNvSpPr>
            <a:spLocks xmlns:a="http://schemas.openxmlformats.org/drawingml/2006/main" noGrp="1"/>
          </p:cNvSpPr>
          <p:nvPr/>
        </p:nvSpPr>
        <p:spPr>
          <a:xfrm xmlns:a="http://schemas.openxmlformats.org/drawingml/2006/main">
            <a:off x="548640" y="3246120"/>
            <a:ext cx="5486400" cy="1920240"/>
          </a:xfrm>
          <a:prstGeom xmlns:a="http://schemas.openxmlformats.org/drawingml/2006/main" prst="roundRect">
            <a:avLst>
              <a:gd name="adj" fmla="val 3265"/>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Who is affected, where, how many</a:t>
            </a:r>
          </a:p>
          <a:p xmlns:a="http://schemas.openxmlformats.org/drawingml/2006/main">
            <a:pPr marL="171450" indent="-171450">
              <a:spcAft>
                <a:spcPts val="400"/>
              </a:spcAft>
              <a:buClr>
                <a:schemeClr val="accent1"/>
              </a:buClr>
              <a:buFont typeface="Arial"/>
              <a:buChar char="•"/>
            </a:pPr>
            <a:r>
              <a:rPr sz="1400">
                <a:solidFill>
                  <a:schemeClr val="tx1"/>
                </a:solidFill>
              </a:rPr>
              <a:t>Retail buyers near bakeries and cafeterias.</a:t>
            </a:r>
          </a:p>
          <a:p xmlns:a="http://schemas.openxmlformats.org/drawingml/2006/main">
            <a:pPr marL="171450" indent="-171450">
              <a:spcAft>
                <a:spcPts val="400"/>
              </a:spcAft>
              <a:buClr>
                <a:schemeClr val="accent1"/>
              </a:buClr>
              <a:buFont typeface="Arial"/>
              <a:buChar char="•"/>
            </a:pPr>
            <a:r>
              <a:rPr sz="1400">
                <a:solidFill>
                  <a:schemeClr val="tx1"/>
                </a:solidFill>
              </a:rPr>
              <a:t>Wholesale kitchens, canteens and vendors with rejected produce (Peliyagoda: earlier lead, unconfirmed).</a:t>
            </a:r>
          </a:p>
          <a:p xmlns:a="http://schemas.openxmlformats.org/drawingml/2006/main">
            <a:pPr marL="171450" indent="-171450">
              <a:spcAft>
                <a:spcPts val="0"/>
              </a:spcAft>
              <a:buClr>
                <a:schemeClr val="accent1"/>
              </a:buClr>
              <a:buFont typeface="Arial"/>
              <a:buChar char="•"/>
            </a:pPr>
            <a:r>
              <a:rPr sz="1400">
                <a:solidFill>
                  <a:schemeClr val="tx1"/>
                </a:solidFill>
              </a:rPr>
              <a:t>Proposed outreach areas: Wellawatte, Ratmalana, Panadura. No vendors or recipients recruited yet.</a:t>
            </a:r>
          </a:p>
        </p:txBody>
      </p:sp>
      <p:sp>
        <p:nvSpPr>
          <p:cNvPr id="7" name="Stat 1">
            <a:extLst xmlns:a="http://schemas.openxmlformats.org/drawingml/2006/main">
              <a:ext uri="{FF2B5EF4-FFF2-40B4-BE49-F238E27FC236}">
                <a16:creationId xmlns:a16="http://schemas.microsoft.com/office/drawing/2014/main" id="{8C688659-AA5B-4E55-B8B6-85554AA95607}"/>
              </a:ext>
            </a:extLst>
          </p:cNvPr>
          <p:cNvSpPr>
            <a:spLocks xmlns:a="http://schemas.openxmlformats.org/drawingml/2006/main" noGrp="1"/>
          </p:cNvSpPr>
          <p:nvPr/>
        </p:nvSpPr>
        <p:spPr>
          <a:xfrm xmlns:a="http://schemas.openxmlformats.org/drawingml/2006/main">
            <a:off x="6400800" y="1417320"/>
            <a:ext cx="1691640" cy="1691640"/>
          </a:xfrm>
          <a:prstGeom xmlns:a="http://schemas.openxmlformats.org/drawingml/2006/main" prst="roundRect">
            <a:avLst>
              <a:gd name="adj" fmla="val 410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0"/>
              </a:spcAft>
              <a:buNone/>
            </a:pPr>
            <a:r>
              <a:rPr sz="3200" b="1">
                <a:solidFill>
                  <a:schemeClr val="accent1"/>
                </a:solidFill>
              </a:rPr>
              <a:t>32.8%</a:t>
            </a:r>
          </a:p>
          <a:p xmlns:a="http://schemas.openxmlformats.org/drawingml/2006/main">
            <a:pPr marL="0" indent="0">
              <a:spcAft>
                <a:spcPts val="200"/>
              </a:spcAft>
              <a:buNone/>
            </a:pPr>
            <a:r>
              <a:rPr sz="1400" b="1">
                <a:solidFill>
                  <a:schemeClr val="tx2"/>
                </a:solidFill>
              </a:rPr>
              <a:t>Sri Lankan households</a:t>
            </a:r>
          </a:p>
          <a:p xmlns:a="http://schemas.openxmlformats.org/drawingml/2006/main">
            <a:pPr marL="0" indent="0">
              <a:spcAft>
                <a:spcPts val="200"/>
              </a:spcAft>
              <a:buNone/>
            </a:pPr>
            <a:r>
              <a:rPr sz="1400" b="1">
                <a:solidFill>
                  <a:schemeClr val="tx2"/>
                </a:solidFill>
              </a:rPr>
              <a:t>food insecure*</a:t>
            </a:r>
          </a:p>
          <a:p xmlns:a="http://schemas.openxmlformats.org/drawingml/2006/main">
            <a:pPr marL="0" indent="0">
              <a:spcAft>
                <a:spcPts val="0"/>
              </a:spcAft>
              <a:buNone/>
            </a:pPr>
            <a:r>
              <a:rPr sz="1200" i="1">
                <a:solidFill>
                  <a:schemeClr val="accent4"/>
                </a:solidFill>
              </a:rPr>
              <a:t>BRIGHT 2024–25 [1]</a:t>
            </a:r>
          </a:p>
        </p:txBody>
      </p:sp>
      <p:sp>
        <p:nvSpPr>
          <p:cNvPr id="8" name="Stat 2">
            <a:extLst xmlns:a="http://schemas.openxmlformats.org/drawingml/2006/main">
              <a:ext uri="{FF2B5EF4-FFF2-40B4-BE49-F238E27FC236}">
                <a16:creationId xmlns:a16="http://schemas.microsoft.com/office/drawing/2014/main" id="{DC631B58-52E1-4BD9-8025-8426199441F3}"/>
              </a:ext>
            </a:extLst>
          </p:cNvPr>
          <p:cNvSpPr>
            <a:spLocks xmlns:a="http://schemas.openxmlformats.org/drawingml/2006/main" noGrp="1"/>
          </p:cNvSpPr>
          <p:nvPr/>
        </p:nvSpPr>
        <p:spPr>
          <a:xfrm xmlns:a="http://schemas.openxmlformats.org/drawingml/2006/main">
            <a:off x="8183879" y="1417320"/>
            <a:ext cx="1691640" cy="1691640"/>
          </a:xfrm>
          <a:prstGeom xmlns:a="http://schemas.openxmlformats.org/drawingml/2006/main" prst="roundRect">
            <a:avLst>
              <a:gd name="adj" fmla="val 410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0"/>
              </a:spcAft>
              <a:buNone/>
            </a:pPr>
            <a:r>
              <a:rPr sz="3200" b="1">
                <a:solidFill>
                  <a:schemeClr val="accent1"/>
                </a:solidFill>
              </a:rPr>
              <a:t>35.3%</a:t>
            </a:r>
          </a:p>
          <a:p xmlns:a="http://schemas.openxmlformats.org/drawingml/2006/main">
            <a:pPr marL="0" indent="0">
              <a:spcAft>
                <a:spcPts val="200"/>
              </a:spcAft>
              <a:buNone/>
            </a:pPr>
            <a:r>
              <a:rPr sz="1400" b="1">
                <a:solidFill>
                  <a:schemeClr val="tx2"/>
                </a:solidFill>
              </a:rPr>
              <a:t>urban households</a:t>
            </a:r>
          </a:p>
          <a:p xmlns:a="http://schemas.openxmlformats.org/drawingml/2006/main">
            <a:pPr marL="0" indent="0">
              <a:spcAft>
                <a:spcPts val="200"/>
              </a:spcAft>
              <a:buNone/>
            </a:pPr>
            <a:r>
              <a:rPr sz="1400" b="1">
                <a:solidFill>
                  <a:schemeClr val="tx2"/>
                </a:solidFill>
              </a:rPr>
              <a:t>food insecure*</a:t>
            </a:r>
          </a:p>
          <a:p xmlns:a="http://schemas.openxmlformats.org/drawingml/2006/main">
            <a:pPr marL="0" indent="0">
              <a:spcAft>
                <a:spcPts val="0"/>
              </a:spcAft>
              <a:buNone/>
            </a:pPr>
            <a:r>
              <a:rPr sz="1200" i="1">
                <a:solidFill>
                  <a:schemeClr val="accent4"/>
                </a:solidFill>
              </a:rPr>
              <a:t>BRIGHT 2024–25 [1]</a:t>
            </a:r>
          </a:p>
        </p:txBody>
      </p:sp>
      <p:sp>
        <p:nvSpPr>
          <p:cNvPr id="9" name="Stat 3">
            <a:extLst xmlns:a="http://schemas.openxmlformats.org/drawingml/2006/main">
              <a:ext uri="{FF2B5EF4-FFF2-40B4-BE49-F238E27FC236}">
                <a16:creationId xmlns:a16="http://schemas.microsoft.com/office/drawing/2014/main" id="{5D6AE309-4F07-4C5C-AF30-EC9D9F24D4CE}"/>
              </a:ext>
            </a:extLst>
          </p:cNvPr>
          <p:cNvSpPr>
            <a:spLocks xmlns:a="http://schemas.openxmlformats.org/drawingml/2006/main" noGrp="1"/>
          </p:cNvSpPr>
          <p:nvPr/>
        </p:nvSpPr>
        <p:spPr>
          <a:xfrm xmlns:a="http://schemas.openxmlformats.org/drawingml/2006/main">
            <a:off x="9966960" y="1417320"/>
            <a:ext cx="1691640" cy="1691640"/>
          </a:xfrm>
          <a:prstGeom xmlns:a="http://schemas.openxmlformats.org/drawingml/2006/main" prst="roundRect">
            <a:avLst>
              <a:gd name="adj" fmla="val 410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0"/>
              </a:spcAft>
              <a:buNone/>
            </a:pPr>
            <a:r>
              <a:rPr sz="3200" b="1">
                <a:solidFill>
                  <a:schemeClr val="accent1"/>
                </a:solidFill>
              </a:rPr>
              <a:t>~42%</a:t>
            </a:r>
          </a:p>
          <a:p xmlns:a="http://schemas.openxmlformats.org/drawingml/2006/main">
            <a:pPr marL="0" indent="0">
              <a:spcAft>
                <a:spcPts val="200"/>
              </a:spcAft>
              <a:buNone/>
            </a:pPr>
            <a:r>
              <a:rPr sz="1400" b="1">
                <a:solidFill>
                  <a:schemeClr val="tx2"/>
                </a:solidFill>
              </a:rPr>
              <a:t>Colombo waste: restaurants, markets &amp; meat shops*</a:t>
            </a:r>
          </a:p>
          <a:p xmlns:a="http://schemas.openxmlformats.org/drawingml/2006/main">
            <a:pPr marL="0" indent="0">
              <a:spcAft>
                <a:spcPts val="0"/>
              </a:spcAft>
              <a:buNone/>
            </a:pPr>
            <a:r>
              <a:rPr sz="1200" i="1">
                <a:solidFill>
                  <a:schemeClr val="accent4"/>
                </a:solidFill>
              </a:rPr>
              <a:t>Colombo study [2]</a:t>
            </a:r>
          </a:p>
        </p:txBody>
      </p:sp>
      <p:sp>
        <p:nvSpPr>
          <p:cNvPr id="10" name="Root causes (top 2–3)">
            <a:extLst xmlns:a="http://schemas.openxmlformats.org/drawingml/2006/main">
              <a:ext uri="{FF2B5EF4-FFF2-40B4-BE49-F238E27FC236}">
                <a16:creationId xmlns:a16="http://schemas.microsoft.com/office/drawing/2014/main" id="{B60423C4-BEEE-437C-B3B0-EAB0C49A7752}"/>
              </a:ext>
            </a:extLst>
          </p:cNvPr>
          <p:cNvSpPr>
            <a:spLocks xmlns:a="http://schemas.openxmlformats.org/drawingml/2006/main" noGrp="1"/>
          </p:cNvSpPr>
          <p:nvPr/>
        </p:nvSpPr>
        <p:spPr>
          <a:xfrm xmlns:a="http://schemas.openxmlformats.org/drawingml/2006/main">
            <a:off x="6126480" y="3246120"/>
            <a:ext cx="5486400" cy="1920240"/>
          </a:xfrm>
          <a:prstGeom xmlns:a="http://schemas.openxmlformats.org/drawingml/2006/main" prst="roundRect">
            <a:avLst>
              <a:gd name="adj" fmla="val 3265"/>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Root causes (working hypotheses, to be tested)</a:t>
            </a:r>
          </a:p>
          <a:p xmlns:a="http://schemas.openxmlformats.org/drawingml/2006/main">
            <a:pPr marL="171450" indent="-171450">
              <a:spcAft>
                <a:spcPts val="400"/>
              </a:spcAft>
              <a:buClr>
                <a:schemeClr val="accent1"/>
              </a:buClr>
              <a:buFont typeface="Arial"/>
              <a:buChar char="•"/>
            </a:pPr>
            <a:r>
              <a:rPr sz="1400" b="1">
                <a:solidFill>
                  <a:schemeClr val="accent1"/>
                </a:solidFill>
              </a:rPr>
              <a:t>Targeted: </a:t>
            </a:r>
            <a:r>
              <a:rPr sz="1400">
                <a:solidFill>
                  <a:schemeClr val="tx1"/>
                </a:solidFill>
              </a:rPr>
              <a:t>arranging buyers at closing may cost more than the surplus recovers.</a:t>
            </a:r>
          </a:p>
          <a:p xmlns:a="http://schemas.openxmlformats.org/drawingml/2006/main">
            <a:pPr marL="171450" indent="-171450">
              <a:spcAft>
                <a:spcPts val="400"/>
              </a:spcAft>
              <a:buClr>
                <a:schemeClr val="accent1"/>
              </a:buClr>
              <a:buFont typeface="Arial"/>
              <a:buChar char="•"/>
            </a:pPr>
            <a:r>
              <a:rPr sz="1400">
                <a:solidFill>
                  <a:schemeClr val="tx1"/>
                </a:solidFill>
              </a:rPr>
              <a:t>Some food has a short usable window.</a:t>
            </a:r>
          </a:p>
          <a:p xmlns:a="http://schemas.openxmlformats.org/drawingml/2006/main">
            <a:pPr marL="171450" indent="-171450">
              <a:spcAft>
                <a:spcPts val="0"/>
              </a:spcAft>
              <a:buClr>
                <a:schemeClr val="accent1"/>
              </a:buClr>
              <a:buFont typeface="Arial"/>
              <a:buChar char="•"/>
            </a:pPr>
            <a:r>
              <a:rPr sz="1400">
                <a:solidFill>
                  <a:schemeClr val="tx1"/>
                </a:solidFill>
              </a:rPr>
              <a:t>Buyers and recipients may not reach pickup in time.</a:t>
            </a:r>
          </a:p>
        </p:txBody>
      </p:sp>
      <p:sp>
        <p:nvSpPr>
          <p:cNvPr id="25" name="Slide Number Placeholder 0">
            <a:extLst xmlns:a="http://schemas.openxmlformats.org/drawingml/2006/main">
              <a:ext uri="{FF2B5EF4-FFF2-40B4-BE49-F238E27FC236}">
                <a16:creationId xmlns:a16="http://schemas.microsoft.com/office/drawing/2014/main" id="{6B4D46D6-697D-4C3B-8AB6-F1A7C88719B6}"/>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3</a:t>
            </a:fld>
            <a:endParaRPr/>
          </a:p>
        </p:txBody>
      </p:sp>
      <p:sp>
        <p:nvSpPr>
          <p:cNvPr id="26" name="Statistics context">
            <a:extLst xmlns:a="http://schemas.openxmlformats.org/drawingml/2006/main">
              <a:ext uri="{FF2B5EF4-FFF2-40B4-BE49-F238E27FC236}">
                <a16:creationId xmlns:a16="http://schemas.microsoft.com/office/drawing/2014/main" id="{CFE8D5C2-974D-4816-AEC1-7FBE4FB359EA}"/>
              </a:ext>
            </a:extLst>
          </p:cNvPr>
          <p:cNvSpPr>
            <a:spLocks xmlns:a="http://schemas.openxmlformats.org/drawingml/2006/main" noGrp="1"/>
          </p:cNvSpPr>
          <p:nvPr/>
        </p:nvSpPr>
        <p:spPr>
          <a:xfrm xmlns:a="http://schemas.openxmlformats.org/drawingml/2006/main">
            <a:off x="548640" y="5303520"/>
            <a:ext cx="11064240" cy="960120"/>
          </a:xfrm>
          <a:prstGeom xmlns:a="http://schemas.openxmlformats.org/drawingml/2006/main" prst="roundRect">
            <a:avLst>
              <a:gd name="adj" fmla="val 10000"/>
            </a:avLst>
          </a:prstGeom>
          <a:solidFill xmlns:a="http://schemas.openxmlformats.org/drawingml/2006/main">
            <a:schemeClr val="tx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28016" tIns="128016" rIns="128016" bIns="128016" anchor="ctr"/>
          <a:lstStyle xmlns:a="http://schemas.openxmlformats.org/drawingml/2006/main"/>
          <a:p xmlns:a="http://schemas.openxmlformats.org/drawingml/2006/main">
            <a:pPr marL="0" indent="0">
              <a:spcAft>
                <a:spcPts val="0"/>
              </a:spcAft>
              <a:buNone/>
            </a:pPr>
            <a:r>
              <a:rPr sz="1400" b="1">
                <a:solidFill>
                  <a:schemeClr val="bg1"/>
                </a:solidFill>
              </a:rPr>
              <a:t>* Historical context, not October 2026 and not our market.</a:t>
            </a:r>
            <a:r>
              <a:rPr sz="1400" b="1">
                <a:solidFill>
                  <a:schemeClr val="bg1"/>
                </a:solidFill>
              </a:rPr>
              <a:t> </a:t>
            </a:r>
            <a:r>
              <a:rPr sz="1400">
                <a:solidFill>
                  <a:schemeClr val="bg1"/>
                </a:solidFill>
              </a:rPr>
              <a:t>32.8% of Sri Lankan households experienced moderate or severe food insecurity during the 12 months preceding the 2024–25 BRIGHT survey; 35.3% of urban households, using the same measure (BRIGHT 2024–25, Table 2; 12-month recall) [1]. </a:t>
            </a:r>
            <a:r>
              <a:rPr sz="1400">
                <a:solidFill>
                  <a:schemeClr val="bg1"/>
                </a:solidFill>
              </a:rPr>
              <a:t>The ~42% share comes from restaurants, markets and meat shops in earlier Colombo research cited by [2]; it is not recoverable supply.</a:t>
            </a:r>
          </a:p>
        </p:txBody>
      </p:sp>
    </p:spTree>
    <p:extLst>
      <p:ext uri="{BB962C8B-B14F-4D97-AF65-F5344CB8AC3E}">
        <p14:creationId xmlns:p14="http://schemas.microsoft.com/office/powerpoint/2010/main" val="165385897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85718E-9A13-4249-AA17-D8143661F41F}"/>
              </a:ext>
            </a:extLst>
          </p:cNvPr>
          <p:cNvSpPr>
            <a:spLocks xmlns:a="http://schemas.openxmlformats.org/drawingml/2006/main" noGrp="1"/>
          </p:cNvSpPr>
          <p:nvPr/>
        </p:nvSpPr>
        <p:spPr>
          <a:xfrm xmlns:a="http://schemas.openxmlformats.org/drawingml/2006/main">
            <a:off x="548640" y="27432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accent2"/>
                </a:solidFill>
              </a:rPr>
              <a:t>03 · USERS  ·  ~45 s</a:t>
            </a:r>
            <a:endParaRPr sz="1200"/>
          </a:p>
        </p:txBody>
      </p:sp>
      <p:sp>
        <p:nvSpPr>
          <p:cNvPr id="3" name="Text 1">
            <a:extLst xmlns:a="http://schemas.openxmlformats.org/drawingml/2006/main">
              <a:ext uri="{FF2B5EF4-FFF2-40B4-BE49-F238E27FC236}">
                <a16:creationId xmlns:a16="http://schemas.microsoft.com/office/drawing/2014/main" id="{14EF2B25-3D9F-408A-9E1A-5AE341A18017}"/>
              </a:ext>
            </a:extLst>
          </p:cNvPr>
          <p:cNvSpPr>
            <a:spLocks xmlns:a="http://schemas.openxmlformats.org/drawingml/2006/main" noGrp="1"/>
          </p:cNvSpPr>
          <p:nvPr/>
        </p:nvSpPr>
        <p:spPr>
          <a:xfrm xmlns:a="http://schemas.openxmlformats.org/drawingml/2006/main">
            <a:off x="548640" y="566928"/>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tx1"/>
                </a:solidFill>
              </a:rPr>
              <a:t>Who we are designing for</a:t>
            </a:r>
            <a:endParaRPr sz="3400"/>
          </a:p>
        </p:txBody>
      </p:sp>
      <p:sp>
        <p:nvSpPr>
          <p:cNvPr id="5" name="Primary user">
            <a:extLst xmlns:a="http://schemas.openxmlformats.org/drawingml/2006/main">
              <a:ext uri="{FF2B5EF4-FFF2-40B4-BE49-F238E27FC236}">
                <a16:creationId xmlns:a16="http://schemas.microsoft.com/office/drawing/2014/main" id="{C35DA010-B50C-4A21-A699-5AA260B0E603}"/>
              </a:ext>
            </a:extLst>
          </p:cNvPr>
          <p:cNvSpPr>
            <a:spLocks xmlns:a="http://schemas.openxmlformats.org/drawingml/2006/main" noGrp="1"/>
          </p:cNvSpPr>
          <p:nvPr/>
        </p:nvSpPr>
        <p:spPr>
          <a:xfrm xmlns:a="http://schemas.openxmlformats.org/drawingml/2006/main">
            <a:off x="548640" y="1417320"/>
            <a:ext cx="3566160" cy="3246120"/>
          </a:xfrm>
          <a:prstGeom xmlns:a="http://schemas.openxmlformats.org/drawingml/2006/main" prst="roundRect">
            <a:avLst>
              <a:gd name="adj" fmla="val 2051"/>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Primary user</a:t>
            </a:r>
          </a:p>
          <a:p xmlns:a="http://schemas.openxmlformats.org/drawingml/2006/main">
            <a:pPr marL="171450" indent="-171450">
              <a:spcAft>
                <a:spcPts val="400"/>
              </a:spcAft>
              <a:buClr>
                <a:schemeClr val="accent1"/>
              </a:buClr>
              <a:buFont typeface="Arial"/>
              <a:buChar char="•"/>
            </a:pPr>
            <a:r>
              <a:rPr sz="1400" b="1">
                <a:solidFill>
                  <a:schemeClr val="tx1"/>
                </a:solidFill>
              </a:rPr>
              <a:t>Retail: </a:t>
            </a:r>
            <a:r>
              <a:rPr sz="1400">
                <a:solidFill>
                  <a:schemeClr val="tx1"/>
                </a:solidFill>
              </a:rPr>
              <a:t>nearby buyers collecting small bundles (proposed outreach: Wellawatte, Ratmalana, Panadura).</a:t>
            </a:r>
          </a:p>
          <a:p xmlns:a="http://schemas.openxmlformats.org/drawingml/2006/main">
            <a:pPr marL="171450" indent="-171450">
              <a:spcAft>
                <a:spcPts val="400"/>
              </a:spcAft>
              <a:buClr>
                <a:schemeClr val="accent1"/>
              </a:buClr>
              <a:buFont typeface="Arial"/>
              <a:buChar char="•"/>
            </a:pPr>
            <a:r>
              <a:rPr sz="1400" b="1">
                <a:solidFill>
                  <a:schemeClr val="tx1"/>
                </a:solidFill>
              </a:rPr>
              <a:t>Wholesale: </a:t>
            </a:r>
            <a:r>
              <a:rPr sz="1400">
                <a:solidFill>
                  <a:schemeClr val="tx1"/>
                </a:solidFill>
              </a:rPr>
              <a:t>kitchens, canteens and welfare homes collecting kilogram lots with their own transport.</a:t>
            </a:r>
          </a:p>
          <a:p xmlns:a="http://schemas.openxmlformats.org/drawingml/2006/main">
            <a:pPr marL="171450" indent="-171450">
              <a:spcAft>
                <a:spcPts val="400"/>
              </a:spcAft>
              <a:buClr>
                <a:schemeClr val="accent1"/>
              </a:buClr>
              <a:buFont typeface="Arial"/>
              <a:buChar char="•"/>
            </a:pPr>
            <a:r>
              <a:rPr sz="1400" b="1">
                <a:solidFill>
                  <a:schemeClr val="tx1"/>
                </a:solidFill>
              </a:rPr>
              <a:t>Donations: </a:t>
            </a:r>
            <a:r>
              <a:rPr sz="1400">
                <a:solidFill>
                  <a:schemeClr val="tx1"/>
                </a:solidFill>
              </a:rPr>
              <a:t>proposed policy: approved organisations first; individual access remains an open decision.</a:t>
            </a:r>
          </a:p>
          <a:p xmlns:a="http://schemas.openxmlformats.org/drawingml/2006/main">
            <a:pPr marL="171450" indent="-171450">
              <a:spcAft>
                <a:spcPts val="0"/>
              </a:spcAft>
              <a:buClr>
                <a:schemeClr val="accent1"/>
              </a:buClr>
              <a:buFont typeface="Arial"/>
              <a:buChar char="•"/>
            </a:pPr>
            <a:r>
              <a:rPr sz="1400">
                <a:solidFill>
                  <a:schemeClr val="tx1"/>
                </a:solidFill>
              </a:rPr>
              <a:t>Age, income and phone access: not established.</a:t>
            </a:r>
          </a:p>
        </p:txBody>
      </p:sp>
      <p:sp>
        <p:nvSpPr>
          <p:cNvPr id="6" name="Current practice &amp; pain points">
            <a:extLst xmlns:a="http://schemas.openxmlformats.org/drawingml/2006/main">
              <a:ext uri="{FF2B5EF4-FFF2-40B4-BE49-F238E27FC236}">
                <a16:creationId xmlns:a16="http://schemas.microsoft.com/office/drawing/2014/main" id="{B65DB646-6BA0-475F-9CED-69D0DA8C80D6}"/>
              </a:ext>
            </a:extLst>
          </p:cNvPr>
          <p:cNvSpPr>
            <a:spLocks xmlns:a="http://schemas.openxmlformats.org/drawingml/2006/main" noGrp="1"/>
          </p:cNvSpPr>
          <p:nvPr/>
        </p:nvSpPr>
        <p:spPr>
          <a:xfrm xmlns:a="http://schemas.openxmlformats.org/drawingml/2006/main">
            <a:off x="4297680" y="1417320"/>
            <a:ext cx="3566160" cy="3246120"/>
          </a:xfrm>
          <a:prstGeom xmlns:a="http://schemas.openxmlformats.org/drawingml/2006/main" prst="roundRect">
            <a:avLst>
              <a:gd name="adj" fmla="val 2051"/>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Current practice (reported earlier)</a:t>
            </a:r>
          </a:p>
          <a:p xmlns:a="http://schemas.openxmlformats.org/drawingml/2006/main">
            <a:pPr marL="171450" indent="-171450">
              <a:spcAft>
                <a:spcPts val="400"/>
              </a:spcAft>
              <a:buClr>
                <a:schemeClr val="accent1"/>
              </a:buClr>
              <a:buFont typeface="Arial"/>
              <a:buChar char="•"/>
            </a:pPr>
            <a:r>
              <a:rPr sz="1400" b="1">
                <a:solidFill>
                  <a:schemeClr val="tx1"/>
                </a:solidFill>
              </a:rPr>
              <a:t>Vendors: </a:t>
            </a:r>
            <a:r>
              <a:rPr sz="1400">
                <a:solidFill>
                  <a:schemeClr val="tx1"/>
                </a:solidFill>
              </a:rPr>
              <a:t>discount, donate, give to staff or discard at closing.</a:t>
            </a:r>
          </a:p>
          <a:p xmlns:a="http://schemas.openxmlformats.org/drawingml/2006/main">
            <a:pPr marL="171450" indent="-171450">
              <a:spcAft>
                <a:spcPts val="400"/>
              </a:spcAft>
              <a:buClr>
                <a:schemeClr val="accent1"/>
              </a:buClr>
              <a:buFont typeface="Arial"/>
              <a:buChar char="•"/>
            </a:pPr>
            <a:r>
              <a:rPr sz="1400" b="1">
                <a:solidFill>
                  <a:schemeClr val="tx1"/>
                </a:solidFill>
              </a:rPr>
              <a:t>Wholesalers: </a:t>
            </a:r>
            <a:r>
              <a:rPr sz="1400">
                <a:solidFill>
                  <a:schemeClr val="tx1"/>
                </a:solidFill>
              </a:rPr>
              <a:t>rejected or unsold produce has no quick buyer.</a:t>
            </a:r>
          </a:p>
          <a:p xmlns:a="http://schemas.openxmlformats.org/drawingml/2006/main">
            <a:pPr marL="171450" indent="-171450">
              <a:spcAft>
                <a:spcPts val="400"/>
              </a:spcAft>
              <a:buClr>
                <a:schemeClr val="accent1"/>
              </a:buClr>
              <a:buFont typeface="Arial"/>
              <a:buChar char="•"/>
            </a:pPr>
            <a:r>
              <a:rPr sz="1400" b="1">
                <a:solidFill>
                  <a:schemeClr val="tx1"/>
                </a:solidFill>
              </a:rPr>
              <a:t>Buyers: </a:t>
            </a:r>
            <a:r>
              <a:rPr sz="1400">
                <a:solidFill>
                  <a:schemeClr val="tx1"/>
                </a:solidFill>
              </a:rPr>
              <a:t>cannot see what is left or reach the vendor in time.</a:t>
            </a:r>
          </a:p>
          <a:p xmlns:a="http://schemas.openxmlformats.org/drawingml/2006/main">
            <a:pPr marL="0" indent="0">
              <a:spcAft>
                <a:spcPts val="0"/>
              </a:spcAft>
              <a:buNone/>
            </a:pPr>
            <a:r>
              <a:rPr sz="1400" i="1">
                <a:solidFill>
                  <a:schemeClr val="accent4"/>
                </a:solidFill>
              </a:rPr>
              <a:t>Reported in the earlier submission; not independently verified.</a:t>
            </a:r>
          </a:p>
        </p:txBody>
      </p:sp>
      <p:sp>
        <p:nvSpPr>
          <p:cNvPr id="7" name="Other stakeholders">
            <a:extLst xmlns:a="http://schemas.openxmlformats.org/drawingml/2006/main">
              <a:ext uri="{FF2B5EF4-FFF2-40B4-BE49-F238E27FC236}">
                <a16:creationId xmlns:a16="http://schemas.microsoft.com/office/drawing/2014/main" id="{6930E524-24DA-468F-A6CD-1CB90EE3B03A}"/>
              </a:ext>
            </a:extLst>
          </p:cNvPr>
          <p:cNvSpPr>
            <a:spLocks xmlns:a="http://schemas.openxmlformats.org/drawingml/2006/main" noGrp="1"/>
          </p:cNvSpPr>
          <p:nvPr/>
        </p:nvSpPr>
        <p:spPr>
          <a:xfrm xmlns:a="http://schemas.openxmlformats.org/drawingml/2006/main">
            <a:off x="8046720" y="1417320"/>
            <a:ext cx="3566160" cy="3246120"/>
          </a:xfrm>
          <a:prstGeom xmlns:a="http://schemas.openxmlformats.org/drawingml/2006/main" prst="roundRect">
            <a:avLst>
              <a:gd name="adj" fmla="val 2051"/>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Other stakeholders</a:t>
            </a:r>
          </a:p>
          <a:p xmlns:a="http://schemas.openxmlformats.org/drawingml/2006/main">
            <a:pPr marL="171450" indent="-171450">
              <a:spcAft>
                <a:spcPts val="400"/>
              </a:spcAft>
              <a:buClr>
                <a:schemeClr val="accent1"/>
              </a:buClr>
              <a:buFont typeface="Arial"/>
              <a:buChar char="•"/>
            </a:pPr>
            <a:r>
              <a:rPr sz="1400" b="1">
                <a:solidFill>
                  <a:schemeClr val="tx1"/>
                </a:solidFill>
              </a:rPr>
              <a:t>Pays: </a:t>
            </a:r>
            <a:r>
              <a:rPr sz="1400">
                <a:solidFill>
                  <a:schemeClr val="tx1"/>
                </a:solidFill>
              </a:rPr>
              <a:t>buyers (sales); vendors if a fee is chosen.</a:t>
            </a:r>
          </a:p>
          <a:p xmlns:a="http://schemas.openxmlformats.org/drawingml/2006/main">
            <a:pPr marL="171450" indent="-171450">
              <a:spcAft>
                <a:spcPts val="400"/>
              </a:spcAft>
              <a:buClr>
                <a:schemeClr val="accent1"/>
              </a:buClr>
              <a:buFont typeface="Arial"/>
              <a:buChar char="•"/>
            </a:pPr>
            <a:r>
              <a:rPr sz="1400" b="1">
                <a:solidFill>
                  <a:schemeClr val="tx1"/>
                </a:solidFill>
              </a:rPr>
              <a:t>Enables: </a:t>
            </a:r>
            <a:r>
              <a:rPr sz="1400">
                <a:solidFill>
                  <a:schemeClr val="tx1"/>
                </a:solidFill>
              </a:rPr>
              <a:t>vendors, bulk recipients, a food-safety advisor.</a:t>
            </a:r>
          </a:p>
          <a:p xmlns:a="http://schemas.openxmlformats.org/drawingml/2006/main">
            <a:pPr marL="171450" indent="-171450">
              <a:spcAft>
                <a:spcPts val="400"/>
              </a:spcAft>
              <a:buClr>
                <a:schemeClr val="accent1"/>
              </a:buClr>
              <a:buFont typeface="Arial"/>
              <a:buChar char="•"/>
            </a:pPr>
            <a:r>
              <a:rPr sz="1400" b="1">
                <a:solidFill>
                  <a:schemeClr val="tx1"/>
                </a:solidFill>
              </a:rPr>
              <a:t>Could block: </a:t>
            </a:r>
            <a:r>
              <a:rPr sz="1400">
                <a:solidFill>
                  <a:schemeClr val="tx1"/>
                </a:solidFill>
              </a:rPr>
              <a:t>regulators, and vendors unwilling to list.</a:t>
            </a:r>
          </a:p>
          <a:p xmlns:a="http://schemas.openxmlformats.org/drawingml/2006/main">
            <a:pPr marL="171450" indent="-171450">
              <a:spcAft>
                <a:spcPts val="0"/>
              </a:spcAft>
              <a:buClr>
                <a:schemeClr val="accent1"/>
              </a:buClr>
              <a:buFont typeface="Arial"/>
              <a:buChar char="•"/>
            </a:pPr>
            <a:r>
              <a:rPr sz="1400">
                <a:solidFill>
                  <a:schemeClr val="tx1"/>
                </a:solidFill>
              </a:rPr>
              <a:t>Vendors and recipients not yet recruited; donation funding not secured.</a:t>
            </a:r>
          </a:p>
        </p:txBody>
      </p:sp>
      <p:sp>
        <p:nvSpPr>
          <p:cNvPr id="8" name="User evidence">
            <a:extLst xmlns:a="http://schemas.openxmlformats.org/drawingml/2006/main">
              <a:ext uri="{FF2B5EF4-FFF2-40B4-BE49-F238E27FC236}">
                <a16:creationId xmlns:a16="http://schemas.microsoft.com/office/drawing/2014/main" id="{D3E147B0-5644-4E21-9E46-875D71591480}"/>
              </a:ext>
            </a:extLst>
          </p:cNvPr>
          <p:cNvSpPr>
            <a:spLocks xmlns:a="http://schemas.openxmlformats.org/drawingml/2006/main" noGrp="1"/>
          </p:cNvSpPr>
          <p:nvPr/>
        </p:nvSpPr>
        <p:spPr>
          <a:xfrm xmlns:a="http://schemas.openxmlformats.org/drawingml/2006/main">
            <a:off x="548640" y="4846320"/>
            <a:ext cx="11064240" cy="1188720"/>
          </a:xfrm>
          <a:prstGeom xmlns:a="http://schemas.openxmlformats.org/drawingml/2006/main" prst="roundRect">
            <a:avLst>
              <a:gd name="adj" fmla="val 8421"/>
            </a:avLst>
          </a:prstGeom>
          <a:solidFill xmlns:a="http://schemas.openxmlformats.org/drawingml/2006/main">
            <a:schemeClr val="tx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bg1"/>
                </a:solidFill>
              </a:rPr>
              <a:t>User evidence: preliminary, unverified</a:t>
            </a:r>
          </a:p>
          <a:p xmlns:a="http://schemas.openxmlformats.org/drawingml/2006/main">
            <a:pPr marL="0" indent="0">
              <a:spcAft>
                <a:spcPts val="0"/>
              </a:spcAft>
              <a:buNone/>
            </a:pPr>
            <a:r>
              <a:rPr sz="1400">
                <a:solidFill>
                  <a:schemeClr val="bg2"/>
                </a:solidFill>
              </a:rPr>
              <a:t>The earlier submission reported a 42-person survey and preliminary stakeholder interviews. Original responses and interview records are unavailable for verification. These findings are preliminary and require a new documented study.</a:t>
            </a:r>
          </a:p>
        </p:txBody>
      </p:sp>
      <p:sp>
        <p:nvSpPr>
          <p:cNvPr id="25" name="Slide Number Placeholder 0">
            <a:extLst xmlns:a="http://schemas.openxmlformats.org/drawingml/2006/main">
              <a:ext uri="{FF2B5EF4-FFF2-40B4-BE49-F238E27FC236}">
                <a16:creationId xmlns:a16="http://schemas.microsoft.com/office/drawing/2014/main" id="{1DD2F528-C069-4E2B-925B-B06A074EF5C3}"/>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4</a:t>
            </a:fld>
            <a:endParaRPr/>
          </a:p>
        </p:txBody>
      </p:sp>
    </p:spTree>
    <p:extLst>
      <p:ext uri="{BB962C8B-B14F-4D97-AF65-F5344CB8AC3E}">
        <p14:creationId xmlns:p14="http://schemas.microsoft.com/office/powerpoint/2010/main" val="65561572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3539527-0D5A-4B12-98C8-08A0ED45D0E5}"/>
              </a:ext>
            </a:extLst>
          </p:cNvPr>
          <p:cNvSpPr>
            <a:spLocks xmlns:a="http://schemas.openxmlformats.org/drawingml/2006/main" noGrp="1"/>
          </p:cNvSpPr>
          <p:nvPr/>
        </p:nvSpPr>
        <p:spPr>
          <a:xfrm xmlns:a="http://schemas.openxmlformats.org/drawingml/2006/main">
            <a:off x="548640" y="27432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accent2"/>
                </a:solidFill>
              </a:rPr>
              <a:t>04 · SOLUTION  ·  ~65 s</a:t>
            </a:r>
            <a:endParaRPr sz="1200"/>
          </a:p>
        </p:txBody>
      </p:sp>
      <p:sp>
        <p:nvSpPr>
          <p:cNvPr id="3" name="Text 1">
            <a:extLst xmlns:a="http://schemas.openxmlformats.org/drawingml/2006/main">
              <a:ext uri="{FF2B5EF4-FFF2-40B4-BE49-F238E27FC236}">
                <a16:creationId xmlns:a16="http://schemas.microsoft.com/office/drawing/2014/main" id="{5CC2CA43-B240-4160-9026-58423CB41A71}"/>
              </a:ext>
            </a:extLst>
          </p:cNvPr>
          <p:cNvSpPr>
            <a:spLocks xmlns:a="http://schemas.openxmlformats.org/drawingml/2006/main" noGrp="1"/>
          </p:cNvSpPr>
          <p:nvPr/>
        </p:nvSpPr>
        <p:spPr>
          <a:xfrm xmlns:a="http://schemas.openxmlformats.org/drawingml/2006/main">
            <a:off x="548640" y="566928"/>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tx1"/>
                </a:solidFill>
              </a:rPr>
              <a:t>Our solution</a:t>
            </a:r>
            <a:endParaRPr sz="3400"/>
          </a:p>
        </p:txBody>
      </p:sp>
      <p:sp>
        <p:nvSpPr>
          <p:cNvPr id="5" name="Concept visual">
            <a:extLst xmlns:a="http://schemas.openxmlformats.org/drawingml/2006/main">
              <a:ext uri="{FF2B5EF4-FFF2-40B4-BE49-F238E27FC236}">
                <a16:creationId xmlns:a16="http://schemas.microsoft.com/office/drawing/2014/main" id="{BD524BFC-D56D-4800-8BFF-15B7D310DCB3}"/>
              </a:ext>
            </a:extLst>
          </p:cNvPr>
          <p:cNvSpPr>
            <a:spLocks xmlns:a="http://schemas.openxmlformats.org/drawingml/2006/main" noGrp="1"/>
          </p:cNvSpPr>
          <p:nvPr/>
        </p:nvSpPr>
        <p:spPr>
          <a:xfrm xmlns:a="http://schemas.openxmlformats.org/drawingml/2006/main">
            <a:off x="548640" y="1417320"/>
            <a:ext cx="5760720" cy="4572000"/>
          </a:xfrm>
          <a:prstGeom xmlns:a="http://schemas.openxmlformats.org/drawingml/2006/main" prst="roundRect">
            <a:avLst>
              <a:gd name="adj" fmla="val 1600"/>
            </a:avLst>
          </a:prstGeom>
          <a:solidFill xmlns:a="http://schemas.openxmlformats.org/drawingml/2006/main">
            <a:schemeClr val="bg2"/>
          </a:solidFill>
        </p:spPr>
        <p:txBody>
          <a:bodyPr xmlns:a="http://schemas.openxmlformats.org/drawingml/2006/main" wrap="square" anchor="ctr"/>
          <a:lstStyle xmlns:a="http://schemas.openxmlformats.org/drawingml/2006/main"/>
          <a:p xmlns:a="http://schemas.openxmlformats.org/drawingml/2006/main">
            <a:endParaRPr sz="1400"/>
          </a:p>
        </p:txBody>
      </p:sp>
      <p:sp>
        <p:nvSpPr>
          <p:cNvPr id="6" name="One-sentence solution">
            <a:extLst xmlns:a="http://schemas.openxmlformats.org/drawingml/2006/main">
              <a:ext uri="{FF2B5EF4-FFF2-40B4-BE49-F238E27FC236}">
                <a16:creationId xmlns:a16="http://schemas.microsoft.com/office/drawing/2014/main" id="{4BC0124A-74A1-47E4-8D87-6AFAAF30181D}"/>
              </a:ext>
            </a:extLst>
          </p:cNvPr>
          <p:cNvSpPr>
            <a:spLocks xmlns:a="http://schemas.openxmlformats.org/drawingml/2006/main" noGrp="1"/>
          </p:cNvSpPr>
          <p:nvPr/>
        </p:nvSpPr>
        <p:spPr>
          <a:xfrm xmlns:a="http://schemas.openxmlformats.org/drawingml/2006/main">
            <a:off x="6537960" y="1417320"/>
            <a:ext cx="5074920" cy="1325880"/>
          </a:xfrm>
          <a:prstGeom xmlns:a="http://schemas.openxmlformats.org/drawingml/2006/main" prst="roundRect">
            <a:avLst>
              <a:gd name="adj" fmla="val 5161"/>
            </a:avLst>
          </a:prstGeom>
          <a:solidFill xmlns:a="http://schemas.openxmlformats.org/drawingml/2006/main">
            <a:schemeClr val="tx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bg1"/>
                </a:solidFill>
              </a:rPr>
              <a:t>One-sentence solution (proposed)</a:t>
            </a:r>
          </a:p>
          <a:p xmlns:a="http://schemas.openxmlformats.org/drawingml/2006/main">
            <a:pPr marL="0" indent="0">
              <a:spcAft>
                <a:spcPts val="0"/>
              </a:spcAft>
              <a:buNone/>
            </a:pPr>
            <a:r>
              <a:rPr sz="1400">
                <a:solidFill>
                  <a:schemeClr val="bg1"/>
                </a:solidFill>
              </a:rPr>
              <a:t>We help food vendors move eligible surplus to nearby buyers and recipients by listing it for discounted sale or free donation, collected by the buyer or recipient.</a:t>
            </a:r>
          </a:p>
        </p:txBody>
      </p:sp>
      <p:sp>
        <p:nvSpPr>
          <p:cNvPr id="7" name="Step 1">
            <a:extLst xmlns:a="http://schemas.openxmlformats.org/drawingml/2006/main">
              <a:ext uri="{FF2B5EF4-FFF2-40B4-BE49-F238E27FC236}">
                <a16:creationId xmlns:a16="http://schemas.microsoft.com/office/drawing/2014/main" id="{DC654C6E-8E88-45B0-ABC5-1B486956BA7C}"/>
              </a:ext>
            </a:extLst>
          </p:cNvPr>
          <p:cNvSpPr>
            <a:spLocks xmlns:a="http://schemas.openxmlformats.org/drawingml/2006/main" noGrp="1"/>
          </p:cNvSpPr>
          <p:nvPr/>
        </p:nvSpPr>
        <p:spPr>
          <a:xfrm xmlns:a="http://schemas.openxmlformats.org/drawingml/2006/main">
            <a:off x="6537960" y="3154679"/>
            <a:ext cx="457200" cy="457200"/>
          </a:xfrm>
          <a:prstGeom xmlns:a="http://schemas.openxmlformats.org/drawingml/2006/main" prst="ellipse">
            <a:avLst/>
          </a:prstGeom>
          <a:solidFill xmlns:a="http://schemas.openxmlformats.org/drawingml/2006/main">
            <a:schemeClr val="accent1"/>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chemeClr val="bg1"/>
                </a:solidFill>
              </a:rPr>
              <a:t>1</a:t>
            </a:r>
            <a:endParaRPr sz="1600"/>
          </a:p>
        </p:txBody>
      </p:sp>
      <p:sp>
        <p:nvSpPr>
          <p:cNvPr id="8" name="Key feature 1">
            <a:extLst xmlns:a="http://schemas.openxmlformats.org/drawingml/2006/main">
              <a:ext uri="{FF2B5EF4-FFF2-40B4-BE49-F238E27FC236}">
                <a16:creationId xmlns:a16="http://schemas.microsoft.com/office/drawing/2014/main" id="{C6C81552-29D8-41AC-9F6D-320642106F16}"/>
              </a:ext>
            </a:extLst>
          </p:cNvPr>
          <p:cNvSpPr>
            <a:spLocks xmlns:a="http://schemas.openxmlformats.org/drawingml/2006/main" noGrp="1"/>
          </p:cNvSpPr>
          <p:nvPr/>
        </p:nvSpPr>
        <p:spPr>
          <a:xfrm xmlns:a="http://schemas.openxmlformats.org/drawingml/2006/main">
            <a:off x="7132320" y="2880360"/>
            <a:ext cx="4480560" cy="1005840"/>
          </a:xfrm>
          <a:prstGeom xmlns:a="http://schemas.openxmlformats.org/drawingml/2006/main" prst="roundRect">
            <a:avLst>
              <a:gd name="adj" fmla="val 8421"/>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Two streams, one platform</a:t>
            </a:r>
            <a:r>
              <a:rPr sz="1400" b="1">
                <a:solidFill>
                  <a:schemeClr val="accent1"/>
                </a:solidFill>
              </a:rPr>
              <a:t>  ·  Planned</a:t>
            </a:r>
          </a:p>
          <a:p xmlns:a="http://schemas.openxmlformats.org/drawingml/2006/main">
            <a:pPr marL="0" indent="0">
              <a:spcAft>
                <a:spcPts val="0"/>
              </a:spcAft>
              <a:buNone/>
            </a:pPr>
            <a:r>
              <a:rPr sz="1400">
                <a:solidFill>
                  <a:schemeClr val="tx1"/>
                </a:solidFill>
              </a:rPr>
              <a:t>Retail bundles and wholesale lots share accounts and records.</a:t>
            </a:r>
          </a:p>
        </p:txBody>
      </p:sp>
      <p:sp>
        <p:nvSpPr>
          <p:cNvPr id="9" name="Step 2">
            <a:extLst xmlns:a="http://schemas.openxmlformats.org/drawingml/2006/main">
              <a:ext uri="{FF2B5EF4-FFF2-40B4-BE49-F238E27FC236}">
                <a16:creationId xmlns:a16="http://schemas.microsoft.com/office/drawing/2014/main" id="{E1952779-2A20-4356-9E92-7983574D7B6E}"/>
              </a:ext>
            </a:extLst>
          </p:cNvPr>
          <p:cNvSpPr>
            <a:spLocks xmlns:a="http://schemas.openxmlformats.org/drawingml/2006/main" noGrp="1"/>
          </p:cNvSpPr>
          <p:nvPr/>
        </p:nvSpPr>
        <p:spPr>
          <a:xfrm xmlns:a="http://schemas.openxmlformats.org/drawingml/2006/main">
            <a:off x="6537960" y="4206240"/>
            <a:ext cx="457200" cy="457200"/>
          </a:xfrm>
          <a:prstGeom xmlns:a="http://schemas.openxmlformats.org/drawingml/2006/main" prst="ellipse">
            <a:avLst/>
          </a:prstGeom>
          <a:solidFill xmlns:a="http://schemas.openxmlformats.org/drawingml/2006/main">
            <a:schemeClr val="accent1"/>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chemeClr val="bg1"/>
                </a:solidFill>
              </a:rPr>
              <a:t>2</a:t>
            </a:r>
            <a:endParaRPr sz="1600"/>
          </a:p>
        </p:txBody>
      </p:sp>
      <p:sp>
        <p:nvSpPr>
          <p:cNvPr id="10" name="Key feature 2">
            <a:extLst xmlns:a="http://schemas.openxmlformats.org/drawingml/2006/main">
              <a:ext uri="{FF2B5EF4-FFF2-40B4-BE49-F238E27FC236}">
                <a16:creationId xmlns:a16="http://schemas.microsoft.com/office/drawing/2014/main" id="{BDDF7F91-F0E5-4D25-8DEC-41741360AAB0}"/>
              </a:ext>
            </a:extLst>
          </p:cNvPr>
          <p:cNvSpPr>
            <a:spLocks xmlns:a="http://schemas.openxmlformats.org/drawingml/2006/main" noGrp="1"/>
          </p:cNvSpPr>
          <p:nvPr/>
        </p:nvSpPr>
        <p:spPr>
          <a:xfrm xmlns:a="http://schemas.openxmlformats.org/drawingml/2006/main">
            <a:off x="7132320" y="3931920"/>
            <a:ext cx="4480560" cy="1005840"/>
          </a:xfrm>
          <a:prstGeom xmlns:a="http://schemas.openxmlformats.org/drawingml/2006/main" prst="roundRect">
            <a:avLst>
              <a:gd name="adj" fmla="val 8421"/>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Sale or free donation</a:t>
            </a:r>
            <a:r>
              <a:rPr sz="1400" b="1">
                <a:solidFill>
                  <a:schemeClr val="accent1"/>
                </a:solidFill>
              </a:rPr>
              <a:t>  ·  Planned</a:t>
            </a:r>
          </a:p>
          <a:p xmlns:a="http://schemas.openxmlformats.org/drawingml/2006/main">
            <a:pPr marL="0" indent="0">
              <a:spcAft>
                <a:spcPts val="0"/>
              </a:spcAft>
              <a:buNone/>
            </a:pPr>
            <a:r>
              <a:rPr sz="1400">
                <a:solidFill>
                  <a:schemeClr val="tx1"/>
                </a:solidFill>
              </a:rPr>
              <a:t>Donations carry no food price and no platform fee.</a:t>
            </a:r>
          </a:p>
        </p:txBody>
      </p:sp>
      <p:sp>
        <p:nvSpPr>
          <p:cNvPr id="11" name="Step 3">
            <a:extLst xmlns:a="http://schemas.openxmlformats.org/drawingml/2006/main">
              <a:ext uri="{FF2B5EF4-FFF2-40B4-BE49-F238E27FC236}">
                <a16:creationId xmlns:a16="http://schemas.microsoft.com/office/drawing/2014/main" id="{AFA9245B-09BC-4124-8189-3E345A06F752}"/>
              </a:ext>
            </a:extLst>
          </p:cNvPr>
          <p:cNvSpPr>
            <a:spLocks xmlns:a="http://schemas.openxmlformats.org/drawingml/2006/main" noGrp="1"/>
          </p:cNvSpPr>
          <p:nvPr/>
        </p:nvSpPr>
        <p:spPr>
          <a:xfrm xmlns:a="http://schemas.openxmlformats.org/drawingml/2006/main">
            <a:off x="6537960" y="5257799"/>
            <a:ext cx="457200" cy="457200"/>
          </a:xfrm>
          <a:prstGeom xmlns:a="http://schemas.openxmlformats.org/drawingml/2006/main" prst="ellipse">
            <a:avLst/>
          </a:prstGeom>
          <a:solidFill xmlns:a="http://schemas.openxmlformats.org/drawingml/2006/main">
            <a:schemeClr val="accent1"/>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chemeClr val="bg1"/>
                </a:solidFill>
              </a:rPr>
              <a:t>3</a:t>
            </a:r>
            <a:endParaRPr sz="1600"/>
          </a:p>
        </p:txBody>
      </p:sp>
      <p:sp>
        <p:nvSpPr>
          <p:cNvPr id="12" name="Key feature 3">
            <a:extLst xmlns:a="http://schemas.openxmlformats.org/drawingml/2006/main">
              <a:ext uri="{FF2B5EF4-FFF2-40B4-BE49-F238E27FC236}">
                <a16:creationId xmlns:a16="http://schemas.microsoft.com/office/drawing/2014/main" id="{0C880191-11E4-4F78-A27F-29DC10B827C4}"/>
              </a:ext>
            </a:extLst>
          </p:cNvPr>
          <p:cNvSpPr>
            <a:spLocks xmlns:a="http://schemas.openxmlformats.org/drawingml/2006/main" noGrp="1"/>
          </p:cNvSpPr>
          <p:nvPr/>
        </p:nvSpPr>
        <p:spPr>
          <a:xfrm xmlns:a="http://schemas.openxmlformats.org/drawingml/2006/main">
            <a:off x="7132320" y="4983479"/>
            <a:ext cx="4480560" cy="1005840"/>
          </a:xfrm>
          <a:prstGeom xmlns:a="http://schemas.openxmlformats.org/drawingml/2006/main" prst="roundRect">
            <a:avLst>
              <a:gd name="adj" fmla="val 8421"/>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Reserve, collect, record</a:t>
            </a:r>
            <a:r>
              <a:rPr sz="1400" b="1">
                <a:solidFill>
                  <a:schemeClr val="accent1"/>
                </a:solidFill>
              </a:rPr>
              <a:t>  ·  Planned</a:t>
            </a:r>
          </a:p>
          <a:p xmlns:a="http://schemas.openxmlformats.org/drawingml/2006/main">
            <a:pPr marL="0" indent="0">
              <a:spcAft>
                <a:spcPts val="0"/>
              </a:spcAft>
              <a:buNone/>
            </a:pPr>
            <a:r>
              <a:rPr sz="1400">
                <a:solidFill>
                  <a:schemeClr val="tx1"/>
                </a:solidFill>
              </a:rPr>
              <a:t>Stock-controlled reservations; the vendor confirms the actual handover.</a:t>
            </a:r>
          </a:p>
        </p:txBody>
      </p:sp>
      <p:sp>
        <p:nvSpPr>
          <p:cNvPr id="25" name="Slide Number Placeholder 0">
            <a:extLst xmlns:a="http://schemas.openxmlformats.org/drawingml/2006/main">
              <a:ext uri="{FF2B5EF4-FFF2-40B4-BE49-F238E27FC236}">
                <a16:creationId xmlns:a16="http://schemas.microsoft.com/office/drawing/2014/main" id="{90E6A907-5D22-4510-9B37-290C0281678F}"/>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5</a:t>
            </a:fld>
            <a:endParaRPr/>
          </a:p>
        </p:txBody>
      </p:sp>
      <p:sp>
        <p:nvSpPr>
          <p:cNvPr id="26" name="Visual caption">
            <a:extLst xmlns:a="http://schemas.openxmlformats.org/drawingml/2006/main">
              <a:ext uri="{FF2B5EF4-FFF2-40B4-BE49-F238E27FC236}">
                <a16:creationId xmlns:a16="http://schemas.microsoft.com/office/drawing/2014/main" id="{C6C5EB35-03C7-49F2-814F-66F49AE0EAF4}"/>
              </a:ext>
            </a:extLst>
          </p:cNvPr>
          <p:cNvSpPr>
            <a:spLocks xmlns:a="http://schemas.openxmlformats.org/drawingml/2006/main" noGrp="1"/>
          </p:cNvSpPr>
          <p:nvPr/>
        </p:nvSpPr>
        <p:spPr>
          <a:xfrm xmlns:a="http://schemas.openxmlformats.org/drawingml/2006/main">
            <a:off x="731520" y="1536192"/>
            <a:ext cx="5394960" cy="365760"/>
          </a:xfrm>
          <a:prstGeom xmlns:a="http://schemas.openxmlformats.org/drawingml/2006/main" prst="roundRect">
            <a:avLst>
              <a:gd name="adj" fmla="val 10000"/>
            </a:avLst>
          </a:prstGeom>
          <a:solidFill xmlns:a="http://schemas.openxmlformats.org/drawingml/2006/main">
            <a:schemeClr val="bg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marL="0" indent="0">
              <a:spcAft>
                <a:spcPts val="0"/>
              </a:spcAft>
              <a:buNone/>
            </a:pPr>
            <a:r>
              <a:rPr sz="1400" i="1">
                <a:solidFill>
                  <a:schemeClr val="accent4"/>
                </a:solidFill>
              </a:rPr>
              <a:t>Concept diagram; nothing is built or tested yet</a:t>
            </a:r>
          </a:p>
        </p:txBody>
      </p:sp>
      <p:sp>
        <p:nvSpPr>
          <p:cNvPr id="27" name="Retail vendor">
            <a:extLst xmlns:a="http://schemas.openxmlformats.org/drawingml/2006/main">
              <a:ext uri="{FF2B5EF4-FFF2-40B4-BE49-F238E27FC236}">
                <a16:creationId xmlns:a16="http://schemas.microsoft.com/office/drawing/2014/main" id="{90AE17BF-E190-4070-A714-3F8B434C7382}"/>
              </a:ext>
            </a:extLst>
          </p:cNvPr>
          <p:cNvSpPr>
            <a:spLocks xmlns:a="http://schemas.openxmlformats.org/drawingml/2006/main" noGrp="1"/>
          </p:cNvSpPr>
          <p:nvPr/>
        </p:nvSpPr>
        <p:spPr>
          <a:xfrm xmlns:a="http://schemas.openxmlformats.org/drawingml/2006/main">
            <a:off x="685800" y="2057400"/>
            <a:ext cx="1554480" cy="1143000"/>
          </a:xfrm>
          <a:prstGeom xmlns:a="http://schemas.openxmlformats.org/drawingml/2006/main" prst="roundRect">
            <a:avLst>
              <a:gd name="adj" fmla="val 10000"/>
            </a:avLst>
          </a:prstGeom>
          <a:solidFill xmlns:a="http://schemas.openxmlformats.org/drawingml/2006/main">
            <a:schemeClr val="tx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marL="0" indent="0" algn="ctr">
              <a:spcAft>
                <a:spcPts val="100"/>
              </a:spcAft>
              <a:buNone/>
            </a:pPr>
            <a:r>
              <a:rPr sz="1400" b="1">
                <a:solidFill>
                  <a:schemeClr val="bg1"/>
                </a:solidFill>
              </a:rPr>
              <a:t>Retail vendor</a:t>
            </a:r>
          </a:p>
          <a:p xmlns:a="http://schemas.openxmlformats.org/drawingml/2006/main">
            <a:pPr marL="0" indent="0" algn="ctr">
              <a:spcAft>
                <a:spcPts val="0"/>
              </a:spcAft>
              <a:buNone/>
            </a:pPr>
            <a:r>
              <a:rPr sz="1400">
                <a:solidFill>
                  <a:schemeClr val="bg1"/>
                </a:solidFill>
              </a:rPr>
              <a:t>Small bundles</a:t>
            </a:r>
          </a:p>
        </p:txBody>
      </p:sp>
      <p:sp>
        <p:nvSpPr>
          <p:cNvPr id="28" name="Wholesale supplier">
            <a:extLst xmlns:a="http://schemas.openxmlformats.org/drawingml/2006/main">
              <a:ext uri="{FF2B5EF4-FFF2-40B4-BE49-F238E27FC236}">
                <a16:creationId xmlns:a16="http://schemas.microsoft.com/office/drawing/2014/main" id="{57CC9DDE-BAC3-44AD-941E-1179C2EB4CF0}"/>
              </a:ext>
            </a:extLst>
          </p:cNvPr>
          <p:cNvSpPr>
            <a:spLocks xmlns:a="http://schemas.openxmlformats.org/drawingml/2006/main" noGrp="1"/>
          </p:cNvSpPr>
          <p:nvPr/>
        </p:nvSpPr>
        <p:spPr>
          <a:xfrm xmlns:a="http://schemas.openxmlformats.org/drawingml/2006/main">
            <a:off x="685800" y="3429000"/>
            <a:ext cx="1554480" cy="1143000"/>
          </a:xfrm>
          <a:prstGeom xmlns:a="http://schemas.openxmlformats.org/drawingml/2006/main" prst="roundRect">
            <a:avLst>
              <a:gd name="adj" fmla="val 10000"/>
            </a:avLst>
          </a:prstGeom>
          <a:solidFill xmlns:a="http://schemas.openxmlformats.org/drawingml/2006/main">
            <a:schemeClr val="tx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marL="0" indent="0" algn="ctr">
              <a:spcAft>
                <a:spcPts val="100"/>
              </a:spcAft>
              <a:buNone/>
            </a:pPr>
            <a:r>
              <a:rPr sz="1400" b="1">
                <a:solidFill>
                  <a:schemeClr val="bg1"/>
                </a:solidFill>
              </a:rPr>
              <a:t>Wholesale supplier</a:t>
            </a:r>
          </a:p>
          <a:p xmlns:a="http://schemas.openxmlformats.org/drawingml/2006/main">
            <a:pPr marL="0" indent="0" algn="ctr">
              <a:spcAft>
                <a:spcPts val="0"/>
              </a:spcAft>
              <a:buNone/>
            </a:pPr>
            <a:r>
              <a:rPr sz="1400">
                <a:solidFill>
                  <a:schemeClr val="bg1"/>
                </a:solidFill>
              </a:rPr>
              <a:t>Produce lots (kg)</a:t>
            </a:r>
          </a:p>
        </p:txBody>
      </p:sp>
      <p:sp>
        <p:nvSpPr>
          <p:cNvPr id="29" name="AgriLoop hub">
            <a:extLst xmlns:a="http://schemas.openxmlformats.org/drawingml/2006/main">
              <a:ext uri="{FF2B5EF4-FFF2-40B4-BE49-F238E27FC236}">
                <a16:creationId xmlns:a16="http://schemas.microsoft.com/office/drawing/2014/main" id="{217238E0-6D63-485E-8F4D-2A9A60406C17}"/>
              </a:ext>
            </a:extLst>
          </p:cNvPr>
          <p:cNvSpPr>
            <a:spLocks xmlns:a="http://schemas.openxmlformats.org/drawingml/2006/main" noGrp="1"/>
          </p:cNvSpPr>
          <p:nvPr/>
        </p:nvSpPr>
        <p:spPr>
          <a:xfrm xmlns:a="http://schemas.openxmlformats.org/drawingml/2006/main">
            <a:off x="2560320" y="2057400"/>
            <a:ext cx="1737360" cy="2514600"/>
          </a:xfrm>
          <a:prstGeom xmlns:a="http://schemas.openxmlformats.org/drawingml/2006/main" prst="roundRect">
            <a:avLst>
              <a:gd name="adj" fmla="val 10000"/>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marL="0" indent="0" algn="ctr">
              <a:spcAft>
                <a:spcPts val="200"/>
              </a:spcAft>
              <a:buNone/>
            </a:pPr>
            <a:r>
              <a:rPr sz="2000" b="1">
                <a:solidFill>
                  <a:schemeClr val="bg1"/>
                </a:solidFill>
              </a:rPr>
              <a:t>AgriLoop</a:t>
            </a:r>
          </a:p>
          <a:p xmlns:a="http://schemas.openxmlformats.org/drawingml/2006/main">
            <a:pPr marL="0" indent="0" algn="ctr">
              <a:spcAft>
                <a:spcPts val="0"/>
              </a:spcAft>
              <a:buNone/>
            </a:pPr>
            <a:r>
              <a:rPr sz="1400">
                <a:solidFill>
                  <a:schemeClr val="bg1"/>
                </a:solidFill>
              </a:rPr>
              <a:t>Offer</a:t>
            </a:r>
          </a:p>
          <a:p xmlns:a="http://schemas.openxmlformats.org/drawingml/2006/main">
            <a:pPr marL="0" indent="0" algn="ctr">
              <a:spcAft>
                <a:spcPts val="0"/>
              </a:spcAft>
              <a:buNone/>
            </a:pPr>
            <a:r>
              <a:rPr sz="1400">
                <a:solidFill>
                  <a:schemeClr val="bg1"/>
                </a:solidFill>
              </a:rPr>
              <a:t>Reserve</a:t>
            </a:r>
          </a:p>
          <a:p xmlns:a="http://schemas.openxmlformats.org/drawingml/2006/main">
            <a:pPr marL="0" indent="0" algn="ctr">
              <a:spcAft>
                <a:spcPts val="0"/>
              </a:spcAft>
              <a:buNone/>
            </a:pPr>
            <a:r>
              <a:rPr sz="1400">
                <a:solidFill>
                  <a:schemeClr val="bg1"/>
                </a:solidFill>
              </a:rPr>
              <a:t>Record handover</a:t>
            </a:r>
          </a:p>
        </p:txBody>
      </p:sp>
      <p:sp>
        <p:nvSpPr>
          <p:cNvPr id="30" name="Buyer">
            <a:extLst xmlns:a="http://schemas.openxmlformats.org/drawingml/2006/main">
              <a:ext uri="{FF2B5EF4-FFF2-40B4-BE49-F238E27FC236}">
                <a16:creationId xmlns:a16="http://schemas.microsoft.com/office/drawing/2014/main" id="{BB889EE3-B219-4042-A832-FB3575C97AB4}"/>
              </a:ext>
            </a:extLst>
          </p:cNvPr>
          <p:cNvSpPr>
            <a:spLocks xmlns:a="http://schemas.openxmlformats.org/drawingml/2006/main" noGrp="1"/>
          </p:cNvSpPr>
          <p:nvPr/>
        </p:nvSpPr>
        <p:spPr>
          <a:xfrm xmlns:a="http://schemas.openxmlformats.org/drawingml/2006/main">
            <a:off x="4617720" y="2057400"/>
            <a:ext cx="1554480" cy="1143000"/>
          </a:xfrm>
          <a:prstGeom xmlns:a="http://schemas.openxmlformats.org/drawingml/2006/main" prst="roundRect">
            <a:avLst>
              <a:gd name="adj" fmla="val 10000"/>
            </a:avLst>
          </a:prstGeom>
          <a:solidFill xmlns:a="http://schemas.openxmlformats.org/drawingml/2006/main">
            <a:schemeClr val="tx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marL="0" indent="0" algn="ctr">
              <a:spcAft>
                <a:spcPts val="100"/>
              </a:spcAft>
              <a:buNone/>
            </a:pPr>
            <a:r>
              <a:rPr sz="1400" b="1">
                <a:solidFill>
                  <a:schemeClr val="bg1"/>
                </a:solidFill>
              </a:rPr>
              <a:t>Consumer</a:t>
            </a:r>
          </a:p>
          <a:p xmlns:a="http://schemas.openxmlformats.org/drawingml/2006/main">
            <a:pPr marL="0" indent="0" algn="ctr">
              <a:spcAft>
                <a:spcPts val="0"/>
              </a:spcAft>
              <a:buNone/>
            </a:pPr>
            <a:r>
              <a:rPr sz="1400">
                <a:solidFill>
                  <a:schemeClr val="bg1"/>
                </a:solidFill>
              </a:rPr>
              <a:t>collects the bundle</a:t>
            </a:r>
          </a:p>
        </p:txBody>
      </p:sp>
      <p:sp>
        <p:nvSpPr>
          <p:cNvPr id="31" name="Bulk recipient">
            <a:extLst xmlns:a="http://schemas.openxmlformats.org/drawingml/2006/main">
              <a:ext uri="{FF2B5EF4-FFF2-40B4-BE49-F238E27FC236}">
                <a16:creationId xmlns:a16="http://schemas.microsoft.com/office/drawing/2014/main" id="{6D93ED4E-200D-40C1-9702-59E036F6D33A}"/>
              </a:ext>
            </a:extLst>
          </p:cNvPr>
          <p:cNvSpPr>
            <a:spLocks xmlns:a="http://schemas.openxmlformats.org/drawingml/2006/main" noGrp="1"/>
          </p:cNvSpPr>
          <p:nvPr/>
        </p:nvSpPr>
        <p:spPr>
          <a:xfrm xmlns:a="http://schemas.openxmlformats.org/drawingml/2006/main">
            <a:off x="4617720" y="3429000"/>
            <a:ext cx="1554480" cy="1143000"/>
          </a:xfrm>
          <a:prstGeom xmlns:a="http://schemas.openxmlformats.org/drawingml/2006/main" prst="roundRect">
            <a:avLst>
              <a:gd name="adj" fmla="val 10000"/>
            </a:avLst>
          </a:prstGeom>
          <a:solidFill xmlns:a="http://schemas.openxmlformats.org/drawingml/2006/main">
            <a:schemeClr val="tx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marL="0" indent="0" algn="ctr">
              <a:spcAft>
                <a:spcPts val="100"/>
              </a:spcAft>
              <a:buNone/>
            </a:pPr>
            <a:r>
              <a:rPr sz="1400" b="1">
                <a:solidFill>
                  <a:schemeClr val="bg1"/>
                </a:solidFill>
              </a:rPr>
              <a:t>Bulk recipient</a:t>
            </a:r>
          </a:p>
          <a:p xmlns:a="http://schemas.openxmlformats.org/drawingml/2006/main">
            <a:pPr marL="0" indent="0" algn="ctr">
              <a:spcAft>
                <a:spcPts val="0"/>
              </a:spcAft>
              <a:buNone/>
            </a:pPr>
            <a:r>
              <a:rPr sz="1400">
                <a:solidFill>
                  <a:schemeClr val="bg1"/>
                </a:solidFill>
              </a:rPr>
              <a:t>arranges own collection</a:t>
            </a:r>
          </a:p>
        </p:txBody>
      </p:sp>
      <p:sp>
        <p:nvSpPr>
          <p:cNvPr id="32" name="Arrow a">
            <a:extLst xmlns:a="http://schemas.openxmlformats.org/drawingml/2006/main">
              <a:ext uri="{FF2B5EF4-FFF2-40B4-BE49-F238E27FC236}">
                <a16:creationId xmlns:a16="http://schemas.microsoft.com/office/drawing/2014/main" id="{10794F53-8A86-46F2-B8D4-7CA1D501A55E}"/>
              </a:ext>
            </a:extLst>
          </p:cNvPr>
          <p:cNvSpPr>
            <a:spLocks xmlns:a="http://schemas.openxmlformats.org/drawingml/2006/main" noGrp="1"/>
          </p:cNvSpPr>
          <p:nvPr/>
        </p:nvSpPr>
        <p:spPr>
          <a:xfrm xmlns:a="http://schemas.openxmlformats.org/drawingml/2006/main">
            <a:off x="2304288" y="2514600"/>
            <a:ext cx="228600" cy="228600"/>
          </a:xfrm>
          <a:prstGeom xmlns:a="http://schemas.openxmlformats.org/drawingml/2006/main" prst="rightArrow">
            <a:avLst/>
          </a:prstGeom>
          <a:solidFill xmlns:a="http://schemas.openxmlformats.org/drawingml/2006/main">
            <a:schemeClr val="accent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Arrow b">
            <a:extLst xmlns:a="http://schemas.openxmlformats.org/drawingml/2006/main">
              <a:ext uri="{FF2B5EF4-FFF2-40B4-BE49-F238E27FC236}">
                <a16:creationId xmlns:a16="http://schemas.microsoft.com/office/drawing/2014/main" id="{B6C67EE7-D138-4E36-8137-92EFA8DF65D2}"/>
              </a:ext>
            </a:extLst>
          </p:cNvPr>
          <p:cNvSpPr>
            <a:spLocks xmlns:a="http://schemas.openxmlformats.org/drawingml/2006/main" noGrp="1"/>
          </p:cNvSpPr>
          <p:nvPr/>
        </p:nvSpPr>
        <p:spPr>
          <a:xfrm xmlns:a="http://schemas.openxmlformats.org/drawingml/2006/main">
            <a:off x="2304288" y="3886200"/>
            <a:ext cx="228600" cy="228600"/>
          </a:xfrm>
          <a:prstGeom xmlns:a="http://schemas.openxmlformats.org/drawingml/2006/main" prst="rightArrow">
            <a:avLst/>
          </a:prstGeom>
          <a:solidFill xmlns:a="http://schemas.openxmlformats.org/drawingml/2006/main">
            <a:schemeClr val="accent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Arrow c">
            <a:extLst xmlns:a="http://schemas.openxmlformats.org/drawingml/2006/main">
              <a:ext uri="{FF2B5EF4-FFF2-40B4-BE49-F238E27FC236}">
                <a16:creationId xmlns:a16="http://schemas.microsoft.com/office/drawing/2014/main" id="{FF4A1D74-812D-4FAC-9411-71E7F9AAE65A}"/>
              </a:ext>
            </a:extLst>
          </p:cNvPr>
          <p:cNvSpPr>
            <a:spLocks xmlns:a="http://schemas.openxmlformats.org/drawingml/2006/main" noGrp="1"/>
          </p:cNvSpPr>
          <p:nvPr/>
        </p:nvSpPr>
        <p:spPr>
          <a:xfrm xmlns:a="http://schemas.openxmlformats.org/drawingml/2006/main">
            <a:off x="4361688" y="2514600"/>
            <a:ext cx="228600" cy="228600"/>
          </a:xfrm>
          <a:prstGeom xmlns:a="http://schemas.openxmlformats.org/drawingml/2006/main" prst="rightArrow">
            <a:avLst/>
          </a:prstGeom>
          <a:solidFill xmlns:a="http://schemas.openxmlformats.org/drawingml/2006/main">
            <a:schemeClr val="accent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Arrow d">
            <a:extLst xmlns:a="http://schemas.openxmlformats.org/drawingml/2006/main">
              <a:ext uri="{FF2B5EF4-FFF2-40B4-BE49-F238E27FC236}">
                <a16:creationId xmlns:a16="http://schemas.microsoft.com/office/drawing/2014/main" id="{2EB1A035-B037-4E31-AF98-BF5E0123027A}"/>
              </a:ext>
            </a:extLst>
          </p:cNvPr>
          <p:cNvSpPr>
            <a:spLocks xmlns:a="http://schemas.openxmlformats.org/drawingml/2006/main" noGrp="1"/>
          </p:cNvSpPr>
          <p:nvPr/>
        </p:nvSpPr>
        <p:spPr>
          <a:xfrm xmlns:a="http://schemas.openxmlformats.org/drawingml/2006/main">
            <a:off x="4361688" y="3886200"/>
            <a:ext cx="228600" cy="228600"/>
          </a:xfrm>
          <a:prstGeom xmlns:a="http://schemas.openxmlformats.org/drawingml/2006/main" prst="rightArrow">
            <a:avLst/>
          </a:prstGeom>
          <a:solidFill xmlns:a="http://schemas.openxmlformats.org/drawingml/2006/main">
            <a:schemeClr val="accent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Mode sale">
            <a:extLst xmlns:a="http://schemas.openxmlformats.org/drawingml/2006/main">
              <a:ext uri="{FF2B5EF4-FFF2-40B4-BE49-F238E27FC236}">
                <a16:creationId xmlns:a16="http://schemas.microsoft.com/office/drawing/2014/main" id="{E1E52FFE-F69A-4C24-B967-9255B18BAE53}"/>
              </a:ext>
            </a:extLst>
          </p:cNvPr>
          <p:cNvSpPr>
            <a:spLocks xmlns:a="http://schemas.openxmlformats.org/drawingml/2006/main" noGrp="1"/>
          </p:cNvSpPr>
          <p:nvPr/>
        </p:nvSpPr>
        <p:spPr>
          <a:xfrm xmlns:a="http://schemas.openxmlformats.org/drawingml/2006/main">
            <a:off x="685800" y="4800600"/>
            <a:ext cx="2697480" cy="457200"/>
          </a:xfrm>
          <a:prstGeom xmlns:a="http://schemas.openxmlformats.org/drawingml/2006/main" prst="roundRect">
            <a:avLst>
              <a:gd name="adj" fmla="val 50000"/>
            </a:avLst>
          </a:prstGeom>
          <a:solidFill xmlns:a="http://schemas.openxmlformats.org/drawingml/2006/main">
            <a:schemeClr val="accent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marL="0" indent="0" algn="ctr">
              <a:spcAft>
                <a:spcPts val="0"/>
              </a:spcAft>
              <a:buNone/>
            </a:pPr>
            <a:r>
              <a:rPr sz="1400" b="1">
                <a:solidFill>
                  <a:schemeClr val="bg1"/>
                </a:solidFill>
              </a:rPr>
              <a:t>Discounted sale</a:t>
            </a:r>
          </a:p>
        </p:txBody>
      </p:sp>
      <p:sp>
        <p:nvSpPr>
          <p:cNvPr id="37" name="Mode donation">
            <a:extLst xmlns:a="http://schemas.openxmlformats.org/drawingml/2006/main">
              <a:ext uri="{FF2B5EF4-FFF2-40B4-BE49-F238E27FC236}">
                <a16:creationId xmlns:a16="http://schemas.microsoft.com/office/drawing/2014/main" id="{FB27E1D8-C5A4-4C50-934B-BE923D1183A2}"/>
              </a:ext>
            </a:extLst>
          </p:cNvPr>
          <p:cNvSpPr>
            <a:spLocks xmlns:a="http://schemas.openxmlformats.org/drawingml/2006/main" noGrp="1"/>
          </p:cNvSpPr>
          <p:nvPr/>
        </p:nvSpPr>
        <p:spPr>
          <a:xfrm xmlns:a="http://schemas.openxmlformats.org/drawingml/2006/main">
            <a:off x="3520440" y="4800600"/>
            <a:ext cx="2651760" cy="457200"/>
          </a:xfrm>
          <a:prstGeom xmlns:a="http://schemas.openxmlformats.org/drawingml/2006/main" prst="roundRect">
            <a:avLst>
              <a:gd name="adj" fmla="val 50000"/>
            </a:avLst>
          </a:prstGeom>
          <a:solidFill xmlns:a="http://schemas.openxmlformats.org/drawingml/2006/main">
            <a:schemeClr val="accent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marL="0" indent="0" algn="ctr">
              <a:spcAft>
                <a:spcPts val="0"/>
              </a:spcAft>
              <a:buNone/>
            </a:pPr>
            <a:r>
              <a:rPr sz="1400" b="1">
                <a:solidFill>
                  <a:schemeClr val="bg1"/>
                </a:solidFill>
              </a:rPr>
              <a:t>Free donation, no platform fee</a:t>
            </a:r>
          </a:p>
        </p:txBody>
      </p:sp>
      <p:sp>
        <p:nvSpPr>
          <p:cNvPr id="38" name="Visual footnote">
            <a:extLst xmlns:a="http://schemas.openxmlformats.org/drawingml/2006/main">
              <a:ext uri="{FF2B5EF4-FFF2-40B4-BE49-F238E27FC236}">
                <a16:creationId xmlns:a16="http://schemas.microsoft.com/office/drawing/2014/main" id="{3A722472-012B-4452-8AD6-B21F37AC3146}"/>
              </a:ext>
            </a:extLst>
          </p:cNvPr>
          <p:cNvSpPr>
            <a:spLocks xmlns:a="http://schemas.openxmlformats.org/drawingml/2006/main" noGrp="1"/>
          </p:cNvSpPr>
          <p:nvPr/>
        </p:nvSpPr>
        <p:spPr>
          <a:xfrm xmlns:a="http://schemas.openxmlformats.org/drawingml/2006/main">
            <a:off x="731520" y="5349240"/>
            <a:ext cx="5394960" cy="502920"/>
          </a:xfrm>
          <a:prstGeom xmlns:a="http://schemas.openxmlformats.org/drawingml/2006/main" prst="roundRect">
            <a:avLst>
              <a:gd name="adj" fmla="val 10000"/>
            </a:avLst>
          </a:prstGeom>
          <a:solidFill xmlns:a="http://schemas.openxmlformats.org/drawingml/2006/main">
            <a:schemeClr val="bg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marL="0" indent="0" algn="ctr">
              <a:spcAft>
                <a:spcPts val="0"/>
              </a:spcAft>
              <a:buNone/>
            </a:pPr>
            <a:r>
              <a:rPr sz="1400">
                <a:solidFill>
                  <a:schemeClr val="tx1"/>
                </a:solidFill>
              </a:rPr>
              <a:t>Buyer or recipient collects. AgriLoop provides no delivery.</a:t>
            </a:r>
          </a:p>
        </p:txBody>
      </p:sp>
    </p:spTree>
    <p:extLst>
      <p:ext uri="{BB962C8B-B14F-4D97-AF65-F5344CB8AC3E}">
        <p14:creationId xmlns:p14="http://schemas.microsoft.com/office/powerpoint/2010/main" val="180376994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F3485FF-947B-4B11-A1DA-787759D0AA92}"/>
              </a:ext>
            </a:extLst>
          </p:cNvPr>
          <p:cNvSpPr>
            <a:spLocks xmlns:a="http://schemas.openxmlformats.org/drawingml/2006/main" noGrp="1"/>
          </p:cNvSpPr>
          <p:nvPr/>
        </p:nvSpPr>
        <p:spPr>
          <a:xfrm xmlns:a="http://schemas.openxmlformats.org/drawingml/2006/main">
            <a:off x="548640" y="27432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accent2"/>
                </a:solidFill>
              </a:rPr>
              <a:t>05 · HOW IT WORKS  ·  ~55 s</a:t>
            </a:r>
            <a:endParaRPr sz="1200"/>
          </a:p>
        </p:txBody>
      </p:sp>
      <p:sp>
        <p:nvSpPr>
          <p:cNvPr id="3" name="Text 1">
            <a:extLst xmlns:a="http://schemas.openxmlformats.org/drawingml/2006/main">
              <a:ext uri="{FF2B5EF4-FFF2-40B4-BE49-F238E27FC236}">
                <a16:creationId xmlns:a16="http://schemas.microsoft.com/office/drawing/2014/main" id="{3780F328-9B5C-45EE-B265-30853454006E}"/>
              </a:ext>
            </a:extLst>
          </p:cNvPr>
          <p:cNvSpPr>
            <a:spLocks xmlns:a="http://schemas.openxmlformats.org/drawingml/2006/main" noGrp="1"/>
          </p:cNvSpPr>
          <p:nvPr/>
        </p:nvSpPr>
        <p:spPr>
          <a:xfrm xmlns:a="http://schemas.openxmlformats.org/drawingml/2006/main">
            <a:off x="548640" y="566928"/>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tx1"/>
                </a:solidFill>
              </a:rPr>
              <a:t>How it works</a:t>
            </a:r>
            <a:endParaRPr sz="3400"/>
          </a:p>
        </p:txBody>
      </p:sp>
      <p:sp>
        <p:nvSpPr>
          <p:cNvPr id="5" name="1 · Input">
            <a:extLst xmlns:a="http://schemas.openxmlformats.org/drawingml/2006/main">
              <a:ext uri="{FF2B5EF4-FFF2-40B4-BE49-F238E27FC236}">
                <a16:creationId xmlns:a16="http://schemas.microsoft.com/office/drawing/2014/main" id="{AF2EBB5B-326F-4DB2-B1E5-CE4BA393C317}"/>
              </a:ext>
            </a:extLst>
          </p:cNvPr>
          <p:cNvSpPr>
            <a:spLocks xmlns:a="http://schemas.openxmlformats.org/drawingml/2006/main" noGrp="1"/>
          </p:cNvSpPr>
          <p:nvPr/>
        </p:nvSpPr>
        <p:spPr>
          <a:xfrm xmlns:a="http://schemas.openxmlformats.org/drawingml/2006/main">
            <a:off x="548640" y="1417320"/>
            <a:ext cx="2514600" cy="1554480"/>
          </a:xfrm>
          <a:prstGeom xmlns:a="http://schemas.openxmlformats.org/drawingml/2006/main" prst="roundRect">
            <a:avLst>
              <a:gd name="adj" fmla="val 4706"/>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1 · Input</a:t>
            </a:r>
          </a:p>
          <a:p xmlns:a="http://schemas.openxmlformats.org/drawingml/2006/main">
            <a:pPr marL="0" indent="0">
              <a:spcAft>
                <a:spcPts val="0"/>
              </a:spcAft>
              <a:buNone/>
            </a:pPr>
            <a:r>
              <a:rPr sz="1400">
                <a:solidFill>
                  <a:schemeClr val="tx1"/>
                </a:solidFill>
              </a:rPr>
              <a:t>Vendor lists eligible surplus: stream, unit, quantity, price or donation, pickup window.</a:t>
            </a:r>
          </a:p>
        </p:txBody>
      </p:sp>
      <p:sp>
        <p:nvSpPr>
          <p:cNvPr id="6" name="Arrow">
            <a:extLst xmlns:a="http://schemas.openxmlformats.org/drawingml/2006/main">
              <a:ext uri="{FF2B5EF4-FFF2-40B4-BE49-F238E27FC236}">
                <a16:creationId xmlns:a16="http://schemas.microsoft.com/office/drawing/2014/main" id="{7D66B26A-80E2-43D8-89CC-8CA4DE4D211E}"/>
              </a:ext>
            </a:extLst>
          </p:cNvPr>
          <p:cNvSpPr>
            <a:spLocks xmlns:a="http://schemas.openxmlformats.org/drawingml/2006/main" noGrp="1"/>
          </p:cNvSpPr>
          <p:nvPr/>
        </p:nvSpPr>
        <p:spPr>
          <a:xfrm xmlns:a="http://schemas.openxmlformats.org/drawingml/2006/main">
            <a:off x="3108960" y="2057400"/>
            <a:ext cx="274320" cy="274320"/>
          </a:xfrm>
          <a:prstGeom xmlns:a="http://schemas.openxmlformats.org/drawingml/2006/main" prst="rightArrow">
            <a:avLst/>
          </a:prstGeom>
          <a:solidFill xmlns:a="http://schemas.openxmlformats.org/drawingml/2006/main">
            <a:schemeClr val="accent2"/>
          </a:solidFill>
        </p:spPr>
        <p:txBody>
          <a:bodyPr xmlns:a="http://schemas.openxmlformats.org/drawingml/2006/main"/>
          <a:lstStyle xmlns:a="http://schemas.openxmlformats.org/drawingml/2006/main"/>
          <a:p xmlns:a="http://schemas.openxmlformats.org/drawingml/2006/main">
            <a:endParaRPr/>
          </a:p>
        </p:txBody>
      </p:sp>
      <p:sp>
        <p:nvSpPr>
          <p:cNvPr id="7" name="2 · Process">
            <a:extLst xmlns:a="http://schemas.openxmlformats.org/drawingml/2006/main">
              <a:ext uri="{FF2B5EF4-FFF2-40B4-BE49-F238E27FC236}">
                <a16:creationId xmlns:a16="http://schemas.microsoft.com/office/drawing/2014/main" id="{E285C143-0031-40D2-A7A2-A177A1D51A97}"/>
              </a:ext>
            </a:extLst>
          </p:cNvPr>
          <p:cNvSpPr>
            <a:spLocks xmlns:a="http://schemas.openxmlformats.org/drawingml/2006/main" noGrp="1"/>
          </p:cNvSpPr>
          <p:nvPr/>
        </p:nvSpPr>
        <p:spPr>
          <a:xfrm xmlns:a="http://schemas.openxmlformats.org/drawingml/2006/main">
            <a:off x="3401568" y="1417320"/>
            <a:ext cx="2514600" cy="1554480"/>
          </a:xfrm>
          <a:prstGeom xmlns:a="http://schemas.openxmlformats.org/drawingml/2006/main" prst="roundRect">
            <a:avLst>
              <a:gd name="adj" fmla="val 4706"/>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2 · Process</a:t>
            </a:r>
          </a:p>
          <a:p xmlns:a="http://schemas.openxmlformats.org/drawingml/2006/main">
            <a:pPr marL="0" indent="0">
              <a:spcAft>
                <a:spcPts val="0"/>
              </a:spcAft>
              <a:buNone/>
            </a:pPr>
            <a:r>
              <a:rPr sz="1400">
                <a:solidFill>
                  <a:schemeClr val="tx1"/>
                </a:solidFill>
              </a:rPr>
              <a:t>Server checks policy and stock. Buyer reserves; a bulk request waits for vendor acceptance.</a:t>
            </a:r>
          </a:p>
        </p:txBody>
      </p:sp>
      <p:sp>
        <p:nvSpPr>
          <p:cNvPr id="8" name="Arrow">
            <a:extLst xmlns:a="http://schemas.openxmlformats.org/drawingml/2006/main">
              <a:ext uri="{FF2B5EF4-FFF2-40B4-BE49-F238E27FC236}">
                <a16:creationId xmlns:a16="http://schemas.microsoft.com/office/drawing/2014/main" id="{329BC9B9-8592-459C-B5B5-71311050049D}"/>
              </a:ext>
            </a:extLst>
          </p:cNvPr>
          <p:cNvSpPr>
            <a:spLocks xmlns:a="http://schemas.openxmlformats.org/drawingml/2006/main" noGrp="1"/>
          </p:cNvSpPr>
          <p:nvPr/>
        </p:nvSpPr>
        <p:spPr>
          <a:xfrm xmlns:a="http://schemas.openxmlformats.org/drawingml/2006/main">
            <a:off x="5961888" y="2057400"/>
            <a:ext cx="274320" cy="274320"/>
          </a:xfrm>
          <a:prstGeom xmlns:a="http://schemas.openxmlformats.org/drawingml/2006/main" prst="rightArrow">
            <a:avLst/>
          </a:prstGeom>
          <a:solidFill xmlns:a="http://schemas.openxmlformats.org/drawingml/2006/main">
            <a:schemeClr val="accent2"/>
          </a:solidFill>
        </p:spPr>
        <p:txBody>
          <a:bodyPr xmlns:a="http://schemas.openxmlformats.org/drawingml/2006/main"/>
          <a:lstStyle xmlns:a="http://schemas.openxmlformats.org/drawingml/2006/main"/>
          <a:p xmlns:a="http://schemas.openxmlformats.org/drawingml/2006/main">
            <a:endParaRPr/>
          </a:p>
        </p:txBody>
      </p:sp>
      <p:sp>
        <p:nvSpPr>
          <p:cNvPr id="9" name="3 · Output">
            <a:extLst xmlns:a="http://schemas.openxmlformats.org/drawingml/2006/main">
              <a:ext uri="{FF2B5EF4-FFF2-40B4-BE49-F238E27FC236}">
                <a16:creationId xmlns:a16="http://schemas.microsoft.com/office/drawing/2014/main" id="{181D6D01-95AE-434C-977F-D98B86494A02}"/>
              </a:ext>
            </a:extLst>
          </p:cNvPr>
          <p:cNvSpPr>
            <a:spLocks xmlns:a="http://schemas.openxmlformats.org/drawingml/2006/main" noGrp="1"/>
          </p:cNvSpPr>
          <p:nvPr/>
        </p:nvSpPr>
        <p:spPr>
          <a:xfrm xmlns:a="http://schemas.openxmlformats.org/drawingml/2006/main">
            <a:off x="6254496" y="1417320"/>
            <a:ext cx="2514600" cy="1554480"/>
          </a:xfrm>
          <a:prstGeom xmlns:a="http://schemas.openxmlformats.org/drawingml/2006/main" prst="roundRect">
            <a:avLst>
              <a:gd name="adj" fmla="val 4706"/>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3 · Output</a:t>
            </a:r>
          </a:p>
          <a:p xmlns:a="http://schemas.openxmlformats.org/drawingml/2006/main">
            <a:pPr marL="0" indent="0">
              <a:spcAft>
                <a:spcPts val="0"/>
              </a:spcAft>
              <a:buNone/>
            </a:pPr>
            <a:r>
              <a:rPr sz="1400">
                <a:solidFill>
                  <a:schemeClr val="tx1"/>
                </a:solidFill>
              </a:rPr>
              <a:t>Reservation reference (QR optional), pickup instructions and an updated stock count.</a:t>
            </a:r>
          </a:p>
        </p:txBody>
      </p:sp>
      <p:sp>
        <p:nvSpPr>
          <p:cNvPr id="10" name="Arrow">
            <a:extLst xmlns:a="http://schemas.openxmlformats.org/drawingml/2006/main">
              <a:ext uri="{FF2B5EF4-FFF2-40B4-BE49-F238E27FC236}">
                <a16:creationId xmlns:a16="http://schemas.microsoft.com/office/drawing/2014/main" id="{92B18F37-102B-438B-9A48-D8DB24BC24DD}"/>
              </a:ext>
            </a:extLst>
          </p:cNvPr>
          <p:cNvSpPr>
            <a:spLocks xmlns:a="http://schemas.openxmlformats.org/drawingml/2006/main" noGrp="1"/>
          </p:cNvSpPr>
          <p:nvPr/>
        </p:nvSpPr>
        <p:spPr>
          <a:xfrm xmlns:a="http://schemas.openxmlformats.org/drawingml/2006/main">
            <a:off x="8814816" y="2057400"/>
            <a:ext cx="274320" cy="274320"/>
          </a:xfrm>
          <a:prstGeom xmlns:a="http://schemas.openxmlformats.org/drawingml/2006/main" prst="rightArrow">
            <a:avLst/>
          </a:prstGeom>
          <a:solidFill xmlns:a="http://schemas.openxmlformats.org/drawingml/2006/main">
            <a:schemeClr val="accent2"/>
          </a:solidFill>
        </p:spPr>
        <p:txBody>
          <a:bodyPr xmlns:a="http://schemas.openxmlformats.org/drawingml/2006/main"/>
          <a:lstStyle xmlns:a="http://schemas.openxmlformats.org/drawingml/2006/main"/>
          <a:p xmlns:a="http://schemas.openxmlformats.org/drawingml/2006/main">
            <a:endParaRPr/>
          </a:p>
        </p:txBody>
      </p:sp>
      <p:sp>
        <p:nvSpPr>
          <p:cNvPr id="11" name="4 · User action">
            <a:extLst xmlns:a="http://schemas.openxmlformats.org/drawingml/2006/main">
              <a:ext uri="{FF2B5EF4-FFF2-40B4-BE49-F238E27FC236}">
                <a16:creationId xmlns:a16="http://schemas.microsoft.com/office/drawing/2014/main" id="{A77B40CE-9FBE-49DA-AD78-B5001DF99109}"/>
              </a:ext>
            </a:extLst>
          </p:cNvPr>
          <p:cNvSpPr>
            <a:spLocks xmlns:a="http://schemas.openxmlformats.org/drawingml/2006/main" noGrp="1"/>
          </p:cNvSpPr>
          <p:nvPr/>
        </p:nvSpPr>
        <p:spPr>
          <a:xfrm xmlns:a="http://schemas.openxmlformats.org/drawingml/2006/main">
            <a:off x="9107424" y="1417320"/>
            <a:ext cx="2514600" cy="1554480"/>
          </a:xfrm>
          <a:prstGeom xmlns:a="http://schemas.openxmlformats.org/drawingml/2006/main" prst="roundRect">
            <a:avLst>
              <a:gd name="adj" fmla="val 4706"/>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4 · User action</a:t>
            </a:r>
          </a:p>
          <a:p xmlns:a="http://schemas.openxmlformats.org/drawingml/2006/main">
            <a:pPr marL="0" indent="0">
              <a:spcAft>
                <a:spcPts val="0"/>
              </a:spcAft>
              <a:buNone/>
            </a:pPr>
            <a:r>
              <a:rPr sz="1400">
                <a:solidFill>
                  <a:schemeClr val="tx1"/>
                </a:solidFill>
              </a:rPr>
              <a:t>Collect in the window, check the food; vendor confirms the actual handover.</a:t>
            </a:r>
          </a:p>
        </p:txBody>
      </p:sp>
      <p:sp>
        <p:nvSpPr>
          <p:cNvPr id="12" name="Technology &amp; components">
            <a:extLst xmlns:a="http://schemas.openxmlformats.org/drawingml/2006/main">
              <a:ext uri="{FF2B5EF4-FFF2-40B4-BE49-F238E27FC236}">
                <a16:creationId xmlns:a16="http://schemas.microsoft.com/office/drawing/2014/main" id="{D0613F62-2B91-4406-859D-1CD06930D139}"/>
              </a:ext>
            </a:extLst>
          </p:cNvPr>
          <p:cNvSpPr>
            <a:spLocks xmlns:a="http://schemas.openxmlformats.org/drawingml/2006/main" noGrp="1"/>
          </p:cNvSpPr>
          <p:nvPr/>
        </p:nvSpPr>
        <p:spPr>
          <a:xfrm xmlns:a="http://schemas.openxmlformats.org/drawingml/2006/main">
            <a:off x="548640" y="3200400"/>
            <a:ext cx="5486400" cy="2788920"/>
          </a:xfrm>
          <a:prstGeom xmlns:a="http://schemas.openxmlformats.org/drawingml/2006/main" prst="roundRect">
            <a:avLst>
              <a:gd name="adj" fmla="val 262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Technology &amp; components (proposals)</a:t>
            </a:r>
          </a:p>
          <a:p xmlns:a="http://schemas.openxmlformats.org/drawingml/2006/main">
            <a:pPr marL="171450" indent="-171450">
              <a:spcAft>
                <a:spcPts val="400"/>
              </a:spcAft>
              <a:buClr>
                <a:schemeClr val="accent1"/>
              </a:buClr>
              <a:buFont typeface="Arial"/>
              <a:buChar char="•"/>
            </a:pPr>
            <a:r>
              <a:rPr sz="1400" b="1">
                <a:solidFill>
                  <a:schemeClr val="tx1"/>
                </a:solidFill>
              </a:rPr>
              <a:t>Idea stage: </a:t>
            </a:r>
            <a:r>
              <a:rPr sz="1400">
                <a:solidFill>
                  <a:schemeClr val="tx1"/>
                </a:solidFill>
              </a:rPr>
              <a:t>nothing built or tested yet. All Planned.</a:t>
            </a:r>
          </a:p>
          <a:p xmlns:a="http://schemas.openxmlformats.org/drawingml/2006/main">
            <a:pPr marL="171450" indent="-171450">
              <a:spcAft>
                <a:spcPts val="400"/>
              </a:spcAft>
              <a:buClr>
                <a:schemeClr val="accent1"/>
              </a:buClr>
              <a:buFont typeface="Arial"/>
              <a:buChar char="•"/>
            </a:pPr>
            <a:r>
              <a:rPr sz="1400">
                <a:solidFill>
                  <a:schemeClr val="tx1"/>
                </a:solidFill>
              </a:rPr>
              <a:t>Functional web app: accounts, listings, reservations and handover records; simulated food data.</a:t>
            </a:r>
          </a:p>
          <a:p xmlns:a="http://schemas.openxmlformats.org/drawingml/2006/main">
            <a:pPr marL="171450" indent="-171450">
              <a:spcAft>
                <a:spcPts val="400"/>
              </a:spcAft>
              <a:buClr>
                <a:schemeClr val="accent1"/>
              </a:buClr>
              <a:buFont typeface="Arial"/>
              <a:buChar char="•"/>
            </a:pPr>
            <a:r>
              <a:rPr sz="1400">
                <a:solidFill>
                  <a:schemeClr val="tx1"/>
                </a:solidFill>
              </a:rPr>
              <a:t>Server rules for stock and permissions; Supabase/PostgreSQL proposed.</a:t>
            </a:r>
          </a:p>
          <a:p xmlns:a="http://schemas.openxmlformats.org/drawingml/2006/main">
            <a:pPr marL="171450" indent="-171450">
              <a:spcAft>
                <a:spcPts val="400"/>
              </a:spcAft>
              <a:buClr>
                <a:schemeClr val="accent1"/>
              </a:buClr>
              <a:buFont typeface="Arial"/>
              <a:buChar char="•"/>
            </a:pPr>
            <a:r>
              <a:rPr sz="1400">
                <a:solidFill>
                  <a:schemeClr val="tx1"/>
                </a:solidFill>
              </a:rPr>
              <a:t>Admin console: vendor review, suspension, incidents, audit trail.</a:t>
            </a:r>
          </a:p>
          <a:p xmlns:a="http://schemas.openxmlformats.org/drawingml/2006/main">
            <a:pPr marL="171450" indent="-171450">
              <a:spcAft>
                <a:spcPts val="0"/>
              </a:spcAft>
              <a:buClr>
                <a:schemeClr val="accent1"/>
              </a:buClr>
              <a:buFont typeface="Arial"/>
              <a:buChar char="•"/>
            </a:pPr>
            <a:r>
              <a:rPr sz="1400">
                <a:solidFill>
                  <a:schemeClr val="tx1"/>
                </a:solidFill>
              </a:rPr>
              <a:t>Costed option: Render hosting and Supabase. Paid setup depends on funding.</a:t>
            </a:r>
          </a:p>
        </p:txBody>
      </p:sp>
      <p:sp>
        <p:nvSpPr>
          <p:cNvPr id="13" name="User experience">
            <a:extLst xmlns:a="http://schemas.openxmlformats.org/drawingml/2006/main">
              <a:ext uri="{FF2B5EF4-FFF2-40B4-BE49-F238E27FC236}">
                <a16:creationId xmlns:a16="http://schemas.microsoft.com/office/drawing/2014/main" id="{F8759CB4-8C55-421E-AC72-783F26ACB350}"/>
              </a:ext>
            </a:extLst>
          </p:cNvPr>
          <p:cNvSpPr>
            <a:spLocks xmlns:a="http://schemas.openxmlformats.org/drawingml/2006/main" noGrp="1"/>
          </p:cNvSpPr>
          <p:nvPr/>
        </p:nvSpPr>
        <p:spPr>
          <a:xfrm xmlns:a="http://schemas.openxmlformats.org/drawingml/2006/main">
            <a:off x="6217920" y="3200400"/>
            <a:ext cx="5394960" cy="2788920"/>
          </a:xfrm>
          <a:prstGeom xmlns:a="http://schemas.openxmlformats.org/drawingml/2006/main" prst="roundRect">
            <a:avLst>
              <a:gd name="adj" fmla="val 262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User experience</a:t>
            </a:r>
          </a:p>
          <a:p xmlns:a="http://schemas.openxmlformats.org/drawingml/2006/main">
            <a:pPr marL="171450" indent="-171450">
              <a:spcAft>
                <a:spcPts val="400"/>
              </a:spcAft>
              <a:buClr>
                <a:schemeClr val="accent1"/>
              </a:buClr>
              <a:buFont typeface="Arial"/>
              <a:buChar char="•"/>
            </a:pPr>
            <a:r>
              <a:rPr sz="1400">
                <a:solidFill>
                  <a:schemeClr val="tx1"/>
                </a:solidFill>
              </a:rPr>
              <a:t>Vendor posts from a template and confirms quantity and time.</a:t>
            </a:r>
          </a:p>
          <a:p xmlns:a="http://schemas.openxmlformats.org/drawingml/2006/main">
            <a:pPr marL="171450" indent="-171450">
              <a:spcAft>
                <a:spcPts val="400"/>
              </a:spcAft>
              <a:buClr>
                <a:schemeClr val="accent1"/>
              </a:buClr>
              <a:buFont typeface="Arial"/>
              <a:buChar char="•"/>
            </a:pPr>
            <a:r>
              <a:rPr sz="1400">
                <a:solidFill>
                  <a:schemeClr val="tx1"/>
                </a:solidFill>
              </a:rPr>
              <a:t>Buyer browses a simple list (map optional) and sees total price and pickup rules before reserving.</a:t>
            </a:r>
          </a:p>
          <a:p xmlns:a="http://schemas.openxmlformats.org/drawingml/2006/main">
            <a:pPr marL="171450" indent="-171450">
              <a:spcAft>
                <a:spcPts val="400"/>
              </a:spcAft>
              <a:buClr>
                <a:schemeClr val="accent1"/>
              </a:buClr>
              <a:buFont typeface="Arial"/>
              <a:buChar char="•"/>
            </a:pPr>
            <a:r>
              <a:rPr sz="1400">
                <a:solidFill>
                  <a:schemeClr val="tx1"/>
                </a:solidFill>
              </a:rPr>
              <a:t>Bulk recipient confirms capacity and arranges transport; accepted weight is recorded (illustrative: 27 of 30 kg).</a:t>
            </a:r>
          </a:p>
          <a:p xmlns:a="http://schemas.openxmlformats.org/drawingml/2006/main">
            <a:pPr marL="171450" indent="-171450">
              <a:spcAft>
                <a:spcPts val="0"/>
              </a:spcAft>
              <a:buClr>
                <a:schemeClr val="accent1"/>
              </a:buClr>
              <a:buFont typeface="Arial"/>
              <a:buChar char="•"/>
            </a:pPr>
            <a:r>
              <a:rPr sz="1400">
                <a:solidFill>
                  <a:schemeClr val="tx1"/>
                </a:solidFill>
              </a:rPr>
              <a:t>Sinhala, Tamil and English are language goals, to be tested.</a:t>
            </a:r>
          </a:p>
        </p:txBody>
      </p:sp>
      <p:sp>
        <p:nvSpPr>
          <p:cNvPr id="25" name="Slide Number Placeholder 0">
            <a:extLst xmlns:a="http://schemas.openxmlformats.org/drawingml/2006/main">
              <a:ext uri="{FF2B5EF4-FFF2-40B4-BE49-F238E27FC236}">
                <a16:creationId xmlns:a16="http://schemas.microsoft.com/office/drawing/2014/main" id="{D9108867-D6D8-4A7B-9DAB-BA0B7AEAF8C2}"/>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6</a:t>
            </a:fld>
            <a:endParaRPr/>
          </a:p>
        </p:txBody>
      </p:sp>
    </p:spTree>
    <p:extLst>
      <p:ext uri="{BB962C8B-B14F-4D97-AF65-F5344CB8AC3E}">
        <p14:creationId xmlns:p14="http://schemas.microsoft.com/office/powerpoint/2010/main" val="53953711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BC722F-B541-4895-9745-064E974565D1}"/>
              </a:ext>
            </a:extLst>
          </p:cNvPr>
          <p:cNvSpPr>
            <a:spLocks xmlns:a="http://schemas.openxmlformats.org/drawingml/2006/main" noGrp="1"/>
          </p:cNvSpPr>
          <p:nvPr/>
        </p:nvSpPr>
        <p:spPr>
          <a:xfrm xmlns:a="http://schemas.openxmlformats.org/drawingml/2006/main">
            <a:off x="548640" y="27432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accent2"/>
                </a:solidFill>
              </a:rPr>
              <a:t>06 · INNOVATION  ·  ~55 s</a:t>
            </a:r>
            <a:endParaRPr sz="1200"/>
          </a:p>
        </p:txBody>
      </p:sp>
      <p:sp>
        <p:nvSpPr>
          <p:cNvPr id="3" name="Text 1">
            <a:extLst xmlns:a="http://schemas.openxmlformats.org/drawingml/2006/main">
              <a:ext uri="{FF2B5EF4-FFF2-40B4-BE49-F238E27FC236}">
                <a16:creationId xmlns:a16="http://schemas.microsoft.com/office/drawing/2014/main" id="{11E16629-242F-4182-94C5-988C09039C59}"/>
              </a:ext>
            </a:extLst>
          </p:cNvPr>
          <p:cNvSpPr>
            <a:spLocks xmlns:a="http://schemas.openxmlformats.org/drawingml/2006/main" noGrp="1"/>
          </p:cNvSpPr>
          <p:nvPr/>
        </p:nvSpPr>
        <p:spPr>
          <a:xfrm xmlns:a="http://schemas.openxmlformats.org/drawingml/2006/main">
            <a:off x="548640" y="566928"/>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tx1"/>
                </a:solidFill>
              </a:rPr>
              <a:t>What exists, and what is new</a:t>
            </a:r>
            <a:endParaRPr sz="3400"/>
          </a:p>
        </p:txBody>
      </p:sp>
      <p:graphicFrame>
        <p:nvGraphicFramePr>
          <p:cNvPr id="9" name="Table">
            <a:extLst xmlns:a="http://schemas.openxmlformats.org/drawingml/2006/main">
              <a:ext uri="{FF2B5EF4-FFF2-40B4-BE49-F238E27FC236}">
                <a16:creationId xmlns:a16="http://schemas.microsoft.com/office/drawing/2014/main" id="{9E6323F2-66BD-43E8-9B86-5CAE55A1F027}"/>
              </a:ext>
            </a:extLst>
          </p:cNvPr>
          <p:cNvGraphicFramePr/>
          <p:nvPr/>
        </p:nvGraphicFramePr>
        <p:xfrm>
          <a:off xmlns:a="http://schemas.openxmlformats.org/drawingml/2006/main" x="548640" y="1417320"/>
          <a:ext xmlns:a="http://schemas.openxmlformats.org/drawingml/2006/main" cx="11064240" cy="2606040"/>
        </p:xfrm>
        <a:graphic xmlns:a="http://schemas.openxmlformats.org/drawingml/2006/main">
          <a:graphicData uri="http://schemas.openxmlformats.org/drawingml/2006/table">
            <a:tbl>
              <a:tblPr/>
              <a:tblGrid>
                <a:gridCol w="2103120"/>
                <a:gridCol w="3017520"/>
                <a:gridCol w="3200400"/>
                <a:gridCol w="2743200"/>
              </a:tblGrid>
              <a:tr h="411480">
                <a:tc>
                  <a:txBody>
                    <a:bodyPr/>
                    <a:lstStyle/>
                    <a:p>
                      <a:pPr marL="0" indent="0">
                        <a:buNone/>
                      </a:pPr>
                      <a:r>
                        <a:rPr sz="1400" b="1">
                          <a:solidFill>
                            <a:srgbClr val="FFFFFF"/>
                          </a:solidFill>
                        </a:rPr>
                        <a:t>Solution</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c>
                  <a:txBody>
                    <a:bodyPr/>
                    <a:lstStyle/>
                    <a:p>
                      <a:pPr marL="0" indent="0">
                        <a:buNone/>
                      </a:pPr>
                      <a:r>
                        <a:rPr sz="1400" b="1">
                          <a:solidFill>
                            <a:srgbClr val="FFFFFF"/>
                          </a:solidFill>
                        </a:rPr>
                        <a:t>Sales and donations</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c>
                  <a:txBody>
                    <a:bodyPr/>
                    <a:lstStyle/>
                    <a:p>
                      <a:pPr marL="0" indent="0">
                        <a:buNone/>
                      </a:pPr>
                      <a:r>
                        <a:rPr sz="1400" b="1">
                          <a:solidFill>
                            <a:srgbClr val="FFFFFF"/>
                          </a:solidFill>
                        </a:rPr>
                        <a:t>Bulk produce and collection</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c>
                  <a:txBody>
                    <a:bodyPr/>
                    <a:lstStyle/>
                    <a:p>
                      <a:pPr marL="0" indent="0">
                        <a:buNone/>
                      </a:pPr>
                      <a:r>
                        <a:rPr sz="1400" b="1">
                          <a:solidFill>
                            <a:srgbClr val="FFFFFF"/>
                          </a:solidFill>
                        </a:rPr>
                        <a:t>Transfer records</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r>
              <a:tr h="731520">
                <a:tc>
                  <a:txBody>
                    <a:bodyPr/>
                    <a:lstStyle/>
                    <a:p>
                      <a:pPr marL="0" indent="0">
                        <a:spcAft>
                          <a:spcPts val="0"/>
                        </a:spcAft>
                        <a:buNone/>
                      </a:pPr>
                      <a:r>
                        <a:rPr sz="1400" b="1">
                          <a:solidFill>
                            <a:schemeClr val="tx1"/>
                          </a:solidFill>
                        </a:rPr>
                        <a:t>Too Good To Go [3][4]</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Sells Surprise Bags at half price or less; donation workflow not established</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Bags: in-store pickup at a set time. Parcels: manufacturer and wholesale goods, delivered</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Pick-up Code redeemed at the store [3]</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r>
              <a:tr h="731520">
                <a:tc>
                  <a:txBody>
                    <a:bodyPr/>
                    <a:lstStyle/>
                    <a:p>
                      <a:pPr marL="0" indent="0">
                        <a:spcAft>
                          <a:spcPts val="0"/>
                        </a:spcAft>
                        <a:buNone/>
                      </a:pPr>
                      <a:r>
                        <a:rPr sz="1400" b="1">
                          <a:solidFill>
                            <a:schemeClr val="tx1"/>
                          </a:solidFill>
                        </a:rPr>
                        <a:t>Robin Hood Army [5]</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Volunteer redistribution of surplus food; zero-funds organisation</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Volunteer-led distribution; Sri Lanka listed in its global network. Bulk produce not established</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Not established from reviewed sources</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r>
              <a:tr h="731520">
                <a:tc>
                  <a:txBody>
                    <a:bodyPr/>
                    <a:lstStyle/>
                    <a:p>
                      <a:pPr marL="0" indent="0">
                        <a:spcAft>
                          <a:spcPts val="0"/>
                        </a:spcAft>
                        <a:buNone/>
                      </a:pPr>
                      <a:r>
                        <a:rPr sz="1400" b="1">
                          <a:solidFill>
                            <a:schemeClr val="tx1"/>
                          </a:solidFill>
                        </a:rPr>
                        <a:t>AgriLoop (proposed)</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DF0DF"/>
                    </a:solidFill>
                  </a:tcPr>
                </a:tc>
                <a:tc>
                  <a:txBody>
                    <a:bodyPr/>
                    <a:lstStyle/>
                    <a:p>
                      <a:pPr marL="0" indent="0">
                        <a:spcAft>
                          <a:spcPts val="0"/>
                        </a:spcAft>
                        <a:buNone/>
                      </a:pPr>
                      <a:r>
                        <a:rPr sz="1400" b="1">
                          <a:solidFill>
                            <a:schemeClr val="tx1"/>
                          </a:solidFill>
                        </a:rPr>
                        <a:t>Discounted sale or free donation in both streams</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DF0DF"/>
                    </a:solidFill>
                  </a:tcPr>
                </a:tc>
                <a:tc>
                  <a:txBody>
                    <a:bodyPr/>
                    <a:lstStyle/>
                    <a:p>
                      <a:pPr marL="0" indent="0">
                        <a:spcAft>
                          <a:spcPts val="0"/>
                        </a:spcAft>
                        <a:buNone/>
                      </a:pPr>
                      <a:r>
                        <a:rPr sz="1400" b="1">
                          <a:solidFill>
                            <a:schemeClr val="tx1"/>
                          </a:solidFill>
                        </a:rPr>
                        <a:t>Retail bundles and bulk lots; buyer or recipient collects; no delivery</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DF0DF"/>
                    </a:solidFill>
                  </a:tcPr>
                </a:tc>
                <a:tc>
                  <a:txBody>
                    <a:bodyPr/>
                    <a:lstStyle/>
                    <a:p>
                      <a:pPr marL="0" indent="0">
                        <a:spcAft>
                          <a:spcPts val="0"/>
                        </a:spcAft>
                        <a:buNone/>
                      </a:pPr>
                      <a:r>
                        <a:rPr sz="1400" b="1">
                          <a:solidFill>
                            <a:schemeClr val="tx1"/>
                          </a:solidFill>
                        </a:rPr>
                        <a:t>Reservation and handover records, actual weight</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DF0DF"/>
                    </a:solidFill>
                  </a:tcPr>
                </a:tc>
              </a:tr>
            </a:tbl>
          </a:graphicData>
        </a:graphic>
      </p:graphicFrame>
      <p:sp>
        <p:nvSpPr>
          <p:cNvPr id="6" name="Innovation type">
            <a:extLst xmlns:a="http://schemas.openxmlformats.org/drawingml/2006/main">
              <a:ext uri="{FF2B5EF4-FFF2-40B4-BE49-F238E27FC236}">
                <a16:creationId xmlns:a16="http://schemas.microsoft.com/office/drawing/2014/main" id="{CD45EFB0-8947-483B-A826-45CA53C8B1C2}"/>
              </a:ext>
            </a:extLst>
          </p:cNvPr>
          <p:cNvSpPr>
            <a:spLocks xmlns:a="http://schemas.openxmlformats.org/drawingml/2006/main" noGrp="1"/>
          </p:cNvSpPr>
          <p:nvPr/>
        </p:nvSpPr>
        <p:spPr>
          <a:xfrm xmlns:a="http://schemas.openxmlformats.org/drawingml/2006/main">
            <a:off x="548640" y="4846320"/>
            <a:ext cx="5394960" cy="1417320"/>
          </a:xfrm>
          <a:prstGeom xmlns:a="http://schemas.openxmlformats.org/drawingml/2006/main" prst="roundRect">
            <a:avLst>
              <a:gd name="adj" fmla="val 4444"/>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Innovation type (tick one)</a:t>
            </a:r>
          </a:p>
          <a:p xmlns:a="http://schemas.openxmlformats.org/drawingml/2006/main">
            <a:pPr marL="0" indent="0">
              <a:spcAft>
                <a:spcPts val="100"/>
              </a:spcAft>
              <a:buNone/>
            </a:pPr>
            <a:r>
              <a:rPr sz="1400">
                <a:solidFill>
                  <a:schemeClr val="tx1"/>
                </a:solidFill>
              </a:rPr>
              <a:t>☐ Existing innovation introduced to Sri Lanka</a:t>
            </a:r>
          </a:p>
          <a:p xmlns:a="http://schemas.openxmlformats.org/drawingml/2006/main">
            <a:pPr marL="0" indent="0">
              <a:spcAft>
                <a:spcPts val="100"/>
              </a:spcAft>
              <a:buNone/>
            </a:pPr>
            <a:r>
              <a:rPr sz="1400" b="1">
                <a:solidFill>
                  <a:schemeClr val="tx1"/>
                </a:solidFill>
              </a:rPr>
              <a:t>☒ Existing innovation adapted to Sri Lankan conditions</a:t>
            </a:r>
          </a:p>
          <a:p xmlns:a="http://schemas.openxmlformats.org/drawingml/2006/main">
            <a:pPr marL="0" indent="0">
              <a:spcAft>
                <a:spcPts val="100"/>
              </a:spcAft>
              <a:buNone/>
            </a:pPr>
            <a:r>
              <a:rPr sz="1400">
                <a:solidFill>
                  <a:schemeClr val="tx1"/>
                </a:solidFill>
              </a:rPr>
              <a:t>☐ Improvement to an existing Sri Lankan solution</a:t>
            </a:r>
          </a:p>
          <a:p xmlns:a="http://schemas.openxmlformats.org/drawingml/2006/main">
            <a:pPr marL="0" indent="0">
              <a:spcAft>
                <a:spcPts val="0"/>
              </a:spcAft>
              <a:buNone/>
            </a:pPr>
            <a:r>
              <a:rPr sz="1400">
                <a:solidFill>
                  <a:schemeClr val="tx1"/>
                </a:solidFill>
              </a:rPr>
              <a:t>☐ New invention</a:t>
            </a:r>
          </a:p>
        </p:txBody>
      </p:sp>
      <p:sp>
        <p:nvSpPr>
          <p:cNvPr id="7" name="Where we searched">
            <a:extLst xmlns:a="http://schemas.openxmlformats.org/drawingml/2006/main">
              <a:ext uri="{FF2B5EF4-FFF2-40B4-BE49-F238E27FC236}">
                <a16:creationId xmlns:a16="http://schemas.microsoft.com/office/drawing/2014/main" id="{8B036715-CFDF-4FDA-A2A5-A54F445FCA09}"/>
              </a:ext>
            </a:extLst>
          </p:cNvPr>
          <p:cNvSpPr>
            <a:spLocks xmlns:a="http://schemas.openxmlformats.org/drawingml/2006/main" noGrp="1"/>
          </p:cNvSpPr>
          <p:nvPr/>
        </p:nvSpPr>
        <p:spPr>
          <a:xfrm xmlns:a="http://schemas.openxmlformats.org/drawingml/2006/main">
            <a:off x="6035040" y="4846320"/>
            <a:ext cx="5577840" cy="1417320"/>
          </a:xfrm>
          <a:prstGeom xmlns:a="http://schemas.openxmlformats.org/drawingml/2006/main" prst="roundRect">
            <a:avLst>
              <a:gd name="adj" fmla="val 4444"/>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Where we searched</a:t>
            </a:r>
          </a:p>
          <a:p xmlns:a="http://schemas.openxmlformats.org/drawingml/2006/main">
            <a:pPr marL="0" indent="0">
              <a:spcAft>
                <a:spcPts val="400"/>
              </a:spcAft>
              <a:buNone/>
            </a:pPr>
            <a:r>
              <a:rPr sz="1400" b="1">
                <a:solidFill>
                  <a:schemeClr val="tx1"/>
                </a:solidFill>
              </a:rPr>
              <a:t>Reviewed 25–26 Oct 2026: official Too Good To Go and Robin Hood Army sources. Planned: patent and academic searches.</a:t>
            </a:r>
          </a:p>
          <a:p xmlns:a="http://schemas.openxmlformats.org/drawingml/2006/main">
            <a:pPr marL="0" indent="0">
              <a:spcAft>
                <a:spcPts val="0"/>
              </a:spcAft>
              <a:buNone/>
            </a:pPr>
            <a:r>
              <a:rPr sz="1400">
                <a:solidFill>
                  <a:schemeClr val="tx1"/>
                </a:solidFill>
              </a:rPr>
              <a:t>Our combination is a proposed adaptation to test.</a:t>
            </a:r>
          </a:p>
        </p:txBody>
      </p:sp>
      <p:sp>
        <p:nvSpPr>
          <p:cNvPr id="25" name="Slide Number Placeholder 0">
            <a:extLst xmlns:a="http://schemas.openxmlformats.org/drawingml/2006/main">
              <a:ext uri="{FF2B5EF4-FFF2-40B4-BE49-F238E27FC236}">
                <a16:creationId xmlns:a16="http://schemas.microsoft.com/office/drawing/2014/main" id="{0547C655-1B53-4CC2-8D3E-068F864A9DC4}"/>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7</a:t>
            </a:fld>
            <a:endParaRPr/>
          </a:p>
        </p:txBody>
      </p:sp>
    </p:spTree>
    <p:extLst>
      <p:ext uri="{BB962C8B-B14F-4D97-AF65-F5344CB8AC3E}">
        <p14:creationId xmlns:p14="http://schemas.microsoft.com/office/powerpoint/2010/main" val="180512159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9DA5172-3FB3-43DD-B3F6-D385BE534239}"/>
              </a:ext>
            </a:extLst>
          </p:cNvPr>
          <p:cNvSpPr>
            <a:spLocks xmlns:a="http://schemas.openxmlformats.org/drawingml/2006/main" noGrp="1"/>
          </p:cNvSpPr>
          <p:nvPr/>
        </p:nvSpPr>
        <p:spPr>
          <a:xfrm xmlns:a="http://schemas.openxmlformats.org/drawingml/2006/main">
            <a:off x="548640" y="27432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accent2"/>
                </a:solidFill>
              </a:rPr>
              <a:t>07 · IMPACT  ·  ~45 s</a:t>
            </a:r>
            <a:endParaRPr sz="1200"/>
          </a:p>
        </p:txBody>
      </p:sp>
      <p:sp>
        <p:nvSpPr>
          <p:cNvPr id="3" name="Text 1">
            <a:extLst xmlns:a="http://schemas.openxmlformats.org/drawingml/2006/main">
              <a:ext uri="{FF2B5EF4-FFF2-40B4-BE49-F238E27FC236}">
                <a16:creationId xmlns:a16="http://schemas.microsoft.com/office/drawing/2014/main" id="{4CB65054-6944-4D59-8B45-6CC7BC2DC3FE}"/>
              </a:ext>
            </a:extLst>
          </p:cNvPr>
          <p:cNvSpPr>
            <a:spLocks xmlns:a="http://schemas.openxmlformats.org/drawingml/2006/main" noGrp="1"/>
          </p:cNvSpPr>
          <p:nvPr/>
        </p:nvSpPr>
        <p:spPr>
          <a:xfrm xmlns:a="http://schemas.openxmlformats.org/drawingml/2006/main">
            <a:off x="548640" y="566928"/>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tx1"/>
                </a:solidFill>
              </a:rPr>
              <a:t>Impact &amp; SDG alignment</a:t>
            </a:r>
            <a:endParaRPr sz="3400"/>
          </a:p>
        </p:txBody>
      </p:sp>
      <p:sp>
        <p:nvSpPr>
          <p:cNvPr id="5" name="Primary SDG">
            <a:extLst xmlns:a="http://schemas.openxmlformats.org/drawingml/2006/main">
              <a:ext uri="{FF2B5EF4-FFF2-40B4-BE49-F238E27FC236}">
                <a16:creationId xmlns:a16="http://schemas.microsoft.com/office/drawing/2014/main" id="{C91050E5-E361-4C2B-AD7A-89060A209F6E}"/>
              </a:ext>
            </a:extLst>
          </p:cNvPr>
          <p:cNvSpPr>
            <a:spLocks xmlns:a="http://schemas.openxmlformats.org/drawingml/2006/main" noGrp="1"/>
          </p:cNvSpPr>
          <p:nvPr/>
        </p:nvSpPr>
        <p:spPr>
          <a:xfrm xmlns:a="http://schemas.openxmlformats.org/drawingml/2006/main">
            <a:off x="548640" y="1417320"/>
            <a:ext cx="2148840" cy="1828800"/>
          </a:xfrm>
          <a:prstGeom xmlns:a="http://schemas.openxmlformats.org/drawingml/2006/main" prst="roundRect">
            <a:avLst>
              <a:gd name="adj" fmla="val 4000"/>
            </a:avLst>
          </a:prstGeom>
          <a:solidFill xmlns:a="http://schemas.openxmlformats.org/drawingml/2006/main">
            <a:schemeClr val="accent1"/>
          </a:solidFill>
        </p:spPr>
        <p:txBody>
          <a:bodyPr xmlns:a="http://schemas.openxmlformats.org/drawingml/2006/main" wrap="square" anchor="ctr"/>
          <a:lstStyle xmlns:a="http://schemas.openxmlformats.org/drawingml/2006/main"/>
          <a:p xmlns:a="http://schemas.openxmlformats.org/drawingml/2006/main">
            <a:pPr marL="0" indent="0" algn="ctr">
              <a:spcAft>
                <a:spcPts val="200"/>
              </a:spcAft>
              <a:buNone/>
            </a:pPr>
            <a:r>
              <a:rPr sz="3200" b="1">
                <a:solidFill>
                  <a:schemeClr val="bg1"/>
                </a:solidFill>
              </a:rPr>
              <a:t>SDG 12</a:t>
            </a:r>
          </a:p>
          <a:p xmlns:a="http://schemas.openxmlformats.org/drawingml/2006/main">
            <a:pPr marL="0" indent="0" algn="ctr">
              <a:spcAft>
                <a:spcPts val="100"/>
              </a:spcAft>
              <a:buNone/>
            </a:pPr>
            <a:r>
              <a:rPr sz="1400" b="1">
                <a:solidFill>
                  <a:schemeClr val="bg1"/>
                </a:solidFill>
              </a:rPr>
              <a:t>Primary</a:t>
            </a:r>
          </a:p>
          <a:p xmlns:a="http://schemas.openxmlformats.org/drawingml/2006/main">
            <a:pPr marL="0" indent="0" algn="ctr">
              <a:spcAft>
                <a:spcPts val="0"/>
              </a:spcAft>
              <a:buNone/>
            </a:pPr>
            <a:r>
              <a:rPr sz="1400">
                <a:solidFill>
                  <a:schemeClr val="bg1"/>
                </a:solidFill>
              </a:rPr>
              <a:t>Responsible consumption and production</a:t>
            </a:r>
          </a:p>
        </p:txBody>
      </p:sp>
      <p:sp>
        <p:nvSpPr>
          <p:cNvPr id="6" name="Secondary SDG">
            <a:extLst xmlns:a="http://schemas.openxmlformats.org/drawingml/2006/main">
              <a:ext uri="{FF2B5EF4-FFF2-40B4-BE49-F238E27FC236}">
                <a16:creationId xmlns:a16="http://schemas.microsoft.com/office/drawing/2014/main" id="{B9B72B11-032E-4D4C-A4D2-418F8F98E56A}"/>
              </a:ext>
            </a:extLst>
          </p:cNvPr>
          <p:cNvSpPr>
            <a:spLocks xmlns:a="http://schemas.openxmlformats.org/drawingml/2006/main" noGrp="1"/>
          </p:cNvSpPr>
          <p:nvPr/>
        </p:nvSpPr>
        <p:spPr>
          <a:xfrm xmlns:a="http://schemas.openxmlformats.org/drawingml/2006/main">
            <a:off x="2880360" y="1417320"/>
            <a:ext cx="2148840" cy="1828800"/>
          </a:xfrm>
          <a:prstGeom xmlns:a="http://schemas.openxmlformats.org/drawingml/2006/main" prst="roundRect">
            <a:avLst>
              <a:gd name="adj" fmla="val 4000"/>
            </a:avLst>
          </a:prstGeom>
          <a:solidFill xmlns:a="http://schemas.openxmlformats.org/drawingml/2006/main">
            <a:schemeClr val="accent4"/>
          </a:solidFill>
        </p:spPr>
        <p:txBody>
          <a:bodyPr xmlns:a="http://schemas.openxmlformats.org/drawingml/2006/main" wrap="square" anchor="ctr"/>
          <a:lstStyle xmlns:a="http://schemas.openxmlformats.org/drawingml/2006/main"/>
          <a:p xmlns:a="http://schemas.openxmlformats.org/drawingml/2006/main">
            <a:pPr marL="0" indent="0" algn="ctr">
              <a:spcAft>
                <a:spcPts val="200"/>
              </a:spcAft>
              <a:buNone/>
            </a:pPr>
            <a:r>
              <a:rPr sz="3200" b="1">
                <a:solidFill>
                  <a:schemeClr val="bg1"/>
                </a:solidFill>
              </a:rPr>
              <a:t>SDG 2</a:t>
            </a:r>
          </a:p>
          <a:p xmlns:a="http://schemas.openxmlformats.org/drawingml/2006/main">
            <a:pPr marL="0" indent="0" algn="ctr">
              <a:spcAft>
                <a:spcPts val="100"/>
              </a:spcAft>
              <a:buNone/>
            </a:pPr>
            <a:r>
              <a:rPr sz="1400" b="1">
                <a:solidFill>
                  <a:schemeClr val="bg1"/>
                </a:solidFill>
              </a:rPr>
              <a:t>Secondary</a:t>
            </a:r>
          </a:p>
          <a:p xmlns:a="http://schemas.openxmlformats.org/drawingml/2006/main">
            <a:pPr marL="0" indent="0" algn="ctr">
              <a:spcAft>
                <a:spcPts val="0"/>
              </a:spcAft>
              <a:buNone/>
            </a:pPr>
            <a:r>
              <a:rPr sz="1400">
                <a:solidFill>
                  <a:schemeClr val="bg1"/>
                </a:solidFill>
              </a:rPr>
              <a:t>Zero hunger</a:t>
            </a:r>
          </a:p>
        </p:txBody>
      </p:sp>
      <p:sp>
        <p:nvSpPr>
          <p:cNvPr id="7" name="SDG target &amp; indicator">
            <a:extLst xmlns:a="http://schemas.openxmlformats.org/drawingml/2006/main">
              <a:ext uri="{FF2B5EF4-FFF2-40B4-BE49-F238E27FC236}">
                <a16:creationId xmlns:a16="http://schemas.microsoft.com/office/drawing/2014/main" id="{74179920-1454-49FD-BF66-B6E262BAA9E1}"/>
              </a:ext>
            </a:extLst>
          </p:cNvPr>
          <p:cNvSpPr>
            <a:spLocks xmlns:a="http://schemas.openxmlformats.org/drawingml/2006/main" noGrp="1"/>
          </p:cNvSpPr>
          <p:nvPr/>
        </p:nvSpPr>
        <p:spPr>
          <a:xfrm xmlns:a="http://schemas.openxmlformats.org/drawingml/2006/main">
            <a:off x="548640" y="3429000"/>
            <a:ext cx="4480560" cy="2560320"/>
          </a:xfrm>
          <a:prstGeom xmlns:a="http://schemas.openxmlformats.org/drawingml/2006/main" prst="roundRect">
            <a:avLst>
              <a:gd name="adj" fmla="val 2857"/>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SDG target &amp; indicator</a:t>
            </a:r>
          </a:p>
          <a:p xmlns:a="http://schemas.openxmlformats.org/drawingml/2006/main">
            <a:pPr marL="171450" indent="-171450">
              <a:spcAft>
                <a:spcPts val="400"/>
              </a:spcAft>
              <a:buClr>
                <a:schemeClr val="accent1"/>
              </a:buClr>
              <a:buFont typeface="Arial"/>
              <a:buChar char="•"/>
            </a:pPr>
            <a:r>
              <a:rPr sz="1400">
                <a:solidFill>
                  <a:schemeClr val="tx1"/>
                </a:solidFill>
              </a:rPr>
              <a:t>Target 12.3: food waste and losses; indicator 12.3.1, food loss and waste indices [8].</a:t>
            </a:r>
          </a:p>
          <a:p xmlns:a="http://schemas.openxmlformats.org/drawingml/2006/main">
            <a:pPr marL="171450" indent="-171450">
              <a:spcAft>
                <a:spcPts val="400"/>
              </a:spcAft>
              <a:buClr>
                <a:schemeClr val="accent1"/>
              </a:buClr>
              <a:buFont typeface="Arial"/>
              <a:buChar char="•"/>
            </a:pPr>
            <a:r>
              <a:rPr sz="1400">
                <a:solidFill>
                  <a:schemeClr val="tx1"/>
                </a:solidFill>
              </a:rPr>
              <a:t>Target 2.1: access to food; indicator 2.1.2, moderate or severe food insecurity [9].</a:t>
            </a:r>
          </a:p>
          <a:p xmlns:a="http://schemas.openxmlformats.org/drawingml/2006/main">
            <a:pPr marL="171450" indent="-171450">
              <a:spcAft>
                <a:spcPts val="0"/>
              </a:spcAft>
              <a:buClr>
                <a:schemeClr val="accent1"/>
              </a:buClr>
              <a:buFont typeface="Arial"/>
              <a:buChar char="•"/>
            </a:pPr>
            <a:r>
              <a:rPr sz="1400">
                <a:solidFill>
                  <a:schemeClr val="tx1"/>
                </a:solidFill>
              </a:rPr>
              <a:t>Our kg and savings would be project measures; they do not replace these indicators.</a:t>
            </a:r>
          </a:p>
        </p:txBody>
      </p:sp>
      <p:graphicFrame>
        <p:nvGraphicFramePr>
          <p:cNvPr id="10" name="Table">
            <a:extLst xmlns:a="http://schemas.openxmlformats.org/drawingml/2006/main">
              <a:ext uri="{FF2B5EF4-FFF2-40B4-BE49-F238E27FC236}">
                <a16:creationId xmlns:a16="http://schemas.microsoft.com/office/drawing/2014/main" id="{E54FB2EA-5628-4837-B1F9-2EA6AE209E7A}"/>
              </a:ext>
            </a:extLst>
          </p:cNvPr>
          <p:cNvGraphicFramePr/>
          <p:nvPr/>
        </p:nvGraphicFramePr>
        <p:xfrm>
          <a:off xmlns:a="http://schemas.openxmlformats.org/drawingml/2006/main" x="5257800" y="1417320"/>
          <a:ext xmlns:a="http://schemas.openxmlformats.org/drawingml/2006/main" cx="6355080" cy="2148840"/>
        </p:xfrm>
        <a:graphic xmlns:a="http://schemas.openxmlformats.org/drawingml/2006/main">
          <a:graphicData uri="http://schemas.openxmlformats.org/drawingml/2006/table">
            <a:tbl>
              <a:tblPr/>
              <a:tblGrid>
                <a:gridCol w="2194560"/>
                <a:gridCol w="1188720"/>
                <a:gridCol w="1188720"/>
                <a:gridCol w="1783080"/>
              </a:tblGrid>
              <a:tr h="502920">
                <a:tc>
                  <a:txBody>
                    <a:bodyPr/>
                    <a:lstStyle/>
                    <a:p>
                      <a:pPr marL="0" indent="0">
                        <a:buNone/>
                      </a:pPr>
                      <a:r>
                        <a:rPr sz="1400" b="1">
                          <a:solidFill>
                            <a:srgbClr val="FFFFFF"/>
                          </a:solidFill>
                        </a:rPr>
                        <a:t>Live-pilot measure (later)</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c>
                  <a:txBody>
                    <a:bodyPr/>
                    <a:lstStyle/>
                    <a:p>
                      <a:pPr marL="0" indent="0">
                        <a:buNone/>
                      </a:pPr>
                      <a:r>
                        <a:rPr sz="1400" b="1">
                          <a:solidFill>
                            <a:srgbClr val="FFFFFF"/>
                          </a:solidFill>
                        </a:rPr>
                        <a:t>Baseline</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c>
                  <a:txBody>
                    <a:bodyPr/>
                    <a:lstStyle/>
                    <a:p>
                      <a:pPr marL="0" indent="0">
                        <a:buNone/>
                      </a:pPr>
                      <a:r>
                        <a:rPr sz="1400" b="1">
                          <a:solidFill>
                            <a:srgbClr val="FFFFFF"/>
                          </a:solidFill>
                        </a:rPr>
                        <a:t>Target</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c>
                  <a:txBody>
                    <a:bodyPr/>
                    <a:lstStyle/>
                    <a:p>
                      <a:pPr marL="0" indent="0">
                        <a:buNone/>
                      </a:pPr>
                      <a:r>
                        <a:rPr sz="1400" b="1">
                          <a:solidFill>
                            <a:srgbClr val="FFFFFF"/>
                          </a:solidFill>
                        </a:rPr>
                        <a:t>Measured by</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r>
              <a:tr h="548640">
                <a:tc>
                  <a:txBody>
                    <a:bodyPr/>
                    <a:lstStyle/>
                    <a:p>
                      <a:pPr marL="0" indent="0">
                        <a:spcAft>
                          <a:spcPts val="0"/>
                        </a:spcAft>
                        <a:buNone/>
                      </a:pPr>
                      <a:r>
                        <a:rPr sz="1400" b="1">
                          <a:solidFill>
                            <a:schemeClr val="tx1"/>
                          </a:solidFill>
                        </a:rPr>
                        <a:t>Food collected (kg, portions separately)</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Not measured</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Set after baseline</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Handover records</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r>
              <a:tr h="548640">
                <a:tc>
                  <a:txBody>
                    <a:bodyPr/>
                    <a:lstStyle/>
                    <a:p>
                      <a:pPr marL="0" indent="0">
                        <a:spcAft>
                          <a:spcPts val="0"/>
                        </a:spcAft>
                        <a:buNone/>
                      </a:pPr>
                      <a:r>
                        <a:rPr sz="1400" b="1">
                          <a:solidFill>
                            <a:schemeClr val="tx1"/>
                          </a:solidFill>
                        </a:rPr>
                        <a:t>Collection rate</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Not measured</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Set after baseline</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Completed ÷ due</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r>
              <a:tr h="548640">
                <a:tc>
                  <a:txBody>
                    <a:bodyPr/>
                    <a:lstStyle/>
                    <a:p>
                      <a:pPr marL="0" indent="0">
                        <a:spcAft>
                          <a:spcPts val="0"/>
                        </a:spcAft>
                        <a:buNone/>
                      </a:pPr>
                      <a:r>
                        <a:rPr sz="1400" b="1">
                          <a:solidFill>
                            <a:schemeClr val="tx1"/>
                          </a:solidFill>
                        </a:rPr>
                        <a:t>Net saving after travel</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Not measured</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Set after baseline</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Comparable price − paid − travel</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r>
            </a:tbl>
          </a:graphicData>
        </a:graphic>
      </p:graphicFrame>
      <p:sp>
        <p:nvSpPr>
          <p:cNvPr id="9" name="Beneficiaries &amp; scale">
            <a:extLst xmlns:a="http://schemas.openxmlformats.org/drawingml/2006/main">
              <a:ext uri="{FF2B5EF4-FFF2-40B4-BE49-F238E27FC236}">
                <a16:creationId xmlns:a16="http://schemas.microsoft.com/office/drawing/2014/main" id="{307F8589-2417-44FC-A32B-5D2FC9300062}"/>
              </a:ext>
            </a:extLst>
          </p:cNvPr>
          <p:cNvSpPr>
            <a:spLocks xmlns:a="http://schemas.openxmlformats.org/drawingml/2006/main" noGrp="1"/>
          </p:cNvSpPr>
          <p:nvPr/>
        </p:nvSpPr>
        <p:spPr>
          <a:xfrm xmlns:a="http://schemas.openxmlformats.org/drawingml/2006/main">
            <a:off x="5257800" y="3840480"/>
            <a:ext cx="6355080" cy="2331720"/>
          </a:xfrm>
          <a:prstGeom xmlns:a="http://schemas.openxmlformats.org/drawingml/2006/main" prst="roundRect">
            <a:avLst>
              <a:gd name="adj" fmla="val 3636"/>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Initial four-week phase: prototype measures (proposed)</a:t>
            </a:r>
          </a:p>
          <a:p xmlns:a="http://schemas.openxmlformats.org/drawingml/2006/main">
            <a:pPr marL="171450" indent="-171450">
              <a:spcAft>
                <a:spcPts val="400"/>
              </a:spcAft>
              <a:buClr>
                <a:schemeClr val="accent1"/>
              </a:buClr>
              <a:buFont typeface="Arial"/>
              <a:buChar char="•"/>
            </a:pPr>
            <a:r>
              <a:rPr sz="1400">
                <a:solidFill>
                  <a:schemeClr val="tx1"/>
                </a:solidFill>
              </a:rPr>
              <a:t>All four workflows demonstrated: retail and wholesale, sale and donation.</a:t>
            </a:r>
          </a:p>
          <a:p xmlns:a="http://schemas.openxmlformats.org/drawingml/2006/main">
            <a:pPr marL="171450" indent="-171450">
              <a:spcAft>
                <a:spcPts val="400"/>
              </a:spcAft>
              <a:buClr>
                <a:schemeClr val="accent1"/>
              </a:buClr>
              <a:buFont typeface="Arial"/>
              <a:buChar char="•"/>
            </a:pPr>
            <a:r>
              <a:rPr sz="1400">
                <a:solidFill>
                  <a:schemeClr val="tx1"/>
                </a:solidFill>
              </a:rPr>
              <a:t>Tasks completed independently, with help or not at all.</a:t>
            </a:r>
          </a:p>
          <a:p xmlns:a="http://schemas.openxmlformats.org/drawingml/2006/main">
            <a:pPr marL="171450" indent="-171450">
              <a:spcAft>
                <a:spcPts val="400"/>
              </a:spcAft>
              <a:buClr>
                <a:schemeClr val="accent1"/>
              </a:buClr>
              <a:buFont typeface="Arial"/>
              <a:buChar char="•"/>
            </a:pPr>
            <a:r>
              <a:rPr sz="1400">
                <a:solidFill>
                  <a:schemeClr val="tx1"/>
                </a:solidFill>
              </a:rPr>
              <a:t>Price or free status and collection arrangements understood.</a:t>
            </a:r>
          </a:p>
          <a:p xmlns:a="http://schemas.openxmlformats.org/drawingml/2006/main">
            <a:pPr marL="171450" indent="-171450">
              <a:spcAft>
                <a:spcPts val="400"/>
              </a:spcAft>
              <a:buClr>
                <a:schemeClr val="accent1"/>
              </a:buClr>
              <a:buFont typeface="Arial"/>
              <a:buChar char="•"/>
            </a:pPr>
            <a:r>
              <a:rPr sz="1400">
                <a:solidFill>
                  <a:schemeClr val="tx1"/>
                </a:solidFill>
              </a:rPr>
              <a:t>Cancellation, expiry and partial wholesale acceptance tested.</a:t>
            </a:r>
          </a:p>
          <a:p xmlns:a="http://schemas.openxmlformats.org/drawingml/2006/main">
            <a:pPr marL="171450" indent="-171450">
              <a:spcAft>
                <a:spcPts val="400"/>
              </a:spcAft>
              <a:buClr>
                <a:schemeClr val="accent1"/>
              </a:buClr>
              <a:buFont typeface="Arial"/>
              <a:buChar char="•"/>
            </a:pPr>
            <a:r>
              <a:rPr sz="1400">
                <a:solidFill>
                  <a:schemeClr val="tx1"/>
                </a:solidFill>
              </a:rPr>
              <a:t>Test stock rules against double booking.</a:t>
            </a:r>
          </a:p>
          <a:p xmlns:a="http://schemas.openxmlformats.org/drawingml/2006/main">
            <a:pPr marL="0" indent="0">
              <a:spcAft>
                <a:spcPts val="0"/>
              </a:spcAft>
              <a:buNone/>
            </a:pPr>
            <a:r>
              <a:rPr sz="1400" i="1">
                <a:solidFill>
                  <a:schemeClr val="accent4"/>
                </a:solidFill>
              </a:rPr>
              <a:t>Simulated transfers never count as food rescued, meals or waste prevented. This test does not establish demand.</a:t>
            </a:r>
          </a:p>
        </p:txBody>
      </p:sp>
      <p:sp>
        <p:nvSpPr>
          <p:cNvPr id="25" name="Slide Number Placeholder 0">
            <a:extLst xmlns:a="http://schemas.openxmlformats.org/drawingml/2006/main">
              <a:ext uri="{FF2B5EF4-FFF2-40B4-BE49-F238E27FC236}">
                <a16:creationId xmlns:a16="http://schemas.microsoft.com/office/drawing/2014/main" id="{C16988DD-B7A0-48D1-A408-3231069793E4}"/>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8</a:t>
            </a:fld>
            <a:endParaRPr/>
          </a:p>
        </p:txBody>
      </p:sp>
    </p:spTree>
    <p:extLst>
      <p:ext uri="{BB962C8B-B14F-4D97-AF65-F5344CB8AC3E}">
        <p14:creationId xmlns:p14="http://schemas.microsoft.com/office/powerpoint/2010/main" val="196071590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4AD709A-6ACC-49AF-938E-F9FBA9CD0294}"/>
              </a:ext>
            </a:extLst>
          </p:cNvPr>
          <p:cNvSpPr>
            <a:spLocks xmlns:a="http://schemas.openxmlformats.org/drawingml/2006/main" noGrp="1"/>
          </p:cNvSpPr>
          <p:nvPr/>
        </p:nvSpPr>
        <p:spPr>
          <a:xfrm xmlns:a="http://schemas.openxmlformats.org/drawingml/2006/main">
            <a:off x="548640" y="27432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accent2"/>
                </a:solidFill>
              </a:rPr>
              <a:t>08 · FEASIBILITY  ·  ~45 s</a:t>
            </a:r>
            <a:endParaRPr sz="1200"/>
          </a:p>
        </p:txBody>
      </p:sp>
      <p:sp>
        <p:nvSpPr>
          <p:cNvPr id="3" name="Text 1">
            <a:extLst xmlns:a="http://schemas.openxmlformats.org/drawingml/2006/main">
              <a:ext uri="{FF2B5EF4-FFF2-40B4-BE49-F238E27FC236}">
                <a16:creationId xmlns:a16="http://schemas.microsoft.com/office/drawing/2014/main" id="{871608B7-EF30-4066-B676-0477A823D470}"/>
              </a:ext>
            </a:extLst>
          </p:cNvPr>
          <p:cNvSpPr>
            <a:spLocks xmlns:a="http://schemas.openxmlformats.org/drawingml/2006/main" noGrp="1"/>
          </p:cNvSpPr>
          <p:nvPr/>
        </p:nvSpPr>
        <p:spPr>
          <a:xfrm xmlns:a="http://schemas.openxmlformats.org/drawingml/2006/main">
            <a:off x="548640" y="566928"/>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tx1"/>
                </a:solidFill>
              </a:rPr>
              <a:t>Is it realistic in Sri Lanka?</a:t>
            </a:r>
            <a:endParaRPr sz="3400"/>
          </a:p>
        </p:txBody>
      </p:sp>
      <p:sp>
        <p:nvSpPr>
          <p:cNvPr id="5" name="Technical feasibility">
            <a:extLst xmlns:a="http://schemas.openxmlformats.org/drawingml/2006/main">
              <a:ext uri="{FF2B5EF4-FFF2-40B4-BE49-F238E27FC236}">
                <a16:creationId xmlns:a16="http://schemas.microsoft.com/office/drawing/2014/main" id="{2A9F0F07-B811-48EA-BBE4-7D6D31FF61BB}"/>
              </a:ext>
            </a:extLst>
          </p:cNvPr>
          <p:cNvSpPr>
            <a:spLocks xmlns:a="http://schemas.openxmlformats.org/drawingml/2006/main" noGrp="1"/>
          </p:cNvSpPr>
          <p:nvPr/>
        </p:nvSpPr>
        <p:spPr>
          <a:xfrm xmlns:a="http://schemas.openxmlformats.org/drawingml/2006/main">
            <a:off x="548640" y="1417320"/>
            <a:ext cx="3566160" cy="219456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Technical feasibility</a:t>
            </a:r>
          </a:p>
          <a:p xmlns:a="http://schemas.openxmlformats.org/drawingml/2006/main">
            <a:pPr marL="171450" indent="-171450">
              <a:spcAft>
                <a:spcPts val="300"/>
              </a:spcAft>
              <a:buClr>
                <a:schemeClr val="accent1"/>
              </a:buClr>
              <a:buFont typeface="Arial"/>
              <a:buChar char="•"/>
            </a:pPr>
            <a:r>
              <a:rPr sz="1400">
                <a:solidFill>
                  <a:schemeClr val="tx1"/>
                </a:solidFill>
              </a:rPr>
              <a:t>Proposal: working web prototype, tested locally and hosted when funded.</a:t>
            </a:r>
          </a:p>
          <a:p xmlns:a="http://schemas.openxmlformats.org/drawingml/2006/main">
            <a:pPr marL="171450" indent="-171450">
              <a:spcAft>
                <a:spcPts val="300"/>
              </a:spcAft>
              <a:buClr>
                <a:schemeClr val="accent1"/>
              </a:buClr>
              <a:buFont typeface="Arial"/>
              <a:buChar char="•"/>
            </a:pPr>
            <a:r>
              <a:rPr sz="1400">
                <a:solidFill>
                  <a:schemeClr val="tx1"/>
                </a:solidFill>
              </a:rPr>
              <a:t>Risk: double booking, duplicate pickup.</a:t>
            </a:r>
          </a:p>
          <a:p xmlns:a="http://schemas.openxmlformats.org/drawingml/2006/main">
            <a:pPr marL="171450" indent="-171450">
              <a:spcAft>
                <a:spcPts val="300"/>
              </a:spcAft>
              <a:buClr>
                <a:schemeClr val="accent1"/>
              </a:buClr>
              <a:buFont typeface="Arial"/>
              <a:buChar char="•"/>
            </a:pPr>
            <a:r>
              <a:rPr sz="1400">
                <a:solidFill>
                  <a:schemeClr val="tx1"/>
                </a:solidFill>
              </a:rPr>
              <a:t>Test: stock-control tests in the prototype.</a:t>
            </a:r>
          </a:p>
        </p:txBody>
      </p:sp>
      <p:sp>
        <p:nvSpPr>
          <p:cNvPr id="6" name="Cost &amp; affordability">
            <a:extLst xmlns:a="http://schemas.openxmlformats.org/drawingml/2006/main">
              <a:ext uri="{FF2B5EF4-FFF2-40B4-BE49-F238E27FC236}">
                <a16:creationId xmlns:a16="http://schemas.microsoft.com/office/drawing/2014/main" id="{651AD41E-6372-4A6C-BA42-046722AD8254}"/>
              </a:ext>
            </a:extLst>
          </p:cNvPr>
          <p:cNvSpPr>
            <a:spLocks xmlns:a="http://schemas.openxmlformats.org/drawingml/2006/main" noGrp="1"/>
          </p:cNvSpPr>
          <p:nvPr/>
        </p:nvSpPr>
        <p:spPr>
          <a:xfrm xmlns:a="http://schemas.openxmlformats.org/drawingml/2006/main">
            <a:off x="4297680" y="1417320"/>
            <a:ext cx="3566160" cy="219456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Cost &amp; affordability</a:t>
            </a:r>
          </a:p>
          <a:p xmlns:a="http://schemas.openxmlformats.org/drawingml/2006/main">
            <a:pPr marL="171450" indent="-171450">
              <a:spcAft>
                <a:spcPts val="300"/>
              </a:spcAft>
              <a:buClr>
                <a:schemeClr val="accent1"/>
              </a:buClr>
              <a:buFont typeface="Arial"/>
              <a:buChar char="•"/>
            </a:pPr>
            <a:r>
              <a:rPr sz="1400">
                <a:solidFill>
                  <a:schemeClr val="tx1"/>
                </a:solidFill>
              </a:rPr>
              <a:t>Proposed cash budget: LKR 60,000 for build/test and two months online.</a:t>
            </a:r>
          </a:p>
          <a:p xmlns:a="http://schemas.openxmlformats.org/drawingml/2006/main">
            <a:pPr marL="171450" indent="-171450">
              <a:spcAft>
                <a:spcPts val="300"/>
              </a:spcAft>
              <a:buClr>
                <a:schemeClr val="accent1"/>
              </a:buClr>
              <a:buFont typeface="Arial"/>
              <a:buChar char="•"/>
            </a:pPr>
            <a:r>
              <a:rPr sz="1400">
                <a:solidFill>
                  <a:schemeClr val="tx1"/>
                </a:solidFill>
              </a:rPr>
              <a:t>Team: LKR 5,000. Funding gap: LKR 55,000.</a:t>
            </a:r>
          </a:p>
          <a:p xmlns:a="http://schemas.openxmlformats.org/drawingml/2006/main">
            <a:pPr marL="171450" indent="-171450">
              <a:spcAft>
                <a:spcPts val="300"/>
              </a:spcAft>
              <a:buClr>
                <a:schemeClr val="accent1"/>
              </a:buClr>
              <a:buFont typeface="Arial"/>
              <a:buChar char="•"/>
            </a:pPr>
            <a:r>
              <a:rPr sz="1400">
                <a:solidFill>
                  <a:schemeClr val="tx1"/>
                </a:solidFill>
              </a:rPr>
              <a:t>Existing laptops and phones; labour unpaid.</a:t>
            </a:r>
          </a:p>
          <a:p xmlns:a="http://schemas.openxmlformats.org/drawingml/2006/main">
            <a:pPr marL="171450" indent="-171450">
              <a:spcAft>
                <a:spcPts val="300"/>
              </a:spcAft>
              <a:buClr>
                <a:schemeClr val="accent1"/>
              </a:buClr>
              <a:buFont typeface="Arial"/>
              <a:buChar char="•"/>
            </a:pPr>
            <a:r>
              <a:rPr sz="1400">
                <a:solidFill>
                  <a:schemeClr val="tx1"/>
                </a:solidFill>
              </a:rPr>
              <a:t>Estimate, not a quote or launch budget.</a:t>
            </a:r>
          </a:p>
        </p:txBody>
      </p:sp>
      <p:sp>
        <p:nvSpPr>
          <p:cNvPr id="7" name="Materials &amp; local supply">
            <a:extLst xmlns:a="http://schemas.openxmlformats.org/drawingml/2006/main">
              <a:ext uri="{FF2B5EF4-FFF2-40B4-BE49-F238E27FC236}">
                <a16:creationId xmlns:a16="http://schemas.microsoft.com/office/drawing/2014/main" id="{5A2F47C3-831A-4578-A3C6-2B084C36AB32}"/>
              </a:ext>
            </a:extLst>
          </p:cNvPr>
          <p:cNvSpPr>
            <a:spLocks xmlns:a="http://schemas.openxmlformats.org/drawingml/2006/main" noGrp="1"/>
          </p:cNvSpPr>
          <p:nvPr/>
        </p:nvSpPr>
        <p:spPr>
          <a:xfrm xmlns:a="http://schemas.openxmlformats.org/drawingml/2006/main">
            <a:off x="8046720" y="1417320"/>
            <a:ext cx="3566160" cy="219456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Materials &amp; local supply</a:t>
            </a:r>
          </a:p>
          <a:p xmlns:a="http://schemas.openxmlformats.org/drawingml/2006/main">
            <a:pPr marL="171450" indent="-171450">
              <a:spcAft>
                <a:spcPts val="300"/>
              </a:spcAft>
              <a:buClr>
                <a:schemeClr val="accent1"/>
              </a:buClr>
              <a:buFont typeface="Arial"/>
              <a:buChar char="•"/>
            </a:pPr>
            <a:r>
              <a:rPr sz="1400">
                <a:solidFill>
                  <a:schemeClr val="tx1"/>
                </a:solidFill>
              </a:rPr>
              <a:t>No custom hardware planned; phones and internet needed.</a:t>
            </a:r>
          </a:p>
          <a:p xmlns:a="http://schemas.openxmlformats.org/drawingml/2006/main">
            <a:pPr marL="171450" indent="-171450">
              <a:spcAft>
                <a:spcPts val="300"/>
              </a:spcAft>
              <a:buClr>
                <a:schemeClr val="accent1"/>
              </a:buClr>
              <a:buFont typeface="Arial"/>
              <a:buChar char="•"/>
            </a:pPr>
            <a:r>
              <a:rPr sz="1400">
                <a:solidFill>
                  <a:schemeClr val="tx1"/>
                </a:solidFill>
              </a:rPr>
              <a:t>Proposed outreach: Wellawatte, Ratmalana, Panadura; Peliyagoda is an unconfirmed earlier lead.</a:t>
            </a:r>
          </a:p>
          <a:p xmlns:a="http://schemas.openxmlformats.org/drawingml/2006/main">
            <a:pPr marL="171450" indent="-171450">
              <a:spcAft>
                <a:spcPts val="300"/>
              </a:spcAft>
              <a:buClr>
                <a:schemeClr val="accent1"/>
              </a:buClr>
              <a:buFont typeface="Arial"/>
              <a:buChar char="•"/>
            </a:pPr>
            <a:r>
              <a:rPr sz="1400">
                <a:solidFill>
                  <a:schemeClr val="tx1"/>
                </a:solidFill>
              </a:rPr>
              <a:t>Vendors and recipients not yet recruited.</a:t>
            </a:r>
          </a:p>
        </p:txBody>
      </p:sp>
      <p:sp>
        <p:nvSpPr>
          <p:cNvPr id="8" name="Regulation &amp; safety">
            <a:extLst xmlns:a="http://schemas.openxmlformats.org/drawingml/2006/main">
              <a:ext uri="{FF2B5EF4-FFF2-40B4-BE49-F238E27FC236}">
                <a16:creationId xmlns:a16="http://schemas.microsoft.com/office/drawing/2014/main" id="{3C3BB2FF-1B4E-49EB-9ACC-4ABC6BBE9D7D}"/>
              </a:ext>
            </a:extLst>
          </p:cNvPr>
          <p:cNvSpPr>
            <a:spLocks xmlns:a="http://schemas.openxmlformats.org/drawingml/2006/main" noGrp="1"/>
          </p:cNvSpPr>
          <p:nvPr/>
        </p:nvSpPr>
        <p:spPr>
          <a:xfrm xmlns:a="http://schemas.openxmlformats.org/drawingml/2006/main">
            <a:off x="548640" y="3794760"/>
            <a:ext cx="3566160" cy="219456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Regulation &amp; safety</a:t>
            </a:r>
          </a:p>
          <a:p xmlns:a="http://schemas.openxmlformats.org/drawingml/2006/main">
            <a:pPr marL="171450" indent="-171450">
              <a:spcAft>
                <a:spcPts val="300"/>
              </a:spcAft>
              <a:buClr>
                <a:schemeClr val="accent1"/>
              </a:buClr>
              <a:buFont typeface="Arial"/>
              <a:buChar char="•"/>
            </a:pPr>
            <a:r>
              <a:rPr sz="1400">
                <a:solidFill>
                  <a:schemeClr val="tx1"/>
                </a:solidFill>
              </a:rPr>
              <a:t>Food (Hygiene) Regulations 2011 apply to food handling [6].</a:t>
            </a:r>
          </a:p>
          <a:p xmlns:a="http://schemas.openxmlformats.org/drawingml/2006/main">
            <a:pPr marL="171450" indent="-171450">
              <a:spcAft>
                <a:spcPts val="300"/>
              </a:spcAft>
              <a:buClr>
                <a:schemeClr val="accent1"/>
              </a:buClr>
              <a:buFont typeface="Arial"/>
              <a:buChar char="•"/>
            </a:pPr>
            <a:r>
              <a:rPr sz="1400">
                <a:solidFill>
                  <a:schemeClr val="tx1"/>
                </a:solidFill>
              </a:rPr>
              <a:t>No real food in this phase; no approval or readiness claimed.</a:t>
            </a:r>
          </a:p>
          <a:p xmlns:a="http://schemas.openxmlformats.org/drawingml/2006/main">
            <a:pPr marL="171450" indent="-171450">
              <a:spcAft>
                <a:spcPts val="300"/>
              </a:spcAft>
              <a:buClr>
                <a:schemeClr val="accent1"/>
              </a:buClr>
              <a:buFont typeface="Arial"/>
              <a:buChar char="•"/>
            </a:pPr>
            <a:r>
              <a:rPr sz="1400">
                <a:solidFill>
                  <a:schemeClr val="tx1"/>
                </a:solidFill>
              </a:rPr>
              <a:t>Safety advisor needed before any live pilot.</a:t>
            </a:r>
          </a:p>
        </p:txBody>
      </p:sp>
      <p:sp>
        <p:nvSpPr>
          <p:cNvPr id="9" name="Adoption by users">
            <a:extLst xmlns:a="http://schemas.openxmlformats.org/drawingml/2006/main">
              <a:ext uri="{FF2B5EF4-FFF2-40B4-BE49-F238E27FC236}">
                <a16:creationId xmlns:a16="http://schemas.microsoft.com/office/drawing/2014/main" id="{16EE2E26-5711-4C08-8E46-61084CE76B64}"/>
              </a:ext>
            </a:extLst>
          </p:cNvPr>
          <p:cNvSpPr>
            <a:spLocks xmlns:a="http://schemas.openxmlformats.org/drawingml/2006/main" noGrp="1"/>
          </p:cNvSpPr>
          <p:nvPr/>
        </p:nvSpPr>
        <p:spPr>
          <a:xfrm xmlns:a="http://schemas.openxmlformats.org/drawingml/2006/main">
            <a:off x="4297680" y="3794760"/>
            <a:ext cx="3566160" cy="219456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Adoption by users</a:t>
            </a:r>
          </a:p>
          <a:p xmlns:a="http://schemas.openxmlformats.org/drawingml/2006/main">
            <a:pPr marL="171450" indent="-171450">
              <a:spcAft>
                <a:spcPts val="300"/>
              </a:spcAft>
              <a:buClr>
                <a:schemeClr val="accent1"/>
              </a:buClr>
              <a:buFont typeface="Arial"/>
              <a:buChar char="•"/>
            </a:pPr>
            <a:r>
              <a:rPr sz="1400">
                <a:solidFill>
                  <a:schemeClr val="tx1"/>
                </a:solidFill>
              </a:rPr>
              <a:t>To test: can vendors list at closing and buyers collect?</a:t>
            </a:r>
          </a:p>
          <a:p xmlns:a="http://schemas.openxmlformats.org/drawingml/2006/main">
            <a:pPr marL="171450" indent="-171450">
              <a:spcAft>
                <a:spcPts val="300"/>
              </a:spcAft>
              <a:buClr>
                <a:schemeClr val="accent1"/>
              </a:buClr>
              <a:buFont typeface="Arial"/>
              <a:buChar char="•"/>
            </a:pPr>
            <a:r>
              <a:rPr sz="1400">
                <a:solidFill>
                  <a:schemeClr val="tx1"/>
                </a:solidFill>
              </a:rPr>
              <a:t>Willingness is not commitment; no demand is established.</a:t>
            </a:r>
          </a:p>
          <a:p xmlns:a="http://schemas.openxmlformats.org/drawingml/2006/main">
            <a:pPr marL="171450" indent="-171450">
              <a:spcAft>
                <a:spcPts val="300"/>
              </a:spcAft>
              <a:buClr>
                <a:schemeClr val="accent1"/>
              </a:buClr>
              <a:buFont typeface="Arial"/>
              <a:buChar char="•"/>
            </a:pPr>
            <a:r>
              <a:rPr sz="1400">
                <a:solidFill>
                  <a:schemeClr val="tx1"/>
                </a:solidFill>
              </a:rPr>
              <a:t>Simulated listings test usability only.</a:t>
            </a:r>
          </a:p>
        </p:txBody>
      </p:sp>
      <p:sp>
        <p:nvSpPr>
          <p:cNvPr id="10" name="Sustainability &amp; model">
            <a:extLst xmlns:a="http://schemas.openxmlformats.org/drawingml/2006/main">
              <a:ext uri="{FF2B5EF4-FFF2-40B4-BE49-F238E27FC236}">
                <a16:creationId xmlns:a16="http://schemas.microsoft.com/office/drawing/2014/main" id="{4956C296-F15D-496A-B7CD-FE070E81ACD4}"/>
              </a:ext>
            </a:extLst>
          </p:cNvPr>
          <p:cNvSpPr>
            <a:spLocks xmlns:a="http://schemas.openxmlformats.org/drawingml/2006/main" noGrp="1"/>
          </p:cNvSpPr>
          <p:nvPr/>
        </p:nvSpPr>
        <p:spPr>
          <a:xfrm xmlns:a="http://schemas.openxmlformats.org/drawingml/2006/main">
            <a:off x="8046720" y="3794760"/>
            <a:ext cx="3566160" cy="219456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Sustainability &amp; model</a:t>
            </a:r>
          </a:p>
          <a:p xmlns:a="http://schemas.openxmlformats.org/drawingml/2006/main">
            <a:pPr marL="171450" indent="-171450">
              <a:spcAft>
                <a:spcPts val="300"/>
              </a:spcAft>
              <a:buClr>
                <a:schemeClr val="accent1"/>
              </a:buClr>
              <a:buFont typeface="Arial"/>
              <a:buChar char="•"/>
            </a:pPr>
            <a:r>
              <a:rPr sz="1400">
                <a:solidFill>
                  <a:schemeClr val="tx1"/>
                </a:solidFill>
              </a:rPr>
              <a:t>A proposed business with a free donation channel.</a:t>
            </a:r>
          </a:p>
          <a:p xmlns:a="http://schemas.openxmlformats.org/drawingml/2006/main">
            <a:pPr marL="171450" indent="-171450">
              <a:spcAft>
                <a:spcPts val="300"/>
              </a:spcAft>
              <a:buClr>
                <a:schemeClr val="accent1"/>
              </a:buClr>
              <a:buFont typeface="Arial"/>
              <a:buChar char="•"/>
            </a:pPr>
            <a:r>
              <a:rPr sz="1400">
                <a:solidFill>
                  <a:schemeClr val="tx1"/>
                </a:solidFill>
              </a:rPr>
              <a:t>Fee or subscription undecided; no sponsor secured.</a:t>
            </a:r>
          </a:p>
          <a:p xmlns:a="http://schemas.openxmlformats.org/drawingml/2006/main">
            <a:pPr marL="171450" indent="-171450">
              <a:spcAft>
                <a:spcPts val="300"/>
              </a:spcAft>
              <a:buClr>
                <a:schemeClr val="accent1"/>
              </a:buClr>
              <a:buFont typeface="Arial"/>
              <a:buChar char="•"/>
            </a:pPr>
            <a:r>
              <a:rPr sz="1400">
                <a:solidFill>
                  <a:schemeClr val="tx1"/>
                </a:solidFill>
              </a:rPr>
              <a:t>Donation costs tracked separately.</a:t>
            </a:r>
          </a:p>
          <a:p xmlns:a="http://schemas.openxmlformats.org/drawingml/2006/main">
            <a:pPr marL="171450" indent="-171450">
              <a:spcAft>
                <a:spcPts val="300"/>
              </a:spcAft>
              <a:buClr>
                <a:schemeClr val="accent1"/>
              </a:buClr>
              <a:buFont typeface="Arial"/>
              <a:buChar char="•"/>
            </a:pPr>
            <a:r>
              <a:rPr sz="1400">
                <a:solidFill>
                  <a:schemeClr val="tx1"/>
                </a:solidFill>
              </a:rPr>
              <a:t>Base hosting after month 2: about LKR 19,950/month, before extras [7][10].</a:t>
            </a:r>
          </a:p>
        </p:txBody>
      </p:sp>
      <p:sp>
        <p:nvSpPr>
          <p:cNvPr id="25" name="Slide Number Placeholder 0">
            <a:extLst xmlns:a="http://schemas.openxmlformats.org/drawingml/2006/main">
              <a:ext uri="{FF2B5EF4-FFF2-40B4-BE49-F238E27FC236}">
                <a16:creationId xmlns:a16="http://schemas.microsoft.com/office/drawing/2014/main" id="{6A980F17-F55C-4B59-A2E7-CEAF2FB8F635}"/>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9</a:t>
            </a:fld>
            <a:endParaRPr/>
          </a:p>
        </p:txBody>
      </p:sp>
    </p:spTree>
    <p:extLst>
      <p:ext uri="{BB962C8B-B14F-4D97-AF65-F5344CB8AC3E}">
        <p14:creationId xmlns:p14="http://schemas.microsoft.com/office/powerpoint/2010/main" val="125174852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89CD443-146E-4536-9945-5ABB4249D6BA}"/>
              </a:ext>
            </a:extLst>
          </p:cNvPr>
          <p:cNvSpPr>
            <a:spLocks xmlns:a="http://schemas.openxmlformats.org/drawingml/2006/main" noGrp="1"/>
          </p:cNvSpPr>
          <p:nvPr/>
        </p:nvSpPr>
        <p:spPr>
          <a:xfrm xmlns:a="http://schemas.openxmlformats.org/drawingml/2006/main">
            <a:off x="548640" y="27432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accent2"/>
                </a:solidFill>
              </a:rPr>
              <a:t>09 · PROTOTYPE PLAN  ·  ~45 s</a:t>
            </a:r>
            <a:endParaRPr sz="1200"/>
          </a:p>
        </p:txBody>
      </p:sp>
      <p:sp>
        <p:nvSpPr>
          <p:cNvPr id="3" name="Text 1">
            <a:extLst xmlns:a="http://schemas.openxmlformats.org/drawingml/2006/main">
              <a:ext uri="{FF2B5EF4-FFF2-40B4-BE49-F238E27FC236}">
                <a16:creationId xmlns:a16="http://schemas.microsoft.com/office/drawing/2014/main" id="{447646CD-48A1-4795-ABC3-434F58386490}"/>
              </a:ext>
            </a:extLst>
          </p:cNvPr>
          <p:cNvSpPr>
            <a:spLocks xmlns:a="http://schemas.openxmlformats.org/drawingml/2006/main" noGrp="1"/>
          </p:cNvSpPr>
          <p:nvPr/>
        </p:nvSpPr>
        <p:spPr>
          <a:xfrm xmlns:a="http://schemas.openxmlformats.org/drawingml/2006/main">
            <a:off x="548640" y="566928"/>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tx1"/>
                </a:solidFill>
              </a:rPr>
              <a:t>Functional prototype plan &amp; budget</a:t>
            </a:r>
            <a:endParaRPr sz="3400"/>
          </a:p>
        </p:txBody>
      </p:sp>
      <p:sp>
        <p:nvSpPr>
          <p:cNvPr id="5" name="Week 1">
            <a:extLst xmlns:a="http://schemas.openxmlformats.org/drawingml/2006/main">
              <a:ext uri="{FF2B5EF4-FFF2-40B4-BE49-F238E27FC236}">
                <a16:creationId xmlns:a16="http://schemas.microsoft.com/office/drawing/2014/main" id="{0371430C-0E77-4F0F-8DED-33C50E494890}"/>
              </a:ext>
            </a:extLst>
          </p:cNvPr>
          <p:cNvSpPr>
            <a:spLocks xmlns:a="http://schemas.openxmlformats.org/drawingml/2006/main" noGrp="1"/>
          </p:cNvSpPr>
          <p:nvPr/>
        </p:nvSpPr>
        <p:spPr>
          <a:xfrm xmlns:a="http://schemas.openxmlformats.org/drawingml/2006/main">
            <a:off x="548640" y="1417320"/>
            <a:ext cx="2651760" cy="1645920"/>
          </a:xfrm>
          <a:prstGeom xmlns:a="http://schemas.openxmlformats.org/drawingml/2006/main" prst="roundRect">
            <a:avLst>
              <a:gd name="adj" fmla="val 5714"/>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Week 1</a:t>
            </a:r>
            <a:r>
              <a:rPr sz="1400" b="1">
                <a:solidFill>
                  <a:schemeClr val="accent1"/>
                </a:solidFill>
              </a:rPr>
              <a:t>  ·  Proposed</a:t>
            </a:r>
          </a:p>
          <a:p xmlns:a="http://schemas.openxmlformats.org/drawingml/2006/main">
            <a:pPr marL="0" indent="0">
              <a:spcAft>
                <a:spcPts val="0"/>
              </a:spcAft>
              <a:buNone/>
            </a:pPr>
            <a:r>
              <a:rPr sz="1400">
                <a:solidFill>
                  <a:schemeClr val="tx1"/>
                </a:solidFill>
              </a:rPr>
              <a:t>Approach participants, document interviews, define workflows, start surplus observations where access is granted.</a:t>
            </a:r>
          </a:p>
        </p:txBody>
      </p:sp>
      <p:sp>
        <p:nvSpPr>
          <p:cNvPr id="6" name="Week 2">
            <a:extLst xmlns:a="http://schemas.openxmlformats.org/drawingml/2006/main">
              <a:ext uri="{FF2B5EF4-FFF2-40B4-BE49-F238E27FC236}">
                <a16:creationId xmlns:a16="http://schemas.microsoft.com/office/drawing/2014/main" id="{152EFB56-E2BD-4668-871F-08F0D77373B8}"/>
              </a:ext>
            </a:extLst>
          </p:cNvPr>
          <p:cNvSpPr>
            <a:spLocks xmlns:a="http://schemas.openxmlformats.org/drawingml/2006/main" noGrp="1"/>
          </p:cNvSpPr>
          <p:nvPr/>
        </p:nvSpPr>
        <p:spPr>
          <a:xfrm xmlns:a="http://schemas.openxmlformats.org/drawingml/2006/main">
            <a:off x="3355848" y="1417320"/>
            <a:ext cx="2651760" cy="1645920"/>
          </a:xfrm>
          <a:prstGeom xmlns:a="http://schemas.openxmlformats.org/drawingml/2006/main" prst="roundRect">
            <a:avLst>
              <a:gd name="adj" fmla="val 5714"/>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Week 2</a:t>
            </a:r>
            <a:r>
              <a:rPr sz="1400" b="1">
                <a:solidFill>
                  <a:schemeClr val="accent1"/>
                </a:solidFill>
              </a:rPr>
              <a:t>  ·  Proposed</a:t>
            </a:r>
          </a:p>
          <a:p xmlns:a="http://schemas.openxmlformats.org/drawingml/2006/main">
            <a:pPr marL="0" indent="0">
              <a:spcAft>
                <a:spcPts val="0"/>
              </a:spcAft>
              <a:buNone/>
            </a:pPr>
            <a:r>
              <a:rPr sz="1400">
                <a:solidFill>
                  <a:schemeClr val="tx1"/>
                </a:solidFill>
              </a:rPr>
              <a:t>Create listings and reservation workflows for both streams.</a:t>
            </a:r>
          </a:p>
        </p:txBody>
      </p:sp>
      <p:sp>
        <p:nvSpPr>
          <p:cNvPr id="7" name="Week 3">
            <a:extLst xmlns:a="http://schemas.openxmlformats.org/drawingml/2006/main">
              <a:ext uri="{FF2B5EF4-FFF2-40B4-BE49-F238E27FC236}">
                <a16:creationId xmlns:a16="http://schemas.microsoft.com/office/drawing/2014/main" id="{A563E377-9A68-472E-A40D-F0501FF4B325}"/>
              </a:ext>
            </a:extLst>
          </p:cNvPr>
          <p:cNvSpPr>
            <a:spLocks xmlns:a="http://schemas.openxmlformats.org/drawingml/2006/main" noGrp="1"/>
          </p:cNvSpPr>
          <p:nvPr/>
        </p:nvSpPr>
        <p:spPr>
          <a:xfrm xmlns:a="http://schemas.openxmlformats.org/drawingml/2006/main">
            <a:off x="6163056" y="1417320"/>
            <a:ext cx="2651760" cy="1645920"/>
          </a:xfrm>
          <a:prstGeom xmlns:a="http://schemas.openxmlformats.org/drawingml/2006/main" prst="roundRect">
            <a:avLst>
              <a:gd name="adj" fmla="val 5714"/>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Week 3</a:t>
            </a:r>
            <a:r>
              <a:rPr sz="1400" b="1">
                <a:solidFill>
                  <a:schemeClr val="accent1"/>
                </a:solidFill>
              </a:rPr>
              <a:t>  ·  Proposed</a:t>
            </a:r>
          </a:p>
          <a:p xmlns:a="http://schemas.openxmlformats.org/drawingml/2006/main">
            <a:pPr marL="0" indent="0">
              <a:spcAft>
                <a:spcPts val="0"/>
              </a:spcAft>
              <a:buNone/>
            </a:pPr>
            <a:r>
              <a:rPr sz="1400">
                <a:solidFill>
                  <a:schemeClr val="tx1"/>
                </a:solidFill>
              </a:rPr>
              <a:t>Add donation handling, bulk acceptance, handover records, cancellation scenarios.</a:t>
            </a:r>
          </a:p>
        </p:txBody>
      </p:sp>
      <p:sp>
        <p:nvSpPr>
          <p:cNvPr id="8" name="Week 4">
            <a:extLst xmlns:a="http://schemas.openxmlformats.org/drawingml/2006/main">
              <a:ext uri="{FF2B5EF4-FFF2-40B4-BE49-F238E27FC236}">
                <a16:creationId xmlns:a16="http://schemas.microsoft.com/office/drawing/2014/main" id="{7756E8A1-86A7-41AE-9897-F3F196F01847}"/>
              </a:ext>
            </a:extLst>
          </p:cNvPr>
          <p:cNvSpPr>
            <a:spLocks xmlns:a="http://schemas.openxmlformats.org/drawingml/2006/main" noGrp="1"/>
          </p:cNvSpPr>
          <p:nvPr/>
        </p:nvSpPr>
        <p:spPr>
          <a:xfrm xmlns:a="http://schemas.openxmlformats.org/drawingml/2006/main">
            <a:off x="8970264" y="1417320"/>
            <a:ext cx="2651760" cy="1645920"/>
          </a:xfrm>
          <a:prstGeom xmlns:a="http://schemas.openxmlformats.org/drawingml/2006/main" prst="roundRect">
            <a:avLst>
              <a:gd name="adj" fmla="val 5714"/>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Week 4</a:t>
            </a:r>
            <a:r>
              <a:rPr sz="1400" b="1">
                <a:solidFill>
                  <a:schemeClr val="accent1"/>
                </a:solidFill>
              </a:rPr>
              <a:t>  ·  Proposed</a:t>
            </a:r>
          </a:p>
          <a:p xmlns:a="http://schemas.openxmlformats.org/drawingml/2006/main">
            <a:pPr marL="0" indent="0">
              <a:spcAft>
                <a:spcPts val="0"/>
              </a:spcAft>
              <a:buNone/>
            </a:pPr>
            <a:r>
              <a:rPr sz="1400">
                <a:solidFill>
                  <a:schemeClr val="tx1"/>
                </a:solidFill>
              </a:rPr>
              <a:t>Run participant sessions and technical tests, fix problems, document findings.</a:t>
            </a:r>
          </a:p>
        </p:txBody>
      </p:sp>
      <p:sp>
        <p:nvSpPr>
          <p:cNvPr id="9" name="Stage">
            <a:extLst xmlns:a="http://schemas.openxmlformats.org/drawingml/2006/main">
              <a:ext uri="{FF2B5EF4-FFF2-40B4-BE49-F238E27FC236}">
                <a16:creationId xmlns:a16="http://schemas.microsoft.com/office/drawing/2014/main" id="{BC9C1724-44A3-415D-A6C2-2A2790644679}"/>
              </a:ext>
            </a:extLst>
          </p:cNvPr>
          <p:cNvSpPr>
            <a:spLocks xmlns:a="http://schemas.openxmlformats.org/drawingml/2006/main" noGrp="1"/>
          </p:cNvSpPr>
          <p:nvPr/>
        </p:nvSpPr>
        <p:spPr>
          <a:xfrm xmlns:a="http://schemas.openxmlformats.org/drawingml/2006/main">
            <a:off x="548640" y="3154680"/>
            <a:ext cx="11064240" cy="457200"/>
          </a:xfrm>
          <a:prstGeom xmlns:a="http://schemas.openxmlformats.org/drawingml/2006/main" prst="roundRect">
            <a:avLst>
              <a:gd name="adj" fmla="val 14545"/>
            </a:avLst>
          </a:prstGeom>
          <a:solidFill xmlns:a="http://schemas.openxmlformats.org/drawingml/2006/main">
            <a:schemeClr val="tx2"/>
          </a:solidFill>
        </p:spPr>
        <p:txBody>
          <a:bodyPr xmlns:a="http://schemas.openxmlformats.org/drawingml/2006/main" wrap="square" lIns="152400" tIns="152400" rIns="152400" bIns="152400" anchor="ctr"/>
          <a:lstStyle xmlns:a="http://schemas.openxmlformats.org/drawingml/2006/main"/>
          <a:p xmlns:a="http://schemas.openxmlformats.org/drawingml/2006/main">
            <a:pPr marL="0" indent="0">
              <a:buNone/>
            </a:pPr>
            <a:r>
              <a:rPr sz="1400">
                <a:solidFill>
                  <a:schemeClr val="bg1"/>
                </a:solidFill>
              </a:rPr>
              <a:t>Current stage (select one):  ☒ Idea   ☐ Concept design   ☐ Early prototype   ☐ Functional prototype   ☐ Tested with users</a:t>
            </a:r>
            <a:endParaRPr sz="1300"/>
          </a:p>
        </p:txBody>
      </p:sp>
      <p:sp>
        <p:nvSpPr>
          <p:cNvPr id="10" name="Prototype scope">
            <a:extLst xmlns:a="http://schemas.openxmlformats.org/drawingml/2006/main">
              <a:ext uri="{FF2B5EF4-FFF2-40B4-BE49-F238E27FC236}">
                <a16:creationId xmlns:a16="http://schemas.microsoft.com/office/drawing/2014/main" id="{9973AB54-47B5-4701-914B-E8DF1818F90A}"/>
              </a:ext>
            </a:extLst>
          </p:cNvPr>
          <p:cNvSpPr>
            <a:spLocks xmlns:a="http://schemas.openxmlformats.org/drawingml/2006/main" noGrp="1"/>
          </p:cNvSpPr>
          <p:nvPr/>
        </p:nvSpPr>
        <p:spPr>
          <a:xfrm xmlns:a="http://schemas.openxmlformats.org/drawingml/2006/main">
            <a:off x="548640" y="3749039"/>
            <a:ext cx="6583680" cy="2514600"/>
          </a:xfrm>
          <a:prstGeom xmlns:a="http://schemas.openxmlformats.org/drawingml/2006/main" prst="roundRect">
            <a:avLst>
              <a:gd name="adj" fmla="val 296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Prototype scope</a:t>
            </a:r>
            <a:r>
              <a:rPr sz="1400" b="1">
                <a:solidFill>
                  <a:schemeClr val="accent1"/>
                </a:solidFill>
              </a:rPr>
              <a:t>  ·  Planned</a:t>
            </a:r>
          </a:p>
          <a:p xmlns:a="http://schemas.openxmlformats.org/drawingml/2006/main">
            <a:pPr marL="0" indent="0">
              <a:spcAft>
                <a:spcPts val="400"/>
              </a:spcAft>
              <a:buNone/>
            </a:pPr>
            <a:r>
              <a:rPr sz="1400" b="1">
                <a:solidFill>
                  <a:schemeClr val="tx1"/>
                </a:solidFill>
              </a:rPr>
              <a:t>Will build: working accounts, listings, reservations and handover records for both streams and modes. Simulated food data.</a:t>
            </a:r>
          </a:p>
          <a:p xmlns:a="http://schemas.openxmlformats.org/drawingml/2006/main">
            <a:pPr marL="0" indent="0">
              <a:spcAft>
                <a:spcPts val="400"/>
              </a:spcAft>
              <a:buNone/>
            </a:pPr>
            <a:r>
              <a:rPr sz="1400" b="1">
                <a:solidFill>
                  <a:schemeClr val="tx1"/>
                </a:solidFill>
              </a:rPr>
              <a:t>Recruit (targets, subject to access): </a:t>
            </a:r>
            <a:r>
              <a:rPr sz="1400">
                <a:solidFill>
                  <a:schemeClr val="tx1"/>
                </a:solidFill>
              </a:rPr>
              <a:t>2 retail vendors, 1 wholesale vendor, 4 potential buyers, 1 bulk-recipient representative.</a:t>
            </a:r>
          </a:p>
          <a:p xmlns:a="http://schemas.openxmlformats.org/drawingml/2006/main">
            <a:pPr marL="0" indent="0">
              <a:spcAft>
                <a:spcPts val="400"/>
              </a:spcAft>
              <a:buNone/>
            </a:pPr>
            <a:r>
              <a:rPr sz="1400" b="1">
                <a:solidFill>
                  <a:schemeClr val="tx1"/>
                </a:solidFill>
              </a:rPr>
              <a:t>Observe: five trading days of surplus logs, including zero-surplus days. No redistribution.</a:t>
            </a:r>
          </a:p>
          <a:p xmlns:a="http://schemas.openxmlformats.org/drawingml/2006/main">
            <a:pPr marL="0" indent="0">
              <a:spcAft>
                <a:spcPts val="400"/>
              </a:spcAft>
              <a:buNone/>
            </a:pPr>
            <a:r>
              <a:rPr sz="1400" b="1">
                <a:solidFill>
                  <a:schemeClr val="tx1"/>
                </a:solidFill>
              </a:rPr>
              <a:t>Excluded: real food, delivery, payments, native mobile apps and hired developers.</a:t>
            </a:r>
          </a:p>
          <a:p xmlns:a="http://schemas.openxmlformats.org/drawingml/2006/main">
            <a:pPr marL="0" indent="0">
              <a:spcAft>
                <a:spcPts val="0"/>
              </a:spcAft>
              <a:buNone/>
            </a:pPr>
            <a:r>
              <a:rPr sz="1400" i="1">
                <a:solidFill>
                  <a:schemeClr val="accent4"/>
                </a:solidFill>
              </a:rPr>
              <a:t>Four-week build; two months hosting. Labour/devices in-kind. Gap: LKR 55,000.</a:t>
            </a:r>
          </a:p>
        </p:txBody>
      </p:sp>
      <p:graphicFrame>
        <p:nvGraphicFramePr>
          <p:cNvPr id="12" name="Table">
            <a:extLst xmlns:a="http://schemas.openxmlformats.org/drawingml/2006/main">
              <a:ext uri="{FF2B5EF4-FFF2-40B4-BE49-F238E27FC236}">
                <a16:creationId xmlns:a16="http://schemas.microsoft.com/office/drawing/2014/main" id="{24A60067-E104-4CD3-8487-4F4C3A651F43}"/>
              </a:ext>
            </a:extLst>
          </p:cNvPr>
          <p:cNvGraphicFramePr/>
          <p:nvPr/>
        </p:nvGraphicFramePr>
        <p:xfrm>
          <a:off xmlns:a="http://schemas.openxmlformats.org/drawingml/2006/main" x="7498079" y="3749039"/>
          <a:ext xmlns:a="http://schemas.openxmlformats.org/drawingml/2006/main" cx="4114800" cy="2560320"/>
        </p:xfrm>
        <a:graphic xmlns:a="http://schemas.openxmlformats.org/drawingml/2006/main">
          <a:graphicData uri="http://schemas.openxmlformats.org/drawingml/2006/table">
            <a:tbl>
              <a:tblPr/>
              <a:tblGrid>
                <a:gridCol w="2926080"/>
                <a:gridCol w="1188720"/>
              </a:tblGrid>
              <a:tr h="323850">
                <a:tc>
                  <a:txBody>
                    <a:bodyPr/>
                    <a:lstStyle/>
                    <a:p>
                      <a:pPr marL="0" indent="0">
                        <a:buNone/>
                      </a:pPr>
                      <a:r>
                        <a:rPr sz="1400" b="1">
                          <a:solidFill>
                            <a:srgbClr val="FFFFFF"/>
                          </a:solidFill>
                        </a:rPr>
                        <a:t>Proposed cash budget [7][10]</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c>
                  <a:txBody>
                    <a:bodyPr/>
                    <a:lstStyle/>
                    <a:p>
                      <a:pPr marL="0" indent="0">
                        <a:buNone/>
                      </a:pPr>
                      <a:r>
                        <a:rPr sz="1400" b="1">
                          <a:solidFill>
                            <a:srgbClr val="FFFFFF"/>
                          </a:solidFill>
                        </a:rPr>
                        <a:t>LKR</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r>
              <a:tr h="323850">
                <a:tc>
                  <a:txBody>
                    <a:bodyPr/>
                    <a:lstStyle/>
                    <a:p>
                      <a:pPr marL="0" indent="0">
                        <a:spcAft>
                          <a:spcPts val="0"/>
                        </a:spcAft>
                        <a:buNone/>
                      </a:pPr>
                      <a:r>
                        <a:rPr sz="1400" b="1">
                          <a:solidFill>
                            <a:srgbClr val="0F1B3D"/>
                          </a:solidFill>
                        </a:rPr>
                        <a:t>Hosting + team workspace (2 mo.)</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A"/>
                    </a:solidFill>
                  </a:tcPr>
                </a:tc>
                <a:tc>
                  <a:txBody>
                    <a:bodyPr/>
                    <a:lstStyle/>
                    <a:p>
                      <a:pPr marL="0" indent="0">
                        <a:spcAft>
                          <a:spcPts val="0"/>
                        </a:spcAft>
                        <a:buNone/>
                      </a:pPr>
                      <a:r>
                        <a:rPr sz="1400" b="0">
                          <a:solidFill>
                            <a:srgbClr val="0F1B3D"/>
                          </a:solidFill>
                        </a:rPr>
                        <a:t>22,400</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A"/>
                    </a:solidFill>
                  </a:tcPr>
                </a:tc>
              </a:tr>
              <a:tr h="323850">
                <a:tc>
                  <a:txBody>
                    <a:bodyPr/>
                    <a:lstStyle/>
                    <a:p>
                      <a:pPr marL="0" indent="0">
                        <a:spcAft>
                          <a:spcPts val="0"/>
                        </a:spcAft>
                        <a:buNone/>
                      </a:pPr>
                      <a:r>
                        <a:rPr sz="1400" b="1">
                          <a:solidFill>
                            <a:srgbClr val="0F1B3D"/>
                          </a:solidFill>
                        </a:rPr>
                        <a:t>Database/auth/backups (2 mo.)</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A"/>
                    </a:solidFill>
                  </a:tcPr>
                </a:tc>
                <a:tc>
                  <a:txBody>
                    <a:bodyPr/>
                    <a:lstStyle/>
                    <a:p>
                      <a:pPr marL="0" indent="0">
                        <a:spcAft>
                          <a:spcPts val="0"/>
                        </a:spcAft>
                        <a:buNone/>
                      </a:pPr>
                      <a:r>
                        <a:rPr sz="1400" b="0">
                          <a:solidFill>
                            <a:srgbClr val="0F1B3D"/>
                          </a:solidFill>
                        </a:rPr>
                        <a:t>17,500</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A"/>
                    </a:solidFill>
                  </a:tcPr>
                </a:tc>
              </a:tr>
              <a:tr h="323850">
                <a:tc>
                  <a:txBody>
                    <a:bodyPr/>
                    <a:lstStyle/>
                    <a:p>
                      <a:pPr marL="0" indent="0">
                        <a:spcAft>
                          <a:spcPts val="0"/>
                        </a:spcAft>
                        <a:buNone/>
                      </a:pPr>
                      <a:r>
                        <a:rPr sz="1400" b="1">
                          <a:solidFill>
                            <a:srgbClr val="0F1B3D"/>
                          </a:solidFill>
                        </a:rPr>
                        <a:t>Domain (1 year allowance)</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A"/>
                    </a:solidFill>
                  </a:tcPr>
                </a:tc>
                <a:tc>
                  <a:txBody>
                    <a:bodyPr/>
                    <a:lstStyle/>
                    <a:p>
                      <a:pPr marL="0" indent="0">
                        <a:spcAft>
                          <a:spcPts val="0"/>
                        </a:spcAft>
                        <a:buNone/>
                      </a:pPr>
                      <a:r>
                        <a:rPr sz="1400" b="0">
                          <a:solidFill>
                            <a:srgbClr val="0F1B3D"/>
                          </a:solidFill>
                        </a:rPr>
                        <a:t>5,000</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A"/>
                    </a:solidFill>
                  </a:tcPr>
                </a:tc>
              </a:tr>
              <a:tr h="323850">
                <a:tc>
                  <a:txBody>
                    <a:bodyPr/>
                    <a:lstStyle/>
                    <a:p>
                      <a:pPr marL="0" indent="0">
                        <a:spcAft>
                          <a:spcPts val="0"/>
                        </a:spcAft>
                        <a:buNone/>
                      </a:pPr>
                      <a:r>
                        <a:rPr sz="1400" b="1">
                          <a:solidFill>
                            <a:srgbClr val="0F1B3D"/>
                          </a:solidFill>
                        </a:rPr>
                        <a:t>Travel, data and printing</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A"/>
                    </a:solidFill>
                  </a:tcPr>
                </a:tc>
                <a:tc>
                  <a:txBody>
                    <a:bodyPr/>
                    <a:lstStyle/>
                    <a:p>
                      <a:pPr marL="0" indent="0">
                        <a:spcAft>
                          <a:spcPts val="0"/>
                        </a:spcAft>
                        <a:buNone/>
                      </a:pPr>
                      <a:r>
                        <a:rPr sz="1400" b="0">
                          <a:solidFill>
                            <a:srgbClr val="0F1B3D"/>
                          </a:solidFill>
                        </a:rPr>
                        <a:t>4,000</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A"/>
                    </a:solidFill>
                  </a:tcPr>
                </a:tc>
              </a:tr>
              <a:tr h="323850">
                <a:tc>
                  <a:txBody>
                    <a:bodyPr/>
                    <a:lstStyle/>
                    <a:p>
                      <a:r>
                        <a:rPr sz="1400" b="1">
                          <a:solidFill>
                            <a:srgbClr val="0F1B3D"/>
                          </a:solidFill>
                        </a:rPr>
                        <a:t>Contingency / taxes / overages</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A"/>
                    </a:solidFill>
                  </a:tcPr>
                </a:tc>
                <a:tc>
                  <a:txBody>
                    <a:bodyPr/>
                    <a:lstStyle/>
                    <a:p>
                      <a:r>
                        <a:rPr sz="1400" b="0">
                          <a:solidFill>
                            <a:srgbClr val="0F1B3D"/>
                          </a:solidFill>
                        </a:rPr>
                        <a:t>11,100</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A"/>
                    </a:solidFill>
                  </a:tcPr>
                </a:tc>
              </a:tr>
              <a:tr h="323850">
                <a:tc>
                  <a:txBody>
                    <a:bodyPr/>
                    <a:lstStyle/>
                    <a:p>
                      <a:pPr marL="0" indent="0">
                        <a:spcAft>
                          <a:spcPts val="0"/>
                        </a:spcAft>
                        <a:buNone/>
                      </a:pPr>
                      <a:r>
                        <a:rPr sz="1400" b="1">
                          <a:solidFill>
                            <a:srgbClr val="0F1B3D"/>
                          </a:solidFill>
                        </a:rPr>
                        <a:t>Total estimate</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FF1DC"/>
                    </a:solidFill>
                  </a:tcPr>
                </a:tc>
                <a:tc>
                  <a:txBody>
                    <a:bodyPr/>
                    <a:lstStyle/>
                    <a:p>
                      <a:pPr marL="0" indent="0">
                        <a:spcAft>
                          <a:spcPts val="0"/>
                        </a:spcAft>
                        <a:buNone/>
                      </a:pPr>
                      <a:r>
                        <a:rPr sz="1400" b="1">
                          <a:solidFill>
                            <a:srgbClr val="0F1B3D"/>
                          </a:solidFill>
                        </a:rPr>
                        <a:t>60,000</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FF1DC"/>
                    </a:solidFill>
                  </a:tcPr>
                </a:tc>
              </a:tr>
            </a:tbl>
          </a:graphicData>
        </a:graphic>
      </p:graphicFrame>
      <p:sp>
        <p:nvSpPr>
          <p:cNvPr id="25" name="Slide Number Placeholder 0">
            <a:extLst xmlns:a="http://schemas.openxmlformats.org/drawingml/2006/main">
              <a:ext uri="{FF2B5EF4-FFF2-40B4-BE49-F238E27FC236}">
                <a16:creationId xmlns:a16="http://schemas.microsoft.com/office/drawing/2014/main" id="{03AE39BA-50DF-427B-A8E6-53163B3CAF04}"/>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10</a:t>
            </a:fld>
            <a:endParaRPr/>
          </a:p>
        </p:txBody>
      </p:sp>
    </p:spTree>
    <p:extLst>
      <p:ext uri="{BB962C8B-B14F-4D97-AF65-F5344CB8AC3E}">
        <p14:creationId xmlns:p14="http://schemas.microsoft.com/office/powerpoint/2010/main" val="94394804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60AC55C-023A-4992-87A5-DC5E733C7D07}"/>
              </a:ext>
            </a:extLst>
          </p:cNvPr>
          <p:cNvSpPr>
            <a:spLocks xmlns:a="http://schemas.openxmlformats.org/drawingml/2006/main" noGrp="1"/>
          </p:cNvSpPr>
          <p:nvPr/>
        </p:nvSpPr>
        <p:spPr>
          <a:xfrm xmlns:a="http://schemas.openxmlformats.org/drawingml/2006/main">
            <a:off x="548640" y="27432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accent2"/>
                </a:solidFill>
              </a:rPr>
              <a:t>10 · RISKS &amp; ETHICS  ·  ~35 s</a:t>
            </a:r>
            <a:endParaRPr sz="1200"/>
          </a:p>
        </p:txBody>
      </p:sp>
      <p:sp>
        <p:nvSpPr>
          <p:cNvPr id="3" name="Text 1">
            <a:extLst xmlns:a="http://schemas.openxmlformats.org/drawingml/2006/main">
              <a:ext uri="{FF2B5EF4-FFF2-40B4-BE49-F238E27FC236}">
                <a16:creationId xmlns:a16="http://schemas.microsoft.com/office/drawing/2014/main" id="{BCFF2E16-FD0C-424D-B684-0FCB1D48BE42}"/>
              </a:ext>
            </a:extLst>
          </p:cNvPr>
          <p:cNvSpPr>
            <a:spLocks xmlns:a="http://schemas.openxmlformats.org/drawingml/2006/main" noGrp="1"/>
          </p:cNvSpPr>
          <p:nvPr/>
        </p:nvSpPr>
        <p:spPr>
          <a:xfrm xmlns:a="http://schemas.openxmlformats.org/drawingml/2006/main">
            <a:off x="548640" y="566928"/>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tx1"/>
                </a:solidFill>
              </a:rPr>
              <a:t>Risks, ethics &amp; inclusion</a:t>
            </a:r>
            <a:endParaRPr sz="3400"/>
          </a:p>
        </p:txBody>
      </p:sp>
      <p:graphicFrame>
        <p:nvGraphicFramePr>
          <p:cNvPr id="13" name="Table">
            <a:extLst xmlns:a="http://schemas.openxmlformats.org/drawingml/2006/main">
              <a:ext uri="{FF2B5EF4-FFF2-40B4-BE49-F238E27FC236}">
                <a16:creationId xmlns:a16="http://schemas.microsoft.com/office/drawing/2014/main" id="{22961FC7-8FCA-47CC-A6A7-68A0E1F856F8}"/>
              </a:ext>
            </a:extLst>
          </p:cNvPr>
          <p:cNvGraphicFramePr/>
          <p:nvPr/>
        </p:nvGraphicFramePr>
        <p:xfrm>
          <a:off xmlns:a="http://schemas.openxmlformats.org/drawingml/2006/main" x="548640" y="1417320"/>
          <a:ext xmlns:a="http://schemas.openxmlformats.org/drawingml/2006/main" cx="7040880" cy="3337560"/>
        </p:xfrm>
        <a:graphic xmlns:a="http://schemas.openxmlformats.org/drawingml/2006/main">
          <a:graphicData uri="http://schemas.openxmlformats.org/drawingml/2006/table">
            <a:tbl>
              <a:tblPr/>
              <a:tblGrid>
                <a:gridCol w="2011680"/>
                <a:gridCol w="1097280"/>
                <a:gridCol w="914400"/>
                <a:gridCol w="3017520"/>
              </a:tblGrid>
              <a:tr h="411480">
                <a:tc>
                  <a:txBody>
                    <a:bodyPr/>
                    <a:lstStyle/>
                    <a:p>
                      <a:pPr marL="0" indent="0">
                        <a:buNone/>
                      </a:pPr>
                      <a:r>
                        <a:rPr sz="1400" b="1">
                          <a:solidFill>
                            <a:srgbClr val="FFFFFF"/>
                          </a:solidFill>
                        </a:rPr>
                        <a:t>Risk</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c>
                  <a:txBody>
                    <a:bodyPr/>
                    <a:lstStyle/>
                    <a:p>
                      <a:pPr marL="0" indent="0">
                        <a:buNone/>
                      </a:pPr>
                      <a:r>
                        <a:rPr sz="1400" b="1">
                          <a:solidFill>
                            <a:srgbClr val="FFFFFF"/>
                          </a:solidFill>
                        </a:rPr>
                        <a:t>Likelihood</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c>
                  <a:txBody>
                    <a:bodyPr/>
                    <a:lstStyle/>
                    <a:p>
                      <a:pPr marL="0" indent="0">
                        <a:buNone/>
                      </a:pPr>
                      <a:r>
                        <a:rPr sz="1400" b="1">
                          <a:solidFill>
                            <a:srgbClr val="FFFFFF"/>
                          </a:solidFill>
                        </a:rPr>
                        <a:t>Impact</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c>
                  <a:txBody>
                    <a:bodyPr/>
                    <a:lstStyle/>
                    <a:p>
                      <a:pPr marL="0" indent="0">
                        <a:buNone/>
                      </a:pPr>
                      <a:r>
                        <a:rPr sz="1400" b="1">
                          <a:solidFill>
                            <a:srgbClr val="FFFFFF"/>
                          </a:solidFill>
                        </a:rPr>
                        <a:t>Mitigation</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r>
              <a:tr h="731520">
                <a:tc>
                  <a:txBody>
                    <a:bodyPr/>
                    <a:lstStyle/>
                    <a:p>
                      <a:pPr marL="0" indent="0">
                        <a:spcAft>
                          <a:spcPts val="0"/>
                        </a:spcAft>
                        <a:buNone/>
                      </a:pPr>
                      <a:r>
                        <a:rPr sz="1400">
                          <a:solidFill>
                            <a:schemeClr val="tx1"/>
                          </a:solidFill>
                        </a:rPr>
                        <a:t>Technical: double booking, duplicate pickup</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Medium</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Medium</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Plan atomic stock updates and test concurrent bookings and duplicate handovers.</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r>
              <a:tr h="731520">
                <a:tc>
                  <a:txBody>
                    <a:bodyPr/>
                    <a:lstStyle/>
                    <a:p>
                      <a:pPr marL="0" indent="0">
                        <a:spcAft>
                          <a:spcPts val="0"/>
                        </a:spcAft>
                        <a:buNone/>
                      </a:pPr>
                      <a:r>
                        <a:rPr sz="1400">
                          <a:solidFill>
                            <a:schemeClr val="tx1"/>
                          </a:solidFill>
                        </a:rPr>
                        <a:t>Recruitment not secured</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High</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High</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Report the limitation; keep wholesale and recipient workflows as simulated demonstrations.</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r>
              <a:tr h="731520">
                <a:tc>
                  <a:txBody>
                    <a:bodyPr/>
                    <a:lstStyle/>
                    <a:p>
                      <a:pPr marL="0" indent="0">
                        <a:spcAft>
                          <a:spcPts val="0"/>
                        </a:spcAft>
                        <a:buNone/>
                      </a:pPr>
                      <a:r>
                        <a:rPr sz="1400">
                          <a:solidFill>
                            <a:schemeClr val="tx1"/>
                          </a:solidFill>
                        </a:rPr>
                        <a:t>Funding gap: LKR 55,000</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High</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High</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Develop locally; approve paid services only when funded.</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r>
              <a:tr h="731520">
                <a:tc>
                  <a:txBody>
                    <a:bodyPr/>
                    <a:lstStyle/>
                    <a:p>
                      <a:pPr marL="0" indent="0">
                        <a:spcAft>
                          <a:spcPts val="0"/>
                        </a:spcAft>
                        <a:buNone/>
                      </a:pPr>
                      <a:r>
                        <a:rPr sz="1400">
                          <a:solidFill>
                            <a:schemeClr val="tx1"/>
                          </a:solidFill>
                        </a:rPr>
                        <a:t>Food safety and regulation</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Not assessed</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High</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No real food in this phase; advisor-reviewed rules before any later pilot.</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r>
            </a:tbl>
          </a:graphicData>
        </a:graphic>
      </p:graphicFrame>
      <p:sp>
        <p:nvSpPr>
          <p:cNvPr id="6" name="Riskiest assumption to test first">
            <a:extLst xmlns:a="http://schemas.openxmlformats.org/drawingml/2006/main">
              <a:ext uri="{FF2B5EF4-FFF2-40B4-BE49-F238E27FC236}">
                <a16:creationId xmlns:a16="http://schemas.microsoft.com/office/drawing/2014/main" id="{BD706E00-68DE-454F-B96B-B9639D39ED7C}"/>
              </a:ext>
            </a:extLst>
          </p:cNvPr>
          <p:cNvSpPr>
            <a:spLocks xmlns:a="http://schemas.openxmlformats.org/drawingml/2006/main" noGrp="1"/>
          </p:cNvSpPr>
          <p:nvPr/>
        </p:nvSpPr>
        <p:spPr>
          <a:xfrm xmlns:a="http://schemas.openxmlformats.org/drawingml/2006/main">
            <a:off x="548640" y="4892040"/>
            <a:ext cx="7040880" cy="1188720"/>
          </a:xfrm>
          <a:prstGeom xmlns:a="http://schemas.openxmlformats.org/drawingml/2006/main" prst="roundRect">
            <a:avLst>
              <a:gd name="adj" fmla="val 6957"/>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Key operational assumption for a later live pilot</a:t>
            </a:r>
          </a:p>
          <a:p xmlns:a="http://schemas.openxmlformats.org/drawingml/2006/main">
            <a:pPr marL="0" indent="0">
              <a:spcAft>
                <a:spcPts val="0"/>
              </a:spcAft>
              <a:buNone/>
            </a:pPr>
            <a:r>
              <a:rPr sz="1400">
                <a:solidFill>
                  <a:schemeClr val="tx1"/>
                </a:solidFill>
              </a:rPr>
              <a:t>Surplus may vary by day. Log quantities and zero-surplus days. Test whether vendors can list in time and recipients can collect affordably in a later pilot. Recruitment is not secured.</a:t>
            </a:r>
          </a:p>
        </p:txBody>
      </p:sp>
      <p:sp>
        <p:nvSpPr>
          <p:cNvPr id="7" name="Ethics, inclusion &amp; environment">
            <a:extLst xmlns:a="http://schemas.openxmlformats.org/drawingml/2006/main">
              <a:ext uri="{FF2B5EF4-FFF2-40B4-BE49-F238E27FC236}">
                <a16:creationId xmlns:a16="http://schemas.microsoft.com/office/drawing/2014/main" id="{4ED33D3B-4F74-4F1E-8063-B32AD2D1734F}"/>
              </a:ext>
            </a:extLst>
          </p:cNvPr>
          <p:cNvSpPr>
            <a:spLocks xmlns:a="http://schemas.openxmlformats.org/drawingml/2006/main" noGrp="1"/>
          </p:cNvSpPr>
          <p:nvPr/>
        </p:nvSpPr>
        <p:spPr>
          <a:xfrm xmlns:a="http://schemas.openxmlformats.org/drawingml/2006/main">
            <a:off x="7772400" y="1417320"/>
            <a:ext cx="3840480" cy="4572000"/>
          </a:xfrm>
          <a:prstGeom xmlns:a="http://schemas.openxmlformats.org/drawingml/2006/main" prst="roundRect">
            <a:avLst>
              <a:gd name="adj" fmla="val 1905"/>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Ethics, inclusion &amp; environment</a:t>
            </a:r>
          </a:p>
          <a:p xmlns:a="http://schemas.openxmlformats.org/drawingml/2006/main">
            <a:pPr marL="171450" indent="-171450">
              <a:spcAft>
                <a:spcPts val="400"/>
              </a:spcAft>
              <a:buClr>
                <a:schemeClr val="accent1"/>
              </a:buClr>
              <a:buFont typeface="Arial"/>
              <a:buChar char="•"/>
            </a:pPr>
            <a:r>
              <a:rPr sz="1400" b="1">
                <a:solidFill>
                  <a:schemeClr val="tx1"/>
                </a:solidFill>
              </a:rPr>
              <a:t>Privacy: </a:t>
            </a:r>
            <a:r>
              <a:rPr sz="1400">
                <a:solidFill>
                  <a:schemeClr val="tx1"/>
                </a:solidFill>
              </a:rPr>
              <a:t>minimal data; contact details private.</a:t>
            </a:r>
          </a:p>
          <a:p xmlns:a="http://schemas.openxmlformats.org/drawingml/2006/main">
            <a:pPr marL="171450" indent="-171450">
              <a:spcAft>
                <a:spcPts val="400"/>
              </a:spcAft>
              <a:buClr>
                <a:schemeClr val="accent1"/>
              </a:buClr>
              <a:buFont typeface="Arial"/>
              <a:buChar char="•"/>
            </a:pPr>
            <a:r>
              <a:rPr sz="1400" b="1">
                <a:solidFill>
                  <a:schemeClr val="tx1"/>
                </a:solidFill>
              </a:rPr>
              <a:t>Safety: </a:t>
            </a:r>
            <a:r>
              <a:rPr sz="1400">
                <a:solidFill>
                  <a:schemeClr val="tx1"/>
                </a:solidFill>
              </a:rPr>
              <a:t>vendors can withdraw food; collectors can reject it.</a:t>
            </a:r>
          </a:p>
          <a:p xmlns:a="http://schemas.openxmlformats.org/drawingml/2006/main">
            <a:pPr marL="171450" indent="-171450">
              <a:spcAft>
                <a:spcPts val="400"/>
              </a:spcAft>
              <a:buClr>
                <a:schemeClr val="accent1"/>
              </a:buClr>
              <a:buFont typeface="Arial"/>
              <a:buChar char="•"/>
            </a:pPr>
            <a:r>
              <a:rPr sz="1400" b="1">
                <a:solidFill>
                  <a:schemeClr val="tx1"/>
                </a:solidFill>
              </a:rPr>
              <a:t>Access: </a:t>
            </a:r>
            <a:r>
              <a:rPr sz="1400">
                <a:solidFill>
                  <a:schemeClr val="tx1"/>
                </a:solidFill>
              </a:rPr>
              <a:t>Sinhala, Tamil, English goals; list view; no hardship labels.</a:t>
            </a:r>
          </a:p>
          <a:p xmlns:a="http://schemas.openxmlformats.org/drawingml/2006/main">
            <a:pPr marL="171450" indent="-171450">
              <a:spcAft>
                <a:spcPts val="300"/>
              </a:spcAft>
              <a:buClr>
                <a:schemeClr val="accent1"/>
              </a:buClr>
              <a:buFont typeface="Arial"/>
              <a:buChar char="•"/>
            </a:pPr>
            <a:r>
              <a:rPr sz="1400" b="1">
                <a:solidFill>
                  <a:schemeClr val="tx1"/>
                </a:solidFill>
              </a:rPr>
              <a:t>Containers: assign responsibility before a live pilot.</a:t>
            </a:r>
          </a:p>
          <a:p xmlns:a="http://schemas.openxmlformats.org/drawingml/2006/main">
            <a:pPr marL="0" indent="0">
              <a:spcAft>
                <a:spcPts val="400"/>
              </a:spcAft>
              <a:buNone/>
            </a:pPr>
            <a:r>
              <a:rPr sz="1400" b="1">
                <a:solidFill>
                  <a:schemeClr val="tx2"/>
                </a:solidFill>
              </a:rPr>
              <a:t>Before a later real-food pilot</a:t>
            </a:r>
          </a:p>
          <a:p xmlns:a="http://schemas.openxmlformats.org/drawingml/2006/main">
            <a:pPr marL="0" indent="0">
              <a:spcAft>
                <a:spcPts val="0"/>
              </a:spcAft>
              <a:buNone/>
            </a:pPr>
            <a:r>
              <a:rPr sz="1400">
                <a:solidFill>
                  <a:schemeClr val="tx1"/>
                </a:solidFill>
              </a:rPr>
              <a:t>Confirm applicable requirements, safety advice, eligible categories, handling, collection, incident procedures and a separate budget. No approval or readiness is claimed.</a:t>
            </a:r>
          </a:p>
        </p:txBody>
      </p:sp>
      <p:sp>
        <p:nvSpPr>
          <p:cNvPr id="25" name="Slide Number Placeholder 0">
            <a:extLst xmlns:a="http://schemas.openxmlformats.org/drawingml/2006/main">
              <a:ext uri="{FF2B5EF4-FFF2-40B4-BE49-F238E27FC236}">
                <a16:creationId xmlns:a16="http://schemas.microsoft.com/office/drawing/2014/main" id="{EE2DC2CF-3F5B-40D7-8E59-47221D6ED980}"/>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11</a:t>
            </a:fld>
            <a:endParaRPr/>
          </a:p>
        </p:txBody>
      </p:sp>
    </p:spTree>
    <p:extLst>
      <p:ext uri="{BB962C8B-B14F-4D97-AF65-F5344CB8AC3E}">
        <p14:creationId xmlns:p14="http://schemas.microsoft.com/office/powerpoint/2010/main" val="73875321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ACE3459-8D2C-42A5-873F-E80EAEECBB85}"/>
              </a:ext>
            </a:extLst>
          </p:cNvPr>
          <p:cNvSpPr>
            <a:spLocks xmlns:a="http://schemas.openxmlformats.org/drawingml/2006/main" noGrp="1"/>
          </p:cNvSpPr>
          <p:nvPr/>
        </p:nvSpPr>
        <p:spPr>
          <a:xfrm xmlns:a="http://schemas.openxmlformats.org/drawingml/2006/main">
            <a:off x="548640" y="1280160"/>
            <a:ext cx="1106424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400" b="1">
                <a:solidFill>
                  <a:schemeClr val="bg1"/>
                </a:solidFill>
              </a:rPr>
              <a:t>AgriLoop aims to turn eligible surplus into discounted sales and free donations.</a:t>
            </a:r>
            <a:endParaRPr sz="4400"/>
          </a:p>
        </p:txBody>
      </p:sp>
      <p:sp>
        <p:nvSpPr>
          <p:cNvPr id="4" name="Text 1">
            <a:extLst xmlns:a="http://schemas.openxmlformats.org/drawingml/2006/main">
              <a:ext uri="{FF2B5EF4-FFF2-40B4-BE49-F238E27FC236}">
                <a16:creationId xmlns:a16="http://schemas.microsoft.com/office/drawing/2014/main" id="{183DAA36-A2F5-475B-ABF1-A053D9AF0A89}"/>
              </a:ext>
            </a:extLst>
          </p:cNvPr>
          <p:cNvSpPr>
            <a:spLocks xmlns:a="http://schemas.openxmlformats.org/drawingml/2006/main" noGrp="1"/>
          </p:cNvSpPr>
          <p:nvPr/>
        </p:nvSpPr>
        <p:spPr>
          <a:xfrm xmlns:a="http://schemas.openxmlformats.org/drawingml/2006/main">
            <a:off x="548640" y="731520"/>
            <a:ext cx="6400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accent2"/>
                </a:solidFill>
              </a:rPr>
              <a:t>11 · CLOSING  ·  ~25 s</a:t>
            </a:r>
            <a:endParaRPr sz="1200"/>
          </a:p>
        </p:txBody>
      </p:sp>
      <p:sp>
        <p:nvSpPr>
          <p:cNvPr id="5" name="The problem">
            <a:extLst xmlns:a="http://schemas.openxmlformats.org/drawingml/2006/main">
              <a:ext uri="{FF2B5EF4-FFF2-40B4-BE49-F238E27FC236}">
                <a16:creationId xmlns:a16="http://schemas.microsoft.com/office/drawing/2014/main" id="{9631FA84-EDD2-434D-A9D2-09F30F9DB1FA}"/>
              </a:ext>
            </a:extLst>
          </p:cNvPr>
          <p:cNvSpPr>
            <a:spLocks xmlns:a="http://schemas.openxmlformats.org/drawingml/2006/main" noGrp="1"/>
          </p:cNvSpPr>
          <p:nvPr/>
        </p:nvSpPr>
        <p:spPr>
          <a:xfrm xmlns:a="http://schemas.openxmlformats.org/drawingml/2006/main">
            <a:off x="548640" y="3657600"/>
            <a:ext cx="3566160" cy="2148840"/>
          </a:xfrm>
          <a:prstGeom xmlns:a="http://schemas.openxmlformats.org/drawingml/2006/main" prst="roundRect">
            <a:avLst>
              <a:gd name="adj" fmla="val 3810"/>
            </a:avLst>
          </a:prstGeom>
          <a:solidFill xmlns:a="http://schemas.openxmlformats.org/drawingml/2006/main">
            <a:schemeClr val="tx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bg1"/>
                </a:solidFill>
              </a:rPr>
              <a:t>The problem</a:t>
            </a:r>
          </a:p>
          <a:p xmlns:a="http://schemas.openxmlformats.org/drawingml/2006/main">
            <a:pPr marL="0" indent="0">
              <a:spcAft>
                <a:spcPts val="0"/>
              </a:spcAft>
              <a:buNone/>
            </a:pPr>
            <a:r>
              <a:rPr sz="1400">
                <a:solidFill>
                  <a:schemeClr val="bg1"/>
                </a:solidFill>
              </a:rPr>
              <a:t>Unsold food and produce were reported in an earlier submission. 32.8% of Sri Lankan households experienced moderate or severe food insecurity in the 12 months preceding the 2024–25 BRIGHT survey [1].</a:t>
            </a:r>
          </a:p>
        </p:txBody>
      </p:sp>
      <p:sp>
        <p:nvSpPr>
          <p:cNvPr id="6" name="Our solution">
            <a:extLst xmlns:a="http://schemas.openxmlformats.org/drawingml/2006/main">
              <a:ext uri="{FF2B5EF4-FFF2-40B4-BE49-F238E27FC236}">
                <a16:creationId xmlns:a16="http://schemas.microsoft.com/office/drawing/2014/main" id="{FF818A2D-5493-4ABF-98C7-6A077A73E981}"/>
              </a:ext>
            </a:extLst>
          </p:cNvPr>
          <p:cNvSpPr>
            <a:spLocks xmlns:a="http://schemas.openxmlformats.org/drawingml/2006/main" noGrp="1"/>
          </p:cNvSpPr>
          <p:nvPr/>
        </p:nvSpPr>
        <p:spPr>
          <a:xfrm xmlns:a="http://schemas.openxmlformats.org/drawingml/2006/main">
            <a:off x="4297680" y="3657600"/>
            <a:ext cx="3566160" cy="2148840"/>
          </a:xfrm>
          <a:prstGeom xmlns:a="http://schemas.openxmlformats.org/drawingml/2006/main" prst="roundRect">
            <a:avLst>
              <a:gd name="adj" fmla="val 3810"/>
            </a:avLst>
          </a:prstGeom>
          <a:solidFill xmlns:a="http://schemas.openxmlformats.org/drawingml/2006/main">
            <a:schemeClr val="tx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bg1"/>
                </a:solidFill>
              </a:rPr>
              <a:t>Our solution</a:t>
            </a:r>
          </a:p>
          <a:p xmlns:a="http://schemas.openxmlformats.org/drawingml/2006/main">
            <a:pPr marL="0" indent="0">
              <a:spcAft>
                <a:spcPts val="0"/>
              </a:spcAft>
              <a:buNone/>
            </a:pPr>
            <a:r>
              <a:rPr sz="1400">
                <a:solidFill>
                  <a:schemeClr val="bg1"/>
                </a:solidFill>
              </a:rPr>
              <a:t>A proposed platform for retail and wholesale surplus, with discounted sales or free donations collected by buyers or recipients.</a:t>
            </a:r>
          </a:p>
        </p:txBody>
      </p:sp>
      <p:sp>
        <p:nvSpPr>
          <p:cNvPr id="7" name="Our ask">
            <a:extLst xmlns:a="http://schemas.openxmlformats.org/drawingml/2006/main">
              <a:ext uri="{FF2B5EF4-FFF2-40B4-BE49-F238E27FC236}">
                <a16:creationId xmlns:a16="http://schemas.microsoft.com/office/drawing/2014/main" id="{EE181797-C0D5-4B22-8547-9EABDEFA30B1}"/>
              </a:ext>
            </a:extLst>
          </p:cNvPr>
          <p:cNvSpPr>
            <a:spLocks xmlns:a="http://schemas.openxmlformats.org/drawingml/2006/main" noGrp="1"/>
          </p:cNvSpPr>
          <p:nvPr/>
        </p:nvSpPr>
        <p:spPr>
          <a:xfrm xmlns:a="http://schemas.openxmlformats.org/drawingml/2006/main">
            <a:off x="8046720" y="3657600"/>
            <a:ext cx="3566160" cy="2148840"/>
          </a:xfrm>
          <a:prstGeom xmlns:a="http://schemas.openxmlformats.org/drawingml/2006/main" prst="roundRect">
            <a:avLst>
              <a:gd name="adj" fmla="val 3810"/>
            </a:avLst>
          </a:prstGeom>
          <a:solidFill xmlns:a="http://schemas.openxmlformats.org/drawingml/2006/main">
            <a:schemeClr val="tx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bg1"/>
                </a:solidFill>
              </a:rPr>
              <a:t>Our ask</a:t>
            </a:r>
          </a:p>
          <a:p xmlns:a="http://schemas.openxmlformats.org/drawingml/2006/main">
            <a:pPr marL="0" indent="0">
              <a:spcAft>
                <a:spcPts val="0"/>
              </a:spcAft>
              <a:buNone/>
            </a:pPr>
            <a:r>
              <a:rPr sz="1400">
                <a:solidFill>
                  <a:schemeClr val="bg1"/>
                </a:solidFill>
              </a:rPr>
              <a:t>Seeking LKR 55,000 funding, vendor and recipient access for testing, and safety advice for a later live-food pilot.</a:t>
            </a:r>
          </a:p>
        </p:txBody>
      </p:sp>
      <p:sp>
        <p:nvSpPr>
          <p:cNvPr id="8" name="Text 5">
            <a:extLst xmlns:a="http://schemas.openxmlformats.org/drawingml/2006/main">
              <a:ext uri="{FF2B5EF4-FFF2-40B4-BE49-F238E27FC236}">
                <a16:creationId xmlns:a16="http://schemas.microsoft.com/office/drawing/2014/main" id="{CE3B1679-5725-4A42-B97F-0629F11E6B1F}"/>
              </a:ext>
            </a:extLst>
          </p:cNvPr>
          <p:cNvSpPr>
            <a:spLocks xmlns:a="http://schemas.openxmlformats.org/drawingml/2006/main" noGrp="1"/>
          </p:cNvSpPr>
          <p:nvPr/>
        </p:nvSpPr>
        <p:spPr>
          <a:xfrm xmlns:a="http://schemas.openxmlformats.org/drawingml/2006/main">
            <a:off x="548640" y="5943600"/>
            <a:ext cx="10972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bg2"/>
                </a:solidFill>
              </a:rPr>
              <a:t>Fade</a:t>
            </a:r>
            <a:r>
              <a:rPr sz="1400">
                <a:solidFill>
                  <a:schemeClr val="bg2"/>
                </a:solidFill>
              </a:rPr>
              <a:t>  ·  mohanuvaram123@gmail.com</a:t>
            </a:r>
            <a:endParaRPr sz="1300"/>
          </a:p>
        </p:txBody>
      </p:sp>
    </p:spTree>
    <p:extLst>
      <p:ext uri="{BB962C8B-B14F-4D97-AF65-F5344CB8AC3E}">
        <p14:creationId xmlns:p14="http://schemas.microsoft.com/office/powerpoint/2010/main" val="138330202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29AEE0E-7716-4734-BFB2-C823DF33266A}"/>
              </a:ext>
            </a:extLst>
          </p:cNvPr>
          <p:cNvSpPr>
            <a:spLocks xmlns:a="http://schemas.openxmlformats.org/drawingml/2006/main" noGrp="1"/>
          </p:cNvSpPr>
          <p:nvPr/>
        </p:nvSpPr>
        <p:spPr>
          <a:xfrm xmlns:a="http://schemas.openxmlformats.org/drawingml/2006/main">
            <a:off x="548640" y="27432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accent2"/>
                </a:solidFill>
              </a:rPr>
              <a:t>APPENDIX A · REFERENCES</a:t>
            </a:r>
            <a:endParaRPr sz="1200"/>
          </a:p>
        </p:txBody>
      </p:sp>
      <p:sp>
        <p:nvSpPr>
          <p:cNvPr id="3" name="Text 1">
            <a:extLst xmlns:a="http://schemas.openxmlformats.org/drawingml/2006/main">
              <a:ext uri="{FF2B5EF4-FFF2-40B4-BE49-F238E27FC236}">
                <a16:creationId xmlns:a16="http://schemas.microsoft.com/office/drawing/2014/main" id="{52450816-D1F1-4CE9-9D9A-4EF474BBB865}"/>
              </a:ext>
            </a:extLst>
          </p:cNvPr>
          <p:cNvSpPr>
            <a:spLocks xmlns:a="http://schemas.openxmlformats.org/drawingml/2006/main" noGrp="1"/>
          </p:cNvSpPr>
          <p:nvPr/>
        </p:nvSpPr>
        <p:spPr>
          <a:xfrm xmlns:a="http://schemas.openxmlformats.org/drawingml/2006/main">
            <a:off x="548640" y="566928"/>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tx1"/>
                </a:solidFill>
              </a:rPr>
              <a:t>References</a:t>
            </a:r>
            <a:endParaRPr sz="3400"/>
          </a:p>
        </p:txBody>
      </p:sp>
      <p:sp>
        <p:nvSpPr>
          <p:cNvPr id="5" name="References">
            <a:extLst xmlns:a="http://schemas.openxmlformats.org/drawingml/2006/main">
              <a:ext uri="{FF2B5EF4-FFF2-40B4-BE49-F238E27FC236}">
                <a16:creationId xmlns:a16="http://schemas.microsoft.com/office/drawing/2014/main" id="{4A29B779-9102-43FA-AD87-B3EC6ECF8323}"/>
              </a:ext>
            </a:extLst>
          </p:cNvPr>
          <p:cNvSpPr>
            <a:spLocks xmlns:a="http://schemas.openxmlformats.org/drawingml/2006/main" noGrp="1"/>
          </p:cNvSpPr>
          <p:nvPr/>
        </p:nvSpPr>
        <p:spPr>
          <a:xfrm xmlns:a="http://schemas.openxmlformats.org/drawingml/2006/main">
            <a:off x="548640" y="1417320"/>
            <a:ext cx="11064240" cy="4754880"/>
          </a:xfrm>
          <a:prstGeom xmlns:a="http://schemas.openxmlformats.org/drawingml/2006/main" prst="roundRect">
            <a:avLst>
              <a:gd name="adj" fmla="val 1600"/>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References (IEEE format)</a:t>
            </a:r>
          </a:p>
          <a:p xmlns:a="http://schemas.openxmlformats.org/drawingml/2006/main">
            <a:pPr marL="0" indent="0">
              <a:spcAft>
                <a:spcPts val="400"/>
              </a:spcAft>
              <a:buNone/>
            </a:pPr>
            <a:r>
              <a:rPr sz="1400">
                <a:solidFill>
                  <a:schemeClr val="tx1"/>
                </a:solidFill>
              </a:rPr>
              <a:t>[1] D. Headey et al., “Food insecurity in post-crisis Sri Lanka: Evidence from the 2024–2025 BRIGHT survey,” IFPRI, 2025, Table 2. Accessed: Oct. 18, 2026. [Online]. Available: https://cgspace.cgiar.org/server/api/core/bitstreams/3714264a-7860-4a77-b9dc-1dffb100e327/content</a:t>
            </a:r>
          </a:p>
          <a:p xmlns:a="http://schemas.openxmlformats.org/drawingml/2006/main">
            <a:pPr marL="0" indent="0">
              <a:spcAft>
                <a:spcPts val="400"/>
              </a:spcAft>
              <a:buNone/>
            </a:pPr>
            <a:r>
              <a:rPr sz="1400">
                <a:solidFill>
                  <a:schemeClr val="tx1"/>
                </a:solidFill>
              </a:rPr>
              <a:t>[2] M. Reitemeier, M. Aheeyar and P. Drechsel, “Perceptions of food waste reduction in Sri Lanka’s commercial capital, Colombo,” Sustainability, vol. 13, no. 2, art. 838, 2021, doi: 10.3390/su13020838.</a:t>
            </a:r>
          </a:p>
          <a:p xmlns:a="http://schemas.openxmlformats.org/drawingml/2006/main">
            <a:pPr marL="0" indent="0">
              <a:spcAft>
                <a:spcPts val="400"/>
              </a:spcAft>
              <a:buNone/>
            </a:pPr>
            <a:r>
              <a:rPr sz="1400">
                <a:solidFill>
                  <a:schemeClr val="tx1"/>
                </a:solidFill>
              </a:rPr>
              <a:t>[3] Too Good To Go, “Marketplace Store Terms.” Accessed: Oct. 25, 2026. [Online]. Available: https://www.toogoodtogo.com/en-us/legal/terms-and-conditions-marketplace</a:t>
            </a:r>
          </a:p>
          <a:p xmlns:a="http://schemas.openxmlformats.org/drawingml/2006/main">
            <a:pPr marL="0" indent="0">
              <a:spcAft>
                <a:spcPts val="400"/>
              </a:spcAft>
              <a:buNone/>
            </a:pPr>
            <a:r>
              <a:rPr sz="1400">
                <a:solidFill>
                  <a:schemeClr val="tx1"/>
                </a:solidFill>
              </a:rPr>
              <a:t>[4] Too Good To Go, “Too Good To Go Parcels.” Accessed: Oct. 26, 2026. [Online]. Available: https://www.toogoodtogo.com/en-gb/surplus-food-parcels</a:t>
            </a:r>
          </a:p>
          <a:p xmlns:a="http://schemas.openxmlformats.org/drawingml/2006/main">
            <a:pPr marL="0" indent="0">
              <a:spcAft>
                <a:spcPts val="400"/>
              </a:spcAft>
              <a:buNone/>
            </a:pPr>
            <a:r>
              <a:rPr sz="1400">
                <a:solidFill>
                  <a:schemeClr val="tx1"/>
                </a:solidFill>
              </a:rPr>
              <a:t>[5] Robin Hood Army, “The Idea” and “Global Presence.” Accessed: Oct. 26, 2026. [Online]. Available: https://robinhoodarmy.com/</a:t>
            </a:r>
          </a:p>
          <a:p xmlns:a="http://schemas.openxmlformats.org/drawingml/2006/main">
            <a:pPr marL="0" indent="0">
              <a:spcAft>
                <a:spcPts val="400"/>
              </a:spcAft>
              <a:buNone/>
            </a:pPr>
            <a:r>
              <a:rPr sz="1400">
                <a:solidFill>
                  <a:schemeClr val="tx1"/>
                </a:solidFill>
              </a:rPr>
              <a:t>[6] Sri Lanka, Food (Hygiene) Regulations, 2011, Gazette Extraordinary No. 1742/26, Jan. 26, 2012. Accessed: Oct. 25, 2026. [Online]. Available: https://leap.unep.org/en/countries/lk/national-legislation/food-hygiene-regulations-2011</a:t>
            </a:r>
          </a:p>
          <a:p xmlns:a="http://schemas.openxmlformats.org/drawingml/2006/main">
            <a:pPr marL="0" indent="0">
              <a:spcAft>
                <a:spcPts val="400"/>
              </a:spcAft>
              <a:buNone/>
            </a:pPr>
            <a:r>
              <a:rPr sz="1400">
                <a:solidFill>
                  <a:schemeClr val="tx1"/>
                </a:solidFill>
              </a:rPr>
              <a:t>[7] Render, “Pricing” and workspace plans. Accessed: Oct. 26, 2026. https://render.com/pricing ; https://render.com/docs/platform-features-by-plan</a:t>
            </a:r>
          </a:p>
          <a:p xmlns:a="http://schemas.openxmlformats.org/drawingml/2006/main">
            <a:pPr marL="0" indent="0">
              <a:spcAft>
                <a:spcPts val="400"/>
              </a:spcAft>
              <a:buNone/>
            </a:pPr>
            <a:r>
              <a:rPr sz="1400">
                <a:solidFill>
                  <a:schemeClr val="tx1"/>
                </a:solidFill>
              </a:rPr>
              <a:t>[8] United Nations, “Goal 12: Ensure sustainable consumption and production patterns” (target 12.3, indicator 12.3.1). [Online]. Available: https://sdgs.un.org/goals/goal12</a:t>
            </a:r>
          </a:p>
          <a:p xmlns:a="http://schemas.openxmlformats.org/drawingml/2006/main">
            <a:pPr marL="0" indent="0">
              <a:spcAft>
                <a:spcPts val="400"/>
              </a:spcAft>
              <a:buNone/>
            </a:pPr>
            <a:r>
              <a:rPr sz="1400">
                <a:solidFill>
                  <a:schemeClr val="tx1"/>
                </a:solidFill>
              </a:rPr>
              <a:t>[9] United Nations, “Goal 2: Zero hunger” (target 2.1, indicator 2.1.2). https://sdgs.un.org/goals/goal2</a:t>
            </a:r>
          </a:p>
          <a:p xmlns:a="http://schemas.openxmlformats.org/drawingml/2006/main">
            <a:pPr marL="0" indent="0">
              <a:spcAft>
                <a:spcPts val="400"/>
              </a:spcAft>
              <a:buNone/>
            </a:pPr>
            <a:r>
              <a:rPr sz="1400">
                <a:solidFill>
                  <a:schemeClr val="tx1"/>
                </a:solidFill>
              </a:rPr>
              <a:t>[10] Supabase, “Pricing.” Accessed: Oct. 26, 2026. https://supabase.com/pricing</a:t>
            </a:r>
          </a:p>
        </p:txBody>
      </p:sp>
      <p:sp>
        <p:nvSpPr>
          <p:cNvPr id="25" name="Slide Number Placeholder 0">
            <a:extLst xmlns:a="http://schemas.openxmlformats.org/drawingml/2006/main">
              <a:ext uri="{FF2B5EF4-FFF2-40B4-BE49-F238E27FC236}">
                <a16:creationId xmlns:a16="http://schemas.microsoft.com/office/drawing/2014/main" id="{0A90CB4E-1A14-4C5D-BC22-BE6766E042AD}"/>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13</a:t>
            </a:fld>
            <a:endParaRPr/>
          </a:p>
        </p:txBody>
      </p:sp>
    </p:spTree>
    <p:extLst>
      <p:ext uri="{BB962C8B-B14F-4D97-AF65-F5344CB8AC3E}">
        <p14:creationId xmlns:p14="http://schemas.microsoft.com/office/powerpoint/2010/main" val="178752976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4C4EE06-0651-48F6-B892-54DBD7F7B962}"/>
              </a:ext>
            </a:extLst>
          </p:cNvPr>
          <p:cNvSpPr>
            <a:spLocks xmlns:a="http://schemas.openxmlformats.org/drawingml/2006/main" noGrp="1"/>
          </p:cNvSpPr>
          <p:nvPr/>
        </p:nvSpPr>
        <p:spPr>
          <a:xfrm xmlns:a="http://schemas.openxmlformats.org/drawingml/2006/main">
            <a:off x="548640" y="27432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accent2"/>
                </a:solidFill>
              </a:rPr>
              <a:t>APPENDIX B · EVIDENCE &amp; OPEN DECISIONS</a:t>
            </a:r>
            <a:endParaRPr sz="1200"/>
          </a:p>
        </p:txBody>
      </p:sp>
      <p:sp>
        <p:nvSpPr>
          <p:cNvPr id="3" name="Text 1">
            <a:extLst xmlns:a="http://schemas.openxmlformats.org/drawingml/2006/main">
              <a:ext uri="{FF2B5EF4-FFF2-40B4-BE49-F238E27FC236}">
                <a16:creationId xmlns:a16="http://schemas.microsoft.com/office/drawing/2014/main" id="{66B99940-DB24-4DCC-B9EB-79F110A716E4}"/>
              </a:ext>
            </a:extLst>
          </p:cNvPr>
          <p:cNvSpPr>
            <a:spLocks xmlns:a="http://schemas.openxmlformats.org/drawingml/2006/main" noGrp="1"/>
          </p:cNvSpPr>
          <p:nvPr/>
        </p:nvSpPr>
        <p:spPr>
          <a:xfrm xmlns:a="http://schemas.openxmlformats.org/drawingml/2006/main">
            <a:off x="548640" y="566928"/>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tx1"/>
                </a:solidFill>
              </a:rPr>
              <a:t>Preliminary evidence and open decisions</a:t>
            </a:r>
            <a:endParaRPr sz="3400"/>
          </a:p>
        </p:txBody>
      </p:sp>
      <p:sp>
        <p:nvSpPr>
          <p:cNvPr id="5" name="Primary evidence">
            <a:extLst xmlns:a="http://schemas.openxmlformats.org/drawingml/2006/main">
              <a:ext uri="{FF2B5EF4-FFF2-40B4-BE49-F238E27FC236}">
                <a16:creationId xmlns:a16="http://schemas.microsoft.com/office/drawing/2014/main" id="{C478C1FB-A019-4C94-BE4A-50E2E2636C82}"/>
              </a:ext>
            </a:extLst>
          </p:cNvPr>
          <p:cNvSpPr>
            <a:spLocks xmlns:a="http://schemas.openxmlformats.org/drawingml/2006/main" noGrp="1"/>
          </p:cNvSpPr>
          <p:nvPr/>
        </p:nvSpPr>
        <p:spPr>
          <a:xfrm xmlns:a="http://schemas.openxmlformats.org/drawingml/2006/main">
            <a:off x="548640" y="1417320"/>
            <a:ext cx="6400800" cy="4297680"/>
          </a:xfrm>
          <a:prstGeom xmlns:a="http://schemas.openxmlformats.org/drawingml/2006/main" prst="roundRect">
            <a:avLst>
              <a:gd name="adj" fmla="val 1600"/>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Preliminary evidence: unverified</a:t>
            </a:r>
          </a:p>
          <a:p xmlns:a="http://schemas.openxmlformats.org/drawingml/2006/main">
            <a:pPr marL="0" indent="0">
              <a:spcAft>
                <a:spcPts val="300"/>
              </a:spcAft>
              <a:buNone/>
            </a:pPr>
            <a:r>
              <a:rPr sz="1400">
                <a:solidFill>
                  <a:schemeClr val="tx1"/>
                </a:solidFill>
              </a:rPr>
              <a:t>The earlier submission reported a 42-person survey and preliminary stakeholder interviews. Original responses and interview records are unavailable for verification. These findings are preliminary and require a new documented study.</a:t>
            </a:r>
          </a:p>
          <a:p xmlns:a="http://schemas.openxmlformats.org/drawingml/2006/main">
            <a:pPr marL="0" indent="0">
              <a:spcAft>
                <a:spcPts val="300"/>
              </a:spcAft>
              <a:buNone/>
            </a:pPr>
            <a:r>
              <a:rPr sz="1400" b="1">
                <a:solidFill>
                  <a:schemeClr val="tx1"/>
                </a:solidFill>
              </a:rPr>
              <a:t>Reported in the earlier submission; not independently verified: </a:t>
            </a:r>
            <a:r>
              <a:rPr sz="1400">
                <a:solidFill>
                  <a:schemeClr val="tx1"/>
                </a:solidFill>
              </a:rPr>
              <a:t>4 market vendors, 3 bakery or cafeteria managers, 2 commission agents, 1 driver and 1 kitchen coordinator were interviewed; 15–30 unsold bakery items; 40–70 kg/day of market discards. These are items and kilograms, not meals, and not all is eligible for redistribution.</a:t>
            </a:r>
          </a:p>
          <a:p xmlns:a="http://schemas.openxmlformats.org/drawingml/2006/main">
            <a:pPr marL="0" indent="0">
              <a:spcAft>
                <a:spcPts val="0"/>
              </a:spcAft>
              <a:buNone/>
            </a:pPr>
            <a:r>
              <a:rPr sz="1400">
                <a:solidFill>
                  <a:schemeClr val="tx1"/>
                </a:solidFill>
              </a:rPr>
              <a:t>Willingness expressed in interviews is not a partnership, commitment or proven demand.</a:t>
            </a:r>
          </a:p>
        </p:txBody>
      </p:sp>
      <p:sp>
        <p:nvSpPr>
          <p:cNvPr id="6" name="Secondary sources">
            <a:extLst xmlns:a="http://schemas.openxmlformats.org/drawingml/2006/main">
              <a:ext uri="{FF2B5EF4-FFF2-40B4-BE49-F238E27FC236}">
                <a16:creationId xmlns:a16="http://schemas.microsoft.com/office/drawing/2014/main" id="{D2E582B9-0C41-468F-B1D5-EC096B256B76}"/>
              </a:ext>
            </a:extLst>
          </p:cNvPr>
          <p:cNvSpPr>
            <a:spLocks xmlns:a="http://schemas.openxmlformats.org/drawingml/2006/main" noGrp="1"/>
          </p:cNvSpPr>
          <p:nvPr/>
        </p:nvSpPr>
        <p:spPr>
          <a:xfrm xmlns:a="http://schemas.openxmlformats.org/drawingml/2006/main">
            <a:off x="7132320" y="1417320"/>
            <a:ext cx="4480560" cy="205740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Secondary sources used</a:t>
            </a:r>
          </a:p>
          <a:p xmlns:a="http://schemas.openxmlformats.org/drawingml/2006/main">
            <a:pPr marL="0" indent="0">
              <a:spcAft>
                <a:spcPts val="0"/>
              </a:spcAft>
              <a:buNone/>
            </a:pPr>
            <a:r>
              <a:rPr sz="1400">
                <a:solidFill>
                  <a:schemeClr val="tx1"/>
                </a:solidFill>
              </a:rPr>
              <a:t>BRIGHT survey [1]: Table 2, 12-month recall (the report text prints 35.5% urban; we use the table value, 35.3%). Colombo study [2]: the ~42% share is cited there from earlier research.</a:t>
            </a:r>
          </a:p>
        </p:txBody>
      </p:sp>
      <p:sp>
        <p:nvSpPr>
          <p:cNvPr id="7" name="Open decisions">
            <a:extLst xmlns:a="http://schemas.openxmlformats.org/drawingml/2006/main">
              <a:ext uri="{FF2B5EF4-FFF2-40B4-BE49-F238E27FC236}">
                <a16:creationId xmlns:a16="http://schemas.microsoft.com/office/drawing/2014/main" id="{D0DB0B95-DD30-4BC8-BD5F-1C07F0A6D06D}"/>
              </a:ext>
            </a:extLst>
          </p:cNvPr>
          <p:cNvSpPr>
            <a:spLocks xmlns:a="http://schemas.openxmlformats.org/drawingml/2006/main" noGrp="1"/>
          </p:cNvSpPr>
          <p:nvPr/>
        </p:nvSpPr>
        <p:spPr>
          <a:xfrm xmlns:a="http://schemas.openxmlformats.org/drawingml/2006/main">
            <a:off x="7132320" y="3611880"/>
            <a:ext cx="4480560" cy="210312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Open decisions</a:t>
            </a:r>
          </a:p>
          <a:p xmlns:a="http://schemas.openxmlformats.org/drawingml/2006/main">
            <a:pPr marL="171450" indent="-171450">
              <a:spcAft>
                <a:spcPts val="400"/>
              </a:spcAft>
              <a:buClr>
                <a:schemeClr val="accent1"/>
              </a:buClr>
              <a:buFont typeface="Arial"/>
              <a:buChar char="•"/>
            </a:pPr>
            <a:r>
              <a:rPr sz="1400">
                <a:solidFill>
                  <a:schemeClr val="tx1"/>
                </a:solidFill>
              </a:rPr>
              <a:t>First sites and food categories</a:t>
            </a:r>
          </a:p>
          <a:p xmlns:a="http://schemas.openxmlformats.org/drawingml/2006/main">
            <a:pPr marL="171450" indent="-171450">
              <a:spcAft>
                <a:spcPts val="400"/>
              </a:spcAft>
              <a:buClr>
                <a:schemeClr val="accent1"/>
              </a:buClr>
              <a:buFont typeface="Arial"/>
              <a:buChar char="•"/>
            </a:pPr>
            <a:r>
              <a:rPr sz="1400">
                <a:solidFill>
                  <a:schemeClr val="tx1"/>
                </a:solidFill>
              </a:rPr>
              <a:t>Donations: individual access (proposed: organisations first)</a:t>
            </a:r>
          </a:p>
          <a:p xmlns:a="http://schemas.openxmlformats.org/drawingml/2006/main">
            <a:pPr marL="171450" indent="-171450">
              <a:spcAft>
                <a:spcPts val="400"/>
              </a:spcAft>
              <a:buClr>
                <a:schemeClr val="accent1"/>
              </a:buClr>
              <a:buFont typeface="Arial"/>
              <a:buChar char="•"/>
            </a:pPr>
            <a:r>
              <a:rPr sz="1400">
                <a:solidFill>
                  <a:schemeClr val="tx1"/>
                </a:solidFill>
              </a:rPr>
              <a:t>Payment, fee or subscription model</a:t>
            </a:r>
          </a:p>
          <a:p xmlns:a="http://schemas.openxmlformats.org/drawingml/2006/main">
            <a:pPr marL="171450" indent="-171450">
              <a:spcAft>
                <a:spcPts val="0"/>
              </a:spcAft>
              <a:buClr>
                <a:schemeClr val="accent1"/>
              </a:buClr>
              <a:buFont typeface="Arial"/>
              <a:buChar char="•"/>
            </a:pPr>
            <a:r>
              <a:rPr sz="1400">
                <a:solidFill>
                  <a:schemeClr val="tx1"/>
                </a:solidFill>
              </a:rPr>
              <a:t>LKR 55,000 funding gap; final stack; later pilot</a:t>
            </a:r>
          </a:p>
          <a:p xmlns:a="http://schemas.openxmlformats.org/drawingml/2006/main">
            <a:pPr marL="171450" indent="-171450">
              <a:spcAft>
                <a:spcPts val="0"/>
              </a:spcAft>
              <a:buClr>
                <a:schemeClr val="accent1"/>
              </a:buClr>
              <a:buFont typeface="Arial"/>
              <a:buChar char="•"/>
            </a:pPr>
            <a:r>
              <a:rPr sz="1400">
                <a:solidFill>
                  <a:schemeClr val="tx1"/>
                </a:solidFill>
              </a:rPr>
              <a:t>FoodLoop: identity and features need verification</a:t>
            </a:r>
          </a:p>
        </p:txBody>
      </p:sp>
      <p:sp>
        <p:nvSpPr>
          <p:cNvPr id="25" name="Slide Number Placeholder 0">
            <a:extLst xmlns:a="http://schemas.openxmlformats.org/drawingml/2006/main">
              <a:ext uri="{FF2B5EF4-FFF2-40B4-BE49-F238E27FC236}">
                <a16:creationId xmlns:a16="http://schemas.microsoft.com/office/drawing/2014/main" id="{405CF2AA-C90B-41D2-922B-0329862B9A18}"/>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14</a:t>
            </a:fld>
            <a:endParaRPr/>
          </a:p>
        </p:txBody>
      </p:sp>
    </p:spTree>
    <p:extLst>
      <p:ext uri="{BB962C8B-B14F-4D97-AF65-F5344CB8AC3E}">
        <p14:creationId xmlns:p14="http://schemas.microsoft.com/office/powerpoint/2010/main" val="231115370"/>
      </p:ext>
    </p:extLst>
  </p:cSld>
</p:sld>
</file>

<file path=ppt/theme/theme1.xml><?xml version="1.0" encoding="utf-8"?>
<a:theme xmlns:a="http://schemas.openxmlformats.org/drawingml/2006/main" name="SDG Sprints 2026">
  <a:themeElements>
    <a:clrScheme name="SDG Sprints 2026">
      <a:dk1>
        <a:srgbClr val="0F1B3D"/>
      </a:dk1>
      <a:lt1>
        <a:srgbClr val="FFFFFF"/>
      </a:lt1>
      <a:dk2>
        <a:srgbClr val="1B2B63"/>
      </a:dk2>
      <a:lt2>
        <a:srgbClr val="EEF2F8"/>
      </a:lt2>
      <a:accent1>
        <a:srgbClr val="00629B"/>
      </a:accent1>
      <a:accent2>
        <a:srgbClr val="F28C28"/>
      </a:accent2>
      <a:accent3>
        <a:srgbClr val="2E9E6B"/>
      </a:accent3>
      <a:accent4>
        <a:srgbClr val="55606E"/>
      </a:accent4>
      <a:accent5>
        <a:srgbClr val="C0392B"/>
      </a:accent5>
      <a:accent6>
        <a:srgbClr val="7B5EA7"/>
      </a:accent6>
      <a:hlink>
        <a:srgbClr val="00629B"/>
      </a:hlink>
      <a:folHlink>
        <a:srgbClr val="7B5EA7"/>
      </a:folHlink>
    </a:clrScheme>
    <a:fontScheme name="SDG Sprints 202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DG Sprints 2026">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2026-10-27T04:11:32.2330000Z</dcterms:created>
  <dcterms:modified xsi:type="dcterms:W3CDTF">2026-10-27T04:11:32.2330000Z</dcterms:modified>
</coreProperties>
</file>