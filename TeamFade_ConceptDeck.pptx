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E0CA51BC-631B-3378-6F75-90A07828F044}">
          <p14:sldIdLst>
            <p14:sldId id="257"/>
          </p14:sldIdLst>
        </p14:section>
        <p14:section name="Team" id="{FCC860D8-D894-1876-98F0-5432583646BE}">
          <p14:sldIdLst>
            <p14:sldId id="258"/>
          </p14:sldIdLst>
        </p14:section>
        <p14:section name="Problem &amp; users" id="{49AF2D2C-1555-77DD-3DF8-D299E83CFC6B}">
          <p14:sldIdLst>
            <p14:sldId id="259"/>
            <p14:sldId id="260"/>
          </p14:sldIdLst>
        </p14:section>
        <p14:section name="Solution" id="{A5BAFA85-CCB1-1635-ED14-421965B2F2CA}">
          <p14:sldIdLst>
            <p14:sldId id="261"/>
            <p14:sldId id="262"/>
          </p14:sldIdLst>
        </p14:section>
        <p14:section name="Innovation &amp; impact" id="{3A81B86C-A824-41CB-A496-6FFD6FCBB71A}">
          <p14:sldIdLst>
            <p14:sldId id="263"/>
            <p14:sldId id="264"/>
          </p14:sldIdLst>
        </p14:section>
        <p14:section name="Delivery" id="{353B46F0-B4BA-7F15-6AE2-24087A394AE6}">
          <p14:sldIdLst>
            <p14:sldId id="265"/>
            <p14:sldId id="266"/>
            <p14:sldId id="267"/>
          </p14:sldIdLst>
        </p14:section>
        <p14:section name="Close" id="{A9D881F6-E028-21FB-1D2C-84D61D5A1F5B}">
          <p14:sldIdLst>
            <p14:sldId id="268"/>
          </p14:sldIdLst>
        </p14:section>
        <p14:section name="Appendix" id="{189EC8B7-183A-B2EE-2185-F8C4CA760192}">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42" y="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7498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AgriLoop is a proposed business with a free donation channel. The project is at idea stage: nothing has been built or tested yet. Problem IDs [2.2], [12.2] and [1.3] are the registered identifiers, separate from the UN target numbers.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 timed. Three members, all second-year Software Engineering students at KDU. Mohanaram leads backend, reservation logic and testing; Manidu covers interface and usability testing; Yasith covers coordination, vendor interviews and the presentation. All three share field notes, evidence review and final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 s. State the problem in one breath. The earlier submission reported unsold food near closing time and unsold produce at wholesale markets; these findings are preliminary and a new documented study is needed. The statistics are context only: 32.8% of Sri Lankan households experienced moderate or severe food insecurity in the 12 months preceding the 2024–25 BRIGHT survey, and 35.3% of urban households on the same measure. The about-42% Colombo figure is historical and cited from earlier research. Root causes are hypotheses until measured. Outreach areas Wellawatte, Ratmalana and Panadura are proposed; nobody has been recruited yet.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 Retail buyers near closing time and bulk recipients who can collect with their own transport. Persona details are not established. Donation access is a proposed policy: approved organisations first; individual access remains an open decision. The earlier survey and interviews cannot be verified because the original records are unavailable, so they are preliminary and a new documented study is needed. Nobody has been recruited yet.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 s. Lead with the diagram. Retail bundles and wholesale produce lots go through one proposed platform to a buyer or a bulk recipient. Each transfer is a discounted sale or a free donation, with no food price and no platform fee for donations. The buyer or recipient arranges collection; AgriLoop provides no delivery. AgriLoop is a proposed business with a free donation channel. Nothing is built or tested yet.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 s. Walk the four steps left to right. One server-side stock count stops two buyers taking the last unit; a bulk request is not guaranteed stock until the vendor accepts; accepted weight can differ from requested weight. The technology is a proposal: a web app run locally on our own laptops and phones at first. The QR is only a way to show the reservation reference; the server record decides validity.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 s. Compared on 25 October 2026 using official materials. Too Good To Go sells Surprise Bags for in-store pickup with a Pick-up Code, and offers Parcels from manufacturers and wholesalers that are delivered; a donation workflow is not established from the pages we reviewed. Robin Hood Army Sri Lanka is volunteer-run free redistribution. We found no official Sri Lankan FoodLoop source; the name is shared by several unrelated projects. Where a feature is not stated we say not established, not absent. Our combination of retail and wholesale workflows, free donations and recipient collection is a proposed adaptation to test. We do not claim it is first, unique or better.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 SDG 12 (target 12.3) is primary; SDG 2 (target 2.1) is secondary. For this initial phase we measure prototype performance and learning: all four workflows shown, whether participants complete tasks independently, with help or not at all, whether they understand price or free status and collection arrangements, cancellation, expiry and partial wholesale acceptance, and stock-control tests that prevent double booking. Food collected, collection rate and savings after travel are future live-pilot measures; baselines and targets are not set. Kilograms and portions are reported separately. Simulated transfers never count as food rescued, meals provided or waste prevented.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 Every box separates what is proposed from what is known. The team will spend at most LKR 5,000 on the four-week research and prototype test, using existing laptops and phones; team labour is unpaid. These are planning allowances, not supplier quotes, and they exclude food, delivery, live-food packaging and any later pilot. The fee or subscription model is undecided; 5% is an illustration only. Real-food transfers are outside this phase.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 The project is at idea stage and the plan is prototype-first: four weeks, simulated listings, no real food. The weekly schedule is proposed and depends on recruitment. Recruitment targets are two retail vendors, one wholesale vendor, four potential individual buyers and one bulk-recipient representative; these are targets, not confirmed participants. Consenting vendors would record surplus over five trading days, including days with none; this is observation, not a commitment to redistribute it. Budget: maximum LKR 5,000 in planning allowances (travel 3,000, data and calls 750, printing 250, contingency 1,000); not supplier quotes. Team labour is unpaid.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Ratings are working estimates, not measured values. Recruitment is not secured; if wholesale or recipient access cannot be arranged we will report that limitation and keep those workflows as simulated demonstrations. Food safety likelihood is "not assessed" on purpose: no real food is used in this phase. Before any later real-food pilot we need participating vendors, eligible food categories, suitable safety advice, handling and collection procedures, incident arrangements and a separate budget. We claim no regulatory approval and no operational readiness.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 Problem, solution, ask. The problem was reported in an earlier submission and is preliminary; the statistic is from the 12 months before the 2024–25 BRIGHT survey, not a current measurement. The solution is a proposal. The ask: retail and wholesale vendors and potential recipients for interviews and prototype testing, and a food-safety advisor for a later live-food pilot. Contact: mohanuvaram123@gmail.com.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(not timed). Every [n] in the deck maps to an entry here. Competitor entries are official or first-party pages reviewed on 25 October 2026; they describe advertised features, not audited operations.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Appendix (not timed). The earlier survey and interview records are unavailable, so these findings are preliminary and need a new documented study. Secondary sources are cited with their scope and one known inconsistency in the source text.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IEEE SIGHT · SDG SPRINTS 2026  |  Solution Concept Deck</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bg2"/>
                </a:solidFill>
              </a:rPr>
              <a:t>IEEE SIGHT · SDG SPRINTS 2026  |  Solution Concept Deck</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731520"/>
            <a:ext cx="6766560" cy="320040"/>
          </a:xfrm>
          <a:prstGeom prst="rect">
            <a:avLst/>
          </a:prstGeom>
          <a:noFill/>
          <a:ln/>
        </p:spPr>
        <p:txBody>
          <a:bodyPr wrap="square" lIns="0" tIns="0" rIns="0" bIns="0" rtlCol="0" anchor="ctr"/>
          <a:lstStyle/>
          <a:p>
            <a:pPr marL="0" indent="0">
              <a:buNone/>
            </a:pPr>
            <a:r>
              <a:rPr lang="en-US" sz="1600" b="1" dirty="0">
                <a:solidFill>
                  <a:schemeClr val="accent2"/>
                </a:solidFill>
              </a:rPr>
              <a:t>IEEE SIGHT · SDG SPRINTS 2026</a:t>
            </a:r>
            <a:endParaRPr lang="en-US" sz="1600" dirty="0"/>
          </a:p>
        </p:txBody>
      </p:sp>
      <p:sp>
        <p:nvSpPr>
          <p:cNvPr id="3" name="Text 1"/>
          <p:cNvSpPr txBox="1"/>
          <p:nvPr/>
        </p:nvSpPr>
        <p:spPr>
          <a:xfrm>
            <a:off x="548640" y="1051560"/>
            <a:ext cx="6766560" cy="320040"/>
          </a:xfrm>
          <a:prstGeom prst="rect">
            <a:avLst/>
          </a:prstGeom>
          <a:noFill/>
          <a:ln/>
        </p:spPr>
        <p:txBody>
          <a:bodyPr wrap="square" lIns="0" tIns="0" rIns="0" bIns="0" rtlCol="0" anchor="ctr"/>
          <a:lstStyle/>
          <a:p>
            <a:pPr marL="0" indent="0">
              <a:buNone/>
            </a:pPr>
            <a:r>
              <a:rPr lang="en-US" sz="1400" dirty="0">
                <a:solidFill>
                  <a:schemeClr val="bg2"/>
                </a:solidFill>
              </a:rPr>
              <a:t>SOLUTION CONCEPT DECK  ·  CHECKPOINT 3</a:t>
            </a:r>
            <a:endParaRPr lang="en-US" sz="1400" dirty="0"/>
          </a:p>
        </p:txBody>
      </p:sp>
      <p:sp>
        <p:nvSpPr>
          <p:cNvPr id="4" name="Text 2"/>
          <p:cNvSpPr/>
          <p:nvPr/>
        </p:nvSpPr>
        <p:spPr>
          <a:xfrm>
            <a:off x="548640" y="1463040"/>
            <a:ext cx="6766560" cy="2194560"/>
          </a:xfrm>
          <a:prstGeom prst="rect">
            <a:avLst/>
          </a:prstGeom>
          <a:noFill/>
          <a:ln/>
        </p:spPr>
        <p:txBody>
          <a:bodyPr wrap="square" lIns="0" tIns="0" rIns="0" bIns="0" rtlCol="0" anchor="t"/>
          <a:lstStyle/>
          <a:p>
            <a:pPr marL="0" indent="0">
              <a:buNone/>
            </a:pPr>
            <a:r>
              <a:rPr lang="en-US" sz="4400" b="1" dirty="0">
                <a:solidFill>
                  <a:schemeClr val="bg1"/>
                </a:solidFill>
              </a:rPr>
              <a:t>AgriLoop</a:t>
            </a:r>
            <a:endParaRPr lang="en-US" sz="4400" dirty="0"/>
          </a:p>
        </p:txBody>
      </p:sp>
      <p:sp>
        <p:nvSpPr>
          <p:cNvPr id="5" name="Text 3"/>
          <p:cNvSpPr txBox="1"/>
          <p:nvPr/>
        </p:nvSpPr>
        <p:spPr>
          <a:xfrm>
            <a:off x="548640" y="3840480"/>
            <a:ext cx="6766560" cy="1097280"/>
          </a:xfrm>
          <a:prstGeom prst="rect">
            <a:avLst/>
          </a:prstGeom>
          <a:noFill/>
          <a:ln/>
        </p:spPr>
        <p:txBody>
          <a:bodyPr wrap="square" lIns="0" tIns="0" rIns="0" bIns="0" rtlCol="0" anchor="t"/>
          <a:lstStyle/>
          <a:p>
            <a:pPr marL="0" indent="0">
              <a:buNone/>
            </a:pPr>
            <a:r>
              <a:rPr lang="en-US" sz="1800" i="1" dirty="0">
                <a:solidFill>
                  <a:schemeClr val="bg2"/>
                </a:solidFill>
              </a:rPr>
              <a:t>A proposed business with a free donation channel, helping retail and wholesale vendors offer eligible surplus for discounted sale or free donation, collected by the buyer or recipient.</a:t>
            </a:r>
            <a:endParaRPr lang="en-US" sz="1800" dirty="0"/>
          </a:p>
        </p:txBody>
      </p:sp>
      <p:sp>
        <p:nvSpPr>
          <p:cNvPr id="6" name="Logo area"/>
          <p:cNvSpPr/>
          <p:nvPr/>
        </p:nvSpPr>
        <p:spPr>
          <a:xfrm>
            <a:off x="548640" y="5486400"/>
            <a:ext cx="6766560" cy="640080"/>
          </a:xfrm>
          <a:prstGeom prst="roundRect">
            <a:avLst>
              <a:gd name="adj" fmla="val 11429"/>
            </a:avLst>
          </a:prstGeom>
          <a:noFill/>
          <a:ln w="12700">
            <a:solidFill>
              <a:srgbClr val="8FA3C7"/>
            </a:solidFill>
            <a:prstDash val="dash"/>
          </a:ln>
        </p:spPr>
        <p:txBody>
          <a:bodyPr wrap="square" rtlCol="0" anchor="ctr"/>
          <a:lstStyle/>
          <a:p>
            <a:pPr marL="0" indent="0" algn="ctr">
              <a:buNone/>
            </a:pPr>
            <a:r>
              <a:rPr lang="en-US" sz="1200" dirty="0">
                <a:solidFill>
                  <a:schemeClr val="bg2"/>
                </a:solidFill>
              </a:rPr>
              <a:t>“Small acts, when multiplied by millions of people, can transform the world”  –  Howard Zinn  –</a:t>
            </a:r>
          </a:p>
        </p:txBody>
      </p:sp>
      <p:sp>
        <p:nvSpPr>
          <p:cNvPr id="7" name="Cover details"/>
          <p:cNvSpPr/>
          <p:nvPr/>
        </p:nvSpPr>
        <p:spPr>
          <a:xfrm>
            <a:off x="7863840" y="731520"/>
            <a:ext cx="3794760" cy="5394960"/>
          </a:xfrm>
          <a:prstGeom prst="roundRect">
            <a:avLst>
              <a:gd name="adj" fmla="val 1928"/>
            </a:avLst>
          </a:prstGeom>
          <a:solidFill>
            <a:schemeClr val="bg1"/>
          </a:solidFill>
          <a:ln/>
        </p:spPr>
        <p:txBody>
          <a:bodyPr wrap="square" lIns="203200" tIns="203200" rIns="203200" bIns="203200" rtlCol="0" anchor="t"/>
          <a:lstStyle/>
          <a:p>
            <a:pPr marL="0" indent="0">
              <a:spcAft>
                <a:spcPts val="0"/>
              </a:spcAft>
              <a:buNone/>
            </a:pPr>
            <a:r>
              <a:rPr lang="en-US" sz="1200" b="1" dirty="0">
                <a:solidFill>
                  <a:schemeClr val="accent1"/>
                </a:solidFill>
              </a:rPr>
              <a:t>Team name</a:t>
            </a:r>
          </a:p>
          <a:p>
            <a:pPr marL="0" indent="0">
              <a:spcAft>
                <a:spcPts val="900"/>
              </a:spcAft>
              <a:buNone/>
            </a:pPr>
            <a:r>
              <a:rPr lang="en-US" sz="1400" dirty="0">
                <a:solidFill>
                  <a:schemeClr val="tx1"/>
                </a:solidFill>
              </a:rPr>
              <a:t>Team Fade</a:t>
            </a:r>
          </a:p>
          <a:p>
            <a:pPr marL="0" indent="0">
              <a:spcAft>
                <a:spcPts val="0"/>
              </a:spcAft>
              <a:buNone/>
            </a:pPr>
            <a:r>
              <a:rPr lang="en-US" sz="1200" b="1" dirty="0">
                <a:solidFill>
                  <a:schemeClr val="accent1"/>
                </a:solidFill>
              </a:rPr>
              <a:t>University</a:t>
            </a:r>
          </a:p>
          <a:p>
            <a:pPr marL="0" indent="0">
              <a:spcAft>
                <a:spcPts val="900"/>
              </a:spcAft>
              <a:buNone/>
            </a:pPr>
            <a:r>
              <a:rPr lang="en-US" sz="1400" dirty="0">
                <a:solidFill>
                  <a:schemeClr val="tx1"/>
                </a:solidFill>
              </a:rPr>
              <a:t>General Sir John Kotelawala Defense University</a:t>
            </a:r>
          </a:p>
          <a:p>
            <a:pPr marL="0" indent="0">
              <a:spcAft>
                <a:spcPts val="0"/>
              </a:spcAft>
              <a:buNone/>
            </a:pPr>
            <a:r>
              <a:rPr lang="en-US" sz="1200" b="1" dirty="0">
                <a:solidFill>
                  <a:schemeClr val="accent1"/>
                </a:solidFill>
              </a:rPr>
              <a:t>Problem statement ID</a:t>
            </a:r>
          </a:p>
          <a:p>
            <a:pPr marL="0" indent="0">
              <a:spcAft>
                <a:spcPts val="900"/>
              </a:spcAft>
              <a:buNone/>
            </a:pPr>
            <a:r>
              <a:rPr lang="en-US" sz="1400" dirty="0">
                <a:solidFill>
                  <a:schemeClr val="tx1"/>
                </a:solidFill>
              </a:rPr>
              <a:t>[2.2], [12.2], [1.3] (as registered)</a:t>
            </a:r>
          </a:p>
          <a:p>
            <a:pPr marL="0" indent="0">
              <a:spcAft>
                <a:spcPts val="0"/>
              </a:spcAft>
              <a:buNone/>
            </a:pPr>
            <a:r>
              <a:rPr lang="en-US" sz="1200" b="1" dirty="0">
                <a:solidFill>
                  <a:schemeClr val="accent1"/>
                </a:solidFill>
              </a:rPr>
              <a:t>SDG(s) addressed</a:t>
            </a:r>
          </a:p>
          <a:p>
            <a:pPr marL="0" indent="0">
              <a:spcAft>
                <a:spcPts val="900"/>
              </a:spcAft>
              <a:buNone/>
            </a:pPr>
            <a:r>
              <a:rPr lang="en-US" sz="1400" dirty="0">
                <a:solidFill>
                  <a:schemeClr val="tx1"/>
                </a:solidFill>
              </a:rPr>
              <a:t>SDG 12 (target 12.3) and SDG 2 (target 2.1)</a:t>
            </a:r>
          </a:p>
          <a:p>
            <a:pPr marL="0" indent="0">
              <a:spcAft>
                <a:spcPts val="0"/>
              </a:spcAft>
              <a:buNone/>
            </a:pPr>
            <a:r>
              <a:rPr lang="en-US" sz="1200" b="1" dirty="0">
                <a:solidFill>
                  <a:schemeClr val="accent1"/>
                </a:solidFill>
              </a:rPr>
              <a:t>Submission no.</a:t>
            </a:r>
          </a:p>
          <a:p>
            <a:pPr marL="0" indent="0">
              <a:spcAft>
                <a:spcPts val="900"/>
              </a:spcAft>
              <a:buNone/>
            </a:pPr>
            <a:r>
              <a:rPr lang="en-US" sz="1400" dirty="0">
                <a:solidFill>
                  <a:schemeClr val="tx1"/>
                </a:solidFill>
              </a:rPr>
              <a:t>1</a:t>
            </a:r>
          </a:p>
          <a:p>
            <a:pPr marL="0" indent="0">
              <a:spcAft>
                <a:spcPts val="0"/>
              </a:spcAft>
              <a:buNone/>
            </a:pPr>
            <a:r>
              <a:rPr lang="en-US" sz="1200" b="1" dirty="0">
                <a:solidFill>
                  <a:schemeClr val="accent1"/>
                </a:solidFill>
              </a:rPr>
              <a:t>Team leader</a:t>
            </a:r>
          </a:p>
          <a:p>
            <a:pPr marL="0" indent="0">
              <a:spcAft>
                <a:spcPts val="900"/>
              </a:spcAft>
              <a:buNone/>
            </a:pPr>
            <a:r>
              <a:rPr lang="en-US" sz="1400" dirty="0">
                <a:solidFill>
                  <a:schemeClr val="tx1"/>
                </a:solidFill>
              </a:rPr>
              <a:t>Mohanaram Uvaram</a:t>
            </a:r>
          </a:p>
          <a:p>
            <a:pPr marL="0" indent="0">
              <a:spcAft>
                <a:spcPts val="0"/>
              </a:spcAft>
              <a:buNone/>
            </a:pPr>
            <a:r>
              <a:rPr lang="en-US" sz="1200" b="1" dirty="0">
                <a:solidFill>
                  <a:schemeClr val="accent1"/>
                </a:solidFill>
              </a:rPr>
              <a:t>Date of submission</a:t>
            </a:r>
          </a:p>
          <a:p>
            <a:pPr marL="0" indent="0">
              <a:spcAft>
                <a:spcPts val="900"/>
              </a:spcAft>
              <a:buNone/>
            </a:pPr>
            <a:r>
              <a:rPr lang="en-US" sz="1400" dirty="0">
                <a:solidFill>
                  <a:schemeClr val="tx1"/>
                </a:solidFill>
              </a:rPr>
              <a:t>25.10.2026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01 · TEAM</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Team &amp; mentors</a:t>
            </a:r>
            <a:endParaRPr lang="en-US" sz="3400" dirty="0"/>
          </a:p>
        </p:txBody>
      </p:sp>
      <p:sp>
        <p:nvSpPr>
          <p:cNvPr id="5" name="Member card 1"/>
          <p:cNvSpPr/>
          <p:nvPr/>
        </p:nvSpPr>
        <p:spPr>
          <a:xfrm>
            <a:off x="548640" y="1463040"/>
            <a:ext cx="3566160" cy="1874519"/>
          </a:xfrm>
          <a:prstGeom prst="roundRect">
            <a:avLst>
              <a:gd name="adj" fmla="val 3478"/>
            </a:avLst>
          </a:prstGeom>
          <a:solidFill>
            <a:schemeClr val="bg2"/>
          </a:solidFill>
          <a:ln/>
        </p:spPr>
        <p:txBody>
          <a:bodyPr/>
          <a:lstStyle/>
          <a:p>
            <a:endParaRPr/>
          </a:p>
        </p:txBody>
      </p:sp>
      <p:sp>
        <p:nvSpPr>
          <p:cNvPr id="7" name="Text 4"/>
          <p:cNvSpPr txBox="1"/>
          <p:nvPr/>
        </p:nvSpPr>
        <p:spPr>
          <a:xfrm>
            <a:off x="731520" y="1600200"/>
            <a:ext cx="3246120" cy="1645920"/>
          </a:xfrm>
          <a:prstGeom prst="rect">
            <a:avLst/>
          </a:prstGeom>
          <a:noFill/>
          <a:ln/>
        </p:spPr>
        <p:txBody>
          <a:bodyPr wrap="square" lIns="18288" tIns="18288" rIns="18288" bIns="18288" rtlCol="0" anchor="t"/>
          <a:lstStyle/>
          <a:p>
            <a:pPr marL="0" indent="0">
              <a:spcAft>
                <a:spcPts val="100"/>
              </a:spcAft>
              <a:buNone/>
            </a:pPr>
            <a:r>
              <a:rPr lang="en-US" sz="1400" b="1" dirty="0">
                <a:solidFill>
                  <a:schemeClr val="tx2"/>
                </a:solidFill>
              </a:rPr>
              <a:t>Mohanaram Uvaram</a:t>
            </a:r>
          </a:p>
          <a:p>
            <a:pPr marL="0" indent="0">
              <a:spcAft>
                <a:spcPts val="200"/>
              </a:spcAft>
              <a:buNone/>
            </a:pPr>
            <a:r>
              <a:rPr lang="en-US" sz="1400" b="1" dirty="0">
                <a:solidFill>
                  <a:schemeClr val="accent1"/>
                </a:solidFill>
              </a:rPr>
              <a:t>Team leader</a:t>
            </a:r>
          </a:p>
          <a:p>
            <a:pPr marL="0" indent="0">
              <a:spcAft>
                <a:spcPts val="200"/>
              </a:spcAft>
              <a:buNone/>
            </a:pPr>
            <a:r>
              <a:rPr lang="en-US" sz="1400" dirty="0">
                <a:solidFill>
                  <a:schemeClr val="tx1"/>
                </a:solidFill>
              </a:rPr>
              <a:t>Backend, reservation logic, testing</a:t>
            </a:r>
          </a:p>
          <a:p>
            <a:pPr marL="0" indent="0">
              <a:spcAft>
                <a:spcPts val="0"/>
              </a:spcAft>
              <a:buNone/>
            </a:pPr>
            <a:r>
              <a:rPr lang="en-US" sz="1400" dirty="0">
                <a:solidFill>
                  <a:schemeClr val="accent4"/>
                </a:solidFill>
              </a:rPr>
              <a:t>KDU · Software Engineering · Year 2</a:t>
            </a:r>
          </a:p>
        </p:txBody>
      </p:sp>
      <p:sp>
        <p:nvSpPr>
          <p:cNvPr id="8" name="Member card 2"/>
          <p:cNvSpPr/>
          <p:nvPr/>
        </p:nvSpPr>
        <p:spPr>
          <a:xfrm>
            <a:off x="4297680" y="1463040"/>
            <a:ext cx="3566160" cy="1874519"/>
          </a:xfrm>
          <a:prstGeom prst="roundRect">
            <a:avLst>
              <a:gd name="adj" fmla="val 3478"/>
            </a:avLst>
          </a:prstGeom>
          <a:solidFill>
            <a:schemeClr val="bg2"/>
          </a:solidFill>
          <a:ln/>
        </p:spPr>
        <p:txBody>
          <a:bodyPr/>
          <a:lstStyle/>
          <a:p>
            <a:endParaRPr/>
          </a:p>
        </p:txBody>
      </p:sp>
      <p:sp>
        <p:nvSpPr>
          <p:cNvPr id="10" name="Text 7"/>
          <p:cNvSpPr txBox="1"/>
          <p:nvPr/>
        </p:nvSpPr>
        <p:spPr>
          <a:xfrm>
            <a:off x="4480560" y="1600200"/>
            <a:ext cx="3246120" cy="1645920"/>
          </a:xfrm>
          <a:prstGeom prst="rect">
            <a:avLst/>
          </a:prstGeom>
          <a:noFill/>
          <a:ln/>
        </p:spPr>
        <p:txBody>
          <a:bodyPr wrap="square" lIns="18288" tIns="18288" rIns="18288" bIns="18288" rtlCol="0" anchor="t"/>
          <a:lstStyle/>
          <a:p>
            <a:pPr marL="0" indent="0">
              <a:spcAft>
                <a:spcPts val="100"/>
              </a:spcAft>
              <a:buNone/>
            </a:pPr>
            <a:r>
              <a:rPr lang="en-US" sz="1400" b="1" dirty="0">
                <a:solidFill>
                  <a:schemeClr val="tx2"/>
                </a:solidFill>
              </a:rPr>
              <a:t>Manidu Samaranayake</a:t>
            </a:r>
          </a:p>
          <a:p>
            <a:pPr marL="0" indent="0">
              <a:spcAft>
                <a:spcPts val="200"/>
              </a:spcAft>
              <a:buNone/>
            </a:pPr>
            <a:r>
              <a:rPr lang="en-US" sz="1400" b="1" dirty="0">
                <a:solidFill>
                  <a:schemeClr val="accent1"/>
                </a:solidFill>
              </a:rPr>
              <a:t>Team member</a:t>
            </a:r>
          </a:p>
          <a:p>
            <a:pPr marL="0" indent="0">
              <a:spcAft>
                <a:spcPts val="200"/>
              </a:spcAft>
              <a:buNone/>
            </a:pPr>
            <a:r>
              <a:rPr lang="en-US" sz="1400" dirty="0">
                <a:solidFill>
                  <a:schemeClr val="tx1"/>
                </a:solidFill>
              </a:rPr>
              <a:t>Interface and usability testing</a:t>
            </a:r>
          </a:p>
          <a:p>
            <a:pPr marL="0" indent="0">
              <a:spcAft>
                <a:spcPts val="0"/>
              </a:spcAft>
              <a:buNone/>
            </a:pPr>
            <a:r>
              <a:rPr lang="en-US" sz="1400" dirty="0">
                <a:solidFill>
                  <a:schemeClr val="accent4"/>
                </a:solidFill>
              </a:rPr>
              <a:t>KDU · Software Engineering · Year 2</a:t>
            </a:r>
          </a:p>
        </p:txBody>
      </p:sp>
      <p:sp>
        <p:nvSpPr>
          <p:cNvPr id="11" name="Member card 3"/>
          <p:cNvSpPr/>
          <p:nvPr/>
        </p:nvSpPr>
        <p:spPr>
          <a:xfrm>
            <a:off x="8046720" y="1463040"/>
            <a:ext cx="3566160" cy="1874519"/>
          </a:xfrm>
          <a:prstGeom prst="roundRect">
            <a:avLst>
              <a:gd name="adj" fmla="val 3478"/>
            </a:avLst>
          </a:prstGeom>
          <a:solidFill>
            <a:schemeClr val="bg2"/>
          </a:solidFill>
          <a:ln/>
        </p:spPr>
        <p:txBody>
          <a:bodyPr/>
          <a:lstStyle/>
          <a:p>
            <a:endParaRPr/>
          </a:p>
        </p:txBody>
      </p:sp>
      <p:sp>
        <p:nvSpPr>
          <p:cNvPr id="13" name="Text 10"/>
          <p:cNvSpPr txBox="1"/>
          <p:nvPr/>
        </p:nvSpPr>
        <p:spPr>
          <a:xfrm>
            <a:off x="8229600" y="1600200"/>
            <a:ext cx="3246120" cy="1645920"/>
          </a:xfrm>
          <a:prstGeom prst="rect">
            <a:avLst/>
          </a:prstGeom>
          <a:noFill/>
          <a:ln/>
        </p:spPr>
        <p:txBody>
          <a:bodyPr wrap="square" lIns="18288" tIns="18288" rIns="18288" bIns="18288" rtlCol="0" anchor="t"/>
          <a:lstStyle/>
          <a:p>
            <a:pPr marL="0" indent="0">
              <a:spcAft>
                <a:spcPts val="100"/>
              </a:spcAft>
              <a:buNone/>
            </a:pPr>
            <a:r>
              <a:rPr lang="en-US" sz="1400" b="1" dirty="0">
                <a:solidFill>
                  <a:schemeClr val="tx2"/>
                </a:solidFill>
              </a:rPr>
              <a:t>Yasith Peiris</a:t>
            </a:r>
          </a:p>
          <a:p>
            <a:pPr marL="0" indent="0">
              <a:spcAft>
                <a:spcPts val="200"/>
              </a:spcAft>
              <a:buNone/>
            </a:pPr>
            <a:r>
              <a:rPr lang="en-US" sz="1400" b="1" dirty="0">
                <a:solidFill>
                  <a:schemeClr val="accent1"/>
                </a:solidFill>
              </a:rPr>
              <a:t>Team member</a:t>
            </a:r>
          </a:p>
          <a:p>
            <a:pPr marL="0" indent="0">
              <a:spcAft>
                <a:spcPts val="200"/>
              </a:spcAft>
              <a:buNone/>
            </a:pPr>
            <a:r>
              <a:rPr lang="en-US" sz="1400" dirty="0">
                <a:solidFill>
                  <a:schemeClr val="tx1"/>
                </a:solidFill>
              </a:rPr>
              <a:t>Coordination, vendor interviews, presentation</a:t>
            </a:r>
          </a:p>
          <a:p>
            <a:pPr marL="0" indent="0">
              <a:spcAft>
                <a:spcPts val="0"/>
              </a:spcAft>
              <a:buNone/>
            </a:pPr>
            <a:r>
              <a:rPr lang="en-US" sz="1400" dirty="0">
                <a:solidFill>
                  <a:schemeClr val="accent4"/>
                </a:solidFill>
              </a:rPr>
              <a:t>KDU · Software Engineering · Year 2</a:t>
            </a:r>
          </a:p>
        </p:txBody>
      </p:sp>
      <p:sp>
        <p:nvSpPr>
          <p:cNvPr id="20" name="University / faculty"/>
          <p:cNvSpPr/>
          <p:nvPr/>
        </p:nvSpPr>
        <p:spPr>
          <a:xfrm>
            <a:off x="548640" y="4663440"/>
            <a:ext cx="5440680" cy="1280160"/>
          </a:xfrm>
          <a:prstGeom prst="roundRect">
            <a:avLst>
              <a:gd name="adj" fmla="val 6957"/>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University / programme</a:t>
            </a:r>
          </a:p>
          <a:p>
            <a:pPr marL="0" indent="0">
              <a:spcAft>
                <a:spcPts val="0"/>
              </a:spcAft>
              <a:buNone/>
            </a:pPr>
            <a:r>
              <a:rPr lang="en-US" sz="1400" dirty="0">
                <a:solidFill>
                  <a:schemeClr val="tx1"/>
                </a:solidFill>
              </a:rPr>
              <a:t>KDU, Software Engineering. All three members are in their second year.</a:t>
            </a:r>
          </a:p>
        </p:txBody>
      </p:sp>
      <p:sp>
        <p:nvSpPr>
          <p:cNvPr id="21" name="Mentor / supervisor"/>
          <p:cNvSpPr/>
          <p:nvPr/>
        </p:nvSpPr>
        <p:spPr>
          <a:xfrm>
            <a:off x="6172200" y="4663440"/>
            <a:ext cx="5440680" cy="1280160"/>
          </a:xfrm>
          <a:prstGeom prst="roundRect">
            <a:avLst>
              <a:gd name="adj" fmla="val 6957"/>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Mentor / supervisor</a:t>
            </a:r>
          </a:p>
          <a:p>
            <a:pPr marL="0" indent="0">
              <a:spcAft>
                <a:spcPts val="0"/>
              </a:spcAft>
              <a:buNone/>
            </a:pPr>
            <a:r>
              <a:rPr lang="en-US" sz="1400" dirty="0">
                <a:solidFill>
                  <a:schemeClr val="tx1"/>
                </a:solidFill>
              </a:rPr>
              <a:t>No mentor yet. We are seeking a food-safety advisor to guide a later live-food pilot.</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
        <p:nvSpPr>
          <p:cNvPr id="26" name="Shared work"/>
          <p:cNvSpPr/>
          <p:nvPr/>
        </p:nvSpPr>
        <p:spPr>
          <a:xfrm>
            <a:off x="548640" y="3520440"/>
            <a:ext cx="11064240" cy="10058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0" indent="0">
              <a:spcAft>
                <a:spcPts val="200"/>
              </a:spcAft>
              <a:buNone/>
            </a:pPr>
            <a:r>
              <a:rPr lang="en-US" sz="1400" b="1" dirty="0">
                <a:solidFill>
                  <a:schemeClr val="tx2"/>
                </a:solidFill>
              </a:rPr>
              <a:t>All three members</a:t>
            </a:r>
          </a:p>
          <a:p>
            <a:pPr marL="0" indent="0">
              <a:spcAft>
                <a:spcPts val="0"/>
              </a:spcAft>
              <a:buNone/>
            </a:pPr>
            <a:r>
              <a:rPr lang="en-US" sz="1400" dirty="0">
                <a:solidFill>
                  <a:schemeClr val="tx1"/>
                </a:solidFill>
              </a:rPr>
              <a:t>Field notes, evidence review and final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02 · PROBLEM  ·  ~65 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The problem and our preliminary evidence</a:t>
            </a:r>
            <a:endParaRPr lang="en-US" sz="3400" dirty="0"/>
          </a:p>
        </p:txBody>
      </p:sp>
      <p:sp>
        <p:nvSpPr>
          <p:cNvPr id="5" name="Validated problem statement"/>
          <p:cNvSpPr/>
          <p:nvPr/>
        </p:nvSpPr>
        <p:spPr>
          <a:xfrm>
            <a:off x="548640" y="1417320"/>
            <a:ext cx="5760720" cy="1691640"/>
          </a:xfrm>
          <a:prstGeom prst="roundRect">
            <a:avLst>
              <a:gd name="adj" fmla="val 3404"/>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Problem statement (preliminary)</a:t>
            </a:r>
          </a:p>
          <a:p>
            <a:pPr marL="0" indent="0">
              <a:spcAft>
                <a:spcPts val="300"/>
              </a:spcAft>
              <a:buNone/>
            </a:pPr>
            <a:r>
              <a:rPr lang="en-US" sz="1400" dirty="0">
                <a:solidFill>
                  <a:schemeClr val="tx1"/>
                </a:solidFill>
              </a:rPr>
              <a:t>Team Fade's earlier submission reported unsold food near closing time and unsold produce at wholesale markets in Colombo and nearby areas.</a:t>
            </a:r>
          </a:p>
          <a:p>
            <a:pPr marL="0" indent="0">
              <a:spcAft>
                <a:spcPts val="0"/>
              </a:spcAft>
              <a:buNone/>
            </a:pPr>
            <a:r>
              <a:rPr lang="en-US" sz="1400" dirty="0">
                <a:solidFill>
                  <a:schemeClr val="tx1"/>
                </a:solidFill>
              </a:rPr>
              <a:t>A new documented study is needed to measure how much eligible surplus could reach buyers at an acceptable total cost.</a:t>
            </a:r>
          </a:p>
        </p:txBody>
      </p:sp>
      <p:sp>
        <p:nvSpPr>
          <p:cNvPr id="6" name="Who is affected, where, how many"/>
          <p:cNvSpPr/>
          <p:nvPr/>
        </p:nvSpPr>
        <p:spPr>
          <a:xfrm>
            <a:off x="548640" y="3246120"/>
            <a:ext cx="5486400" cy="1920240"/>
          </a:xfrm>
          <a:prstGeom prst="roundRect">
            <a:avLst>
              <a:gd name="adj" fmla="val 3265"/>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Who is affected, where, how many</a:t>
            </a:r>
          </a:p>
          <a:p>
            <a:pPr marL="171450" indent="-171450">
              <a:spcAft>
                <a:spcPts val="400"/>
              </a:spcAft>
              <a:buClr>
                <a:schemeClr val="accent1"/>
              </a:buClr>
              <a:buFont typeface="Arial"/>
              <a:buChar char="•"/>
            </a:pPr>
            <a:r>
              <a:rPr lang="en-US" sz="1400" dirty="0">
                <a:solidFill>
                  <a:schemeClr val="tx1"/>
                </a:solidFill>
              </a:rPr>
              <a:t>Retail buyers near bakeries and cafeterias.</a:t>
            </a:r>
          </a:p>
          <a:p>
            <a:pPr marL="171450" indent="-171450">
              <a:spcAft>
                <a:spcPts val="400"/>
              </a:spcAft>
              <a:buClr>
                <a:schemeClr val="accent1"/>
              </a:buClr>
              <a:buFont typeface="Arial"/>
              <a:buChar char="•"/>
            </a:pPr>
            <a:r>
              <a:rPr lang="en-US" sz="1400" dirty="0">
                <a:solidFill>
                  <a:schemeClr val="tx1"/>
                </a:solidFill>
              </a:rPr>
              <a:t>Wholesale kitchens, canteens and vendors with rejected produce (Peliyagoda: earlier lead, unconfirmed).</a:t>
            </a:r>
          </a:p>
          <a:p>
            <a:pPr marL="171450" indent="-171450">
              <a:spcAft>
                <a:spcPts val="0"/>
              </a:spcAft>
              <a:buClr>
                <a:schemeClr val="accent1"/>
              </a:buClr>
              <a:buFont typeface="Arial"/>
              <a:buChar char="•"/>
            </a:pPr>
            <a:r>
              <a:rPr lang="en-US" sz="1400" dirty="0">
                <a:solidFill>
                  <a:schemeClr val="tx1"/>
                </a:solidFill>
              </a:rPr>
              <a:t>Proposed outreach areas: Wellawatte, Ratmalana, Panadura. No vendors or recipients recruited yet.</a:t>
            </a:r>
          </a:p>
        </p:txBody>
      </p:sp>
      <p:sp>
        <p:nvSpPr>
          <p:cNvPr id="7" name="Stat 1"/>
          <p:cNvSpPr/>
          <p:nvPr/>
        </p:nvSpPr>
        <p:spPr>
          <a:xfrm>
            <a:off x="6400800" y="1417320"/>
            <a:ext cx="1691640" cy="1691640"/>
          </a:xfrm>
          <a:prstGeom prst="roundRect">
            <a:avLst>
              <a:gd name="adj" fmla="val 4103"/>
            </a:avLst>
          </a:prstGeom>
          <a:solidFill>
            <a:schemeClr val="bg2"/>
          </a:solidFill>
          <a:ln/>
        </p:spPr>
        <p:txBody>
          <a:bodyPr wrap="square" lIns="127000" tIns="127000" rIns="127000" bIns="127000" rtlCol="0" anchor="t"/>
          <a:lstStyle/>
          <a:p>
            <a:pPr marL="0" indent="0">
              <a:spcAft>
                <a:spcPts val="0"/>
              </a:spcAft>
              <a:buNone/>
            </a:pPr>
            <a:r>
              <a:rPr lang="en-US" sz="3200" b="1" dirty="0">
                <a:solidFill>
                  <a:schemeClr val="accent1"/>
                </a:solidFill>
              </a:rPr>
              <a:t>32.8%</a:t>
            </a:r>
          </a:p>
          <a:p>
            <a:pPr marL="0" indent="0">
              <a:spcAft>
                <a:spcPts val="200"/>
              </a:spcAft>
              <a:buNone/>
            </a:pPr>
            <a:r>
              <a:rPr lang="en-US" sz="1400" b="1" dirty="0">
                <a:solidFill>
                  <a:schemeClr val="tx2"/>
                </a:solidFill>
              </a:rPr>
              <a:t>of Sri Lankan households</a:t>
            </a:r>
          </a:p>
          <a:p>
            <a:pPr marL="0" indent="0">
              <a:spcAft>
                <a:spcPts val="0"/>
              </a:spcAft>
              <a:buNone/>
            </a:pPr>
            <a:r>
              <a:rPr lang="en-US" sz="1200" i="1" dirty="0">
                <a:solidFill>
                  <a:schemeClr val="accent4"/>
                </a:solidFill>
              </a:rPr>
              <a:t>BRIGHT 2024–25 [1]</a:t>
            </a:r>
          </a:p>
        </p:txBody>
      </p:sp>
      <p:sp>
        <p:nvSpPr>
          <p:cNvPr id="8" name="Stat 2"/>
          <p:cNvSpPr/>
          <p:nvPr/>
        </p:nvSpPr>
        <p:spPr>
          <a:xfrm>
            <a:off x="8183879" y="1417320"/>
            <a:ext cx="1691640" cy="1691640"/>
          </a:xfrm>
          <a:prstGeom prst="roundRect">
            <a:avLst>
              <a:gd name="adj" fmla="val 4103"/>
            </a:avLst>
          </a:prstGeom>
          <a:solidFill>
            <a:schemeClr val="bg2"/>
          </a:solidFill>
          <a:ln/>
        </p:spPr>
        <p:txBody>
          <a:bodyPr wrap="square" lIns="127000" tIns="127000" rIns="127000" bIns="127000" rtlCol="0" anchor="t"/>
          <a:lstStyle/>
          <a:p>
            <a:pPr marL="0" indent="0">
              <a:spcAft>
                <a:spcPts val="0"/>
              </a:spcAft>
              <a:buNone/>
            </a:pPr>
            <a:r>
              <a:rPr lang="en-US" sz="3200" b="1" dirty="0">
                <a:solidFill>
                  <a:schemeClr val="accent1"/>
                </a:solidFill>
              </a:rPr>
              <a:t>35.3%</a:t>
            </a:r>
          </a:p>
          <a:p>
            <a:pPr marL="0" indent="0">
              <a:spcAft>
                <a:spcPts val="200"/>
              </a:spcAft>
              <a:buNone/>
            </a:pPr>
            <a:r>
              <a:rPr lang="en-US" sz="1400" b="1" dirty="0">
                <a:solidFill>
                  <a:schemeClr val="tx2"/>
                </a:solidFill>
              </a:rPr>
              <a:t>of urban households</a:t>
            </a:r>
          </a:p>
          <a:p>
            <a:pPr marL="0" indent="0">
              <a:spcAft>
                <a:spcPts val="0"/>
              </a:spcAft>
              <a:buNone/>
            </a:pPr>
            <a:r>
              <a:rPr lang="en-US" sz="1200" i="1" dirty="0">
                <a:solidFill>
                  <a:schemeClr val="accent4"/>
                </a:solidFill>
              </a:rPr>
              <a:t>BRIGHT 2024–25 [1]</a:t>
            </a:r>
          </a:p>
        </p:txBody>
      </p:sp>
      <p:sp>
        <p:nvSpPr>
          <p:cNvPr id="9" name="Stat 3"/>
          <p:cNvSpPr/>
          <p:nvPr/>
        </p:nvSpPr>
        <p:spPr>
          <a:xfrm>
            <a:off x="9966960" y="1417320"/>
            <a:ext cx="1691640" cy="1691640"/>
          </a:xfrm>
          <a:prstGeom prst="roundRect">
            <a:avLst>
              <a:gd name="adj" fmla="val 4103"/>
            </a:avLst>
          </a:prstGeom>
          <a:solidFill>
            <a:schemeClr val="bg2"/>
          </a:solidFill>
          <a:ln/>
        </p:spPr>
        <p:txBody>
          <a:bodyPr wrap="square" lIns="127000" tIns="127000" rIns="127000" bIns="127000" rtlCol="0" anchor="t"/>
          <a:lstStyle/>
          <a:p>
            <a:pPr marL="0" indent="0">
              <a:spcAft>
                <a:spcPts val="0"/>
              </a:spcAft>
              <a:buNone/>
            </a:pPr>
            <a:r>
              <a:rPr lang="en-US" sz="3200" b="1" dirty="0">
                <a:solidFill>
                  <a:schemeClr val="accent1"/>
                </a:solidFill>
              </a:rPr>
              <a:t>~42%</a:t>
            </a:r>
          </a:p>
          <a:p>
            <a:pPr marL="0" indent="0">
              <a:spcAft>
                <a:spcPts val="200"/>
              </a:spcAft>
              <a:buNone/>
            </a:pPr>
            <a:r>
              <a:rPr lang="en-US" sz="1400" b="1" dirty="0">
                <a:solidFill>
                  <a:schemeClr val="tx2"/>
                </a:solidFill>
              </a:rPr>
              <a:t>of Colombo food waste</a:t>
            </a:r>
          </a:p>
          <a:p>
            <a:pPr marL="0" indent="0">
              <a:spcAft>
                <a:spcPts val="0"/>
              </a:spcAft>
              <a:buNone/>
            </a:pPr>
            <a:r>
              <a:rPr lang="en-US" sz="1200" i="1" dirty="0">
                <a:solidFill>
                  <a:schemeClr val="accent4"/>
                </a:solidFill>
              </a:rPr>
              <a:t>Colombo study [2]</a:t>
            </a:r>
          </a:p>
        </p:txBody>
      </p:sp>
      <p:sp>
        <p:nvSpPr>
          <p:cNvPr id="10" name="Root causes (top 2–3)"/>
          <p:cNvSpPr/>
          <p:nvPr/>
        </p:nvSpPr>
        <p:spPr>
          <a:xfrm>
            <a:off x="6126480" y="3246120"/>
            <a:ext cx="5486400" cy="1920240"/>
          </a:xfrm>
          <a:prstGeom prst="roundRect">
            <a:avLst>
              <a:gd name="adj" fmla="val 3265"/>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Root causes (working hypotheses, to be tested)</a:t>
            </a:r>
          </a:p>
          <a:p>
            <a:pPr marL="171450" indent="-171450">
              <a:spcAft>
                <a:spcPts val="400"/>
              </a:spcAft>
              <a:buClr>
                <a:schemeClr val="accent1"/>
              </a:buClr>
              <a:buFont typeface="Arial"/>
              <a:buChar char="•"/>
            </a:pPr>
            <a:r>
              <a:rPr lang="en-US" sz="1400" b="1" dirty="0">
                <a:solidFill>
                  <a:schemeClr val="accent1"/>
                </a:solidFill>
              </a:rPr>
              <a:t>Targeted: </a:t>
            </a:r>
            <a:r>
              <a:rPr lang="en-US" sz="1400" dirty="0">
                <a:solidFill>
                  <a:schemeClr val="tx1"/>
                </a:solidFill>
              </a:rPr>
              <a:t>arranging buyers at closing may cost more than the surplus recovers.</a:t>
            </a:r>
          </a:p>
          <a:p>
            <a:pPr marL="171450" indent="-171450">
              <a:spcAft>
                <a:spcPts val="400"/>
              </a:spcAft>
              <a:buClr>
                <a:schemeClr val="accent1"/>
              </a:buClr>
              <a:buFont typeface="Arial"/>
              <a:buChar char="•"/>
            </a:pPr>
            <a:r>
              <a:rPr lang="en-US" sz="1400" dirty="0">
                <a:solidFill>
                  <a:schemeClr val="tx1"/>
                </a:solidFill>
              </a:rPr>
              <a:t>Some food has a short usable window.</a:t>
            </a:r>
          </a:p>
          <a:p>
            <a:pPr marL="171450" indent="-171450">
              <a:spcAft>
                <a:spcPts val="0"/>
              </a:spcAft>
              <a:buClr>
                <a:schemeClr val="accent1"/>
              </a:buClr>
              <a:buFont typeface="Arial"/>
              <a:buChar char="•"/>
            </a:pPr>
            <a:r>
              <a:rPr lang="en-US" sz="1400" dirty="0">
                <a:solidFill>
                  <a:schemeClr val="tx1"/>
                </a:solidFill>
              </a:rPr>
              <a:t>Buyers and recipients may not reach pickup in time.</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a:t>
            </a:fld>
            <a:endParaRPr lang="en-US"/>
          </a:p>
        </p:txBody>
      </p:sp>
      <p:sp>
        <p:nvSpPr>
          <p:cNvPr id="26" name="Statistics context"/>
          <p:cNvSpPr/>
          <p:nvPr/>
        </p:nvSpPr>
        <p:spPr>
          <a:xfrm>
            <a:off x="548640" y="5303520"/>
            <a:ext cx="11064240" cy="960120"/>
          </a:xfrm>
          <a:prstGeom prst="roundRect">
            <a:avLst>
              <a:gd name="adj" fmla="val 1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marL="0" indent="0">
              <a:spcAft>
                <a:spcPts val="0"/>
              </a:spcAft>
              <a:buNone/>
            </a:pPr>
            <a:r>
              <a:rPr lang="en-US" sz="1400" b="1" dirty="0">
                <a:solidFill>
                  <a:schemeClr val="bg1"/>
                </a:solidFill>
              </a:rPr>
              <a:t>Historical context, not October 2026 and not our market. </a:t>
            </a:r>
            <a:r>
              <a:rPr lang="en-US" sz="1400" dirty="0">
                <a:solidFill>
                  <a:schemeClr val="bg1"/>
                </a:solidFill>
              </a:rPr>
              <a:t>32.8% of Sri Lankan households experienced moderate or severe food insecurity during the 12 months preceding the 2024–25 BRIGHT survey; 35.3% of urban households, using the same measure (BRIGHT 2024–25, Table 2; 12-month recall) [1]. The ~42% Colombo figure is cited in a study from earlier research [2]; it is not food available to AgriLoop.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03 · USERS  ·  ~45 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Who we are designing for</a:t>
            </a:r>
            <a:endParaRPr lang="en-US" sz="3400" dirty="0"/>
          </a:p>
        </p:txBody>
      </p:sp>
      <p:sp>
        <p:nvSpPr>
          <p:cNvPr id="5" name="Primary user"/>
          <p:cNvSpPr/>
          <p:nvPr/>
        </p:nvSpPr>
        <p:spPr>
          <a:xfrm>
            <a:off x="548640" y="1417320"/>
            <a:ext cx="3566160" cy="3246120"/>
          </a:xfrm>
          <a:prstGeom prst="roundRect">
            <a:avLst>
              <a:gd name="adj" fmla="val 2051"/>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Primary user</a:t>
            </a:r>
          </a:p>
          <a:p>
            <a:pPr marL="171450" indent="-171450">
              <a:spcAft>
                <a:spcPts val="400"/>
              </a:spcAft>
              <a:buClr>
                <a:schemeClr val="accent1"/>
              </a:buClr>
              <a:buFont typeface="Arial"/>
              <a:buChar char="•"/>
            </a:pPr>
            <a:r>
              <a:rPr lang="en-US" sz="1400" b="1" dirty="0">
                <a:solidFill>
                  <a:schemeClr val="tx1"/>
                </a:solidFill>
              </a:rPr>
              <a:t>Retail: </a:t>
            </a:r>
            <a:r>
              <a:rPr lang="en-US" sz="1400" dirty="0">
                <a:solidFill>
                  <a:schemeClr val="tx1"/>
                </a:solidFill>
              </a:rPr>
              <a:t>nearby buyers collecting small bundles (proposed outreach: Wellawatte, Ratmalana, Panadura).</a:t>
            </a:r>
          </a:p>
          <a:p>
            <a:pPr marL="171450" indent="-171450">
              <a:spcAft>
                <a:spcPts val="400"/>
              </a:spcAft>
              <a:buClr>
                <a:schemeClr val="accent1"/>
              </a:buClr>
              <a:buFont typeface="Arial"/>
              <a:buChar char="•"/>
            </a:pPr>
            <a:r>
              <a:rPr lang="en-US" sz="1400" b="1" dirty="0">
                <a:solidFill>
                  <a:schemeClr val="tx1"/>
                </a:solidFill>
              </a:rPr>
              <a:t>Wholesale: </a:t>
            </a:r>
            <a:r>
              <a:rPr lang="en-US" sz="1400" dirty="0">
                <a:solidFill>
                  <a:schemeClr val="tx1"/>
                </a:solidFill>
              </a:rPr>
              <a:t>kitchens, canteens and welfare homes collecting kilogram lots with their own transport.</a:t>
            </a:r>
          </a:p>
          <a:p>
            <a:pPr marL="171450" indent="-171450">
              <a:spcAft>
                <a:spcPts val="400"/>
              </a:spcAft>
              <a:buClr>
                <a:schemeClr val="accent1"/>
              </a:buClr>
              <a:buFont typeface="Arial"/>
              <a:buChar char="•"/>
            </a:pPr>
            <a:r>
              <a:rPr lang="en-US" sz="1400" b="1" dirty="0">
                <a:solidFill>
                  <a:schemeClr val="tx1"/>
                </a:solidFill>
              </a:rPr>
              <a:t>Donations: </a:t>
            </a:r>
            <a:r>
              <a:rPr lang="en-US" sz="1400" dirty="0">
                <a:solidFill>
                  <a:schemeClr val="tx1"/>
                </a:solidFill>
              </a:rPr>
              <a:t>proposed policy: approved organisations first; individual access remains an open decision.</a:t>
            </a:r>
          </a:p>
          <a:p>
            <a:pPr marL="171450" indent="-171450">
              <a:spcAft>
                <a:spcPts val="0"/>
              </a:spcAft>
              <a:buClr>
                <a:schemeClr val="accent1"/>
              </a:buClr>
              <a:buFont typeface="Arial"/>
              <a:buChar char="•"/>
            </a:pPr>
            <a:r>
              <a:rPr lang="en-US" sz="1400" dirty="0">
                <a:solidFill>
                  <a:schemeClr val="tx1"/>
                </a:solidFill>
              </a:rPr>
              <a:t>Age, income and phone access: not established.</a:t>
            </a:r>
          </a:p>
        </p:txBody>
      </p:sp>
      <p:sp>
        <p:nvSpPr>
          <p:cNvPr id="6" name="Current practice &amp; pain points"/>
          <p:cNvSpPr/>
          <p:nvPr/>
        </p:nvSpPr>
        <p:spPr>
          <a:xfrm>
            <a:off x="4297680" y="1417320"/>
            <a:ext cx="3566160" cy="3246120"/>
          </a:xfrm>
          <a:prstGeom prst="roundRect">
            <a:avLst>
              <a:gd name="adj" fmla="val 2051"/>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Current practice (reported earlier)</a:t>
            </a:r>
          </a:p>
          <a:p>
            <a:pPr marL="171450" indent="-171450">
              <a:spcAft>
                <a:spcPts val="400"/>
              </a:spcAft>
              <a:buClr>
                <a:schemeClr val="accent1"/>
              </a:buClr>
              <a:buFont typeface="Arial"/>
              <a:buChar char="•"/>
            </a:pPr>
            <a:r>
              <a:rPr lang="en-US" sz="1400" b="1" dirty="0">
                <a:solidFill>
                  <a:schemeClr val="tx1"/>
                </a:solidFill>
              </a:rPr>
              <a:t>Vendors: </a:t>
            </a:r>
            <a:r>
              <a:rPr lang="en-US" sz="1400" dirty="0">
                <a:solidFill>
                  <a:schemeClr val="tx1"/>
                </a:solidFill>
              </a:rPr>
              <a:t>discount, donate, give to staff or discard at closing.</a:t>
            </a:r>
          </a:p>
          <a:p>
            <a:pPr marL="171450" indent="-171450">
              <a:spcAft>
                <a:spcPts val="400"/>
              </a:spcAft>
              <a:buClr>
                <a:schemeClr val="accent1"/>
              </a:buClr>
              <a:buFont typeface="Arial"/>
              <a:buChar char="•"/>
            </a:pPr>
            <a:r>
              <a:rPr lang="en-US" sz="1400" b="1" dirty="0">
                <a:solidFill>
                  <a:schemeClr val="tx1"/>
                </a:solidFill>
              </a:rPr>
              <a:t>Wholesalers: </a:t>
            </a:r>
            <a:r>
              <a:rPr lang="en-US" sz="1400" dirty="0">
                <a:solidFill>
                  <a:schemeClr val="tx1"/>
                </a:solidFill>
              </a:rPr>
              <a:t>rejected or unsold produce has no quick buyer.</a:t>
            </a:r>
          </a:p>
          <a:p>
            <a:pPr marL="171450" indent="-171450">
              <a:spcAft>
                <a:spcPts val="400"/>
              </a:spcAft>
              <a:buClr>
                <a:schemeClr val="accent1"/>
              </a:buClr>
              <a:buFont typeface="Arial"/>
              <a:buChar char="•"/>
            </a:pPr>
            <a:r>
              <a:rPr lang="en-US" sz="1400" b="1" dirty="0">
                <a:solidFill>
                  <a:schemeClr val="tx1"/>
                </a:solidFill>
              </a:rPr>
              <a:t>Buyers: </a:t>
            </a:r>
            <a:r>
              <a:rPr lang="en-US" sz="1400" dirty="0">
                <a:solidFill>
                  <a:schemeClr val="tx1"/>
                </a:solidFill>
              </a:rPr>
              <a:t>cannot see what is left or reach the vendor in time.</a:t>
            </a:r>
          </a:p>
          <a:p>
            <a:pPr marL="0" indent="0">
              <a:spcAft>
                <a:spcPts val="0"/>
              </a:spcAft>
              <a:buNone/>
            </a:pPr>
            <a:r>
              <a:rPr lang="en-US" sz="1400" i="1" dirty="0">
                <a:solidFill>
                  <a:schemeClr val="accent4"/>
                </a:solidFill>
              </a:rPr>
              <a:t>Reported in the earlier submission; not independently verified.</a:t>
            </a:r>
          </a:p>
        </p:txBody>
      </p:sp>
      <p:sp>
        <p:nvSpPr>
          <p:cNvPr id="7" name="Other stakeholders"/>
          <p:cNvSpPr/>
          <p:nvPr/>
        </p:nvSpPr>
        <p:spPr>
          <a:xfrm>
            <a:off x="8046720" y="1417320"/>
            <a:ext cx="3566160" cy="3246120"/>
          </a:xfrm>
          <a:prstGeom prst="roundRect">
            <a:avLst>
              <a:gd name="adj" fmla="val 2051"/>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Other stakeholders</a:t>
            </a:r>
          </a:p>
          <a:p>
            <a:pPr marL="171450" indent="-171450">
              <a:spcAft>
                <a:spcPts val="400"/>
              </a:spcAft>
              <a:buClr>
                <a:schemeClr val="accent1"/>
              </a:buClr>
              <a:buFont typeface="Arial"/>
              <a:buChar char="•"/>
            </a:pPr>
            <a:r>
              <a:rPr lang="en-US" sz="1400" b="1" dirty="0">
                <a:solidFill>
                  <a:schemeClr val="tx1"/>
                </a:solidFill>
              </a:rPr>
              <a:t>Pays: </a:t>
            </a:r>
            <a:r>
              <a:rPr lang="en-US" sz="1400" dirty="0">
                <a:solidFill>
                  <a:schemeClr val="tx1"/>
                </a:solidFill>
              </a:rPr>
              <a:t>buyers (sales); vendors if a fee is chosen.</a:t>
            </a:r>
          </a:p>
          <a:p>
            <a:pPr marL="171450" indent="-171450">
              <a:spcAft>
                <a:spcPts val="400"/>
              </a:spcAft>
              <a:buClr>
                <a:schemeClr val="accent1"/>
              </a:buClr>
              <a:buFont typeface="Arial"/>
              <a:buChar char="•"/>
            </a:pPr>
            <a:r>
              <a:rPr lang="en-US" sz="1400" b="1" dirty="0">
                <a:solidFill>
                  <a:schemeClr val="tx1"/>
                </a:solidFill>
              </a:rPr>
              <a:t>Enables: </a:t>
            </a:r>
            <a:r>
              <a:rPr lang="en-US" sz="1400" dirty="0">
                <a:solidFill>
                  <a:schemeClr val="tx1"/>
                </a:solidFill>
              </a:rPr>
              <a:t>vendors, bulk recipients, a food-safety advisor.</a:t>
            </a:r>
          </a:p>
          <a:p>
            <a:pPr marL="171450" indent="-171450">
              <a:spcAft>
                <a:spcPts val="400"/>
              </a:spcAft>
              <a:buClr>
                <a:schemeClr val="accent1"/>
              </a:buClr>
              <a:buFont typeface="Arial"/>
              <a:buChar char="•"/>
            </a:pPr>
            <a:r>
              <a:rPr lang="en-US" sz="1400" b="1" dirty="0">
                <a:solidFill>
                  <a:schemeClr val="tx1"/>
                </a:solidFill>
              </a:rPr>
              <a:t>Could block: </a:t>
            </a:r>
            <a:r>
              <a:rPr lang="en-US" sz="1400" dirty="0">
                <a:solidFill>
                  <a:schemeClr val="tx1"/>
                </a:solidFill>
              </a:rPr>
              <a:t>regulators, and vendors unwilling to list.</a:t>
            </a:r>
          </a:p>
          <a:p>
            <a:pPr marL="171450" indent="-171450">
              <a:spcAft>
                <a:spcPts val="0"/>
              </a:spcAft>
              <a:buClr>
                <a:schemeClr val="accent1"/>
              </a:buClr>
              <a:buFont typeface="Arial"/>
              <a:buChar char="•"/>
            </a:pPr>
            <a:r>
              <a:rPr lang="en-US" sz="1400" dirty="0">
                <a:solidFill>
                  <a:schemeClr val="tx1"/>
                </a:solidFill>
              </a:rPr>
              <a:t>Vendors and recipients not yet recruited; donation funding not secured.</a:t>
            </a:r>
          </a:p>
        </p:txBody>
      </p:sp>
      <p:sp>
        <p:nvSpPr>
          <p:cNvPr id="8" name="User evidence"/>
          <p:cNvSpPr/>
          <p:nvPr/>
        </p:nvSpPr>
        <p:spPr>
          <a:xfrm>
            <a:off x="548640" y="4846320"/>
            <a:ext cx="11064240" cy="1188720"/>
          </a:xfrm>
          <a:prstGeom prst="roundRect">
            <a:avLst>
              <a:gd name="adj" fmla="val 8421"/>
            </a:avLst>
          </a:prstGeom>
          <a:solidFill>
            <a:schemeClr val="tx2"/>
          </a:solidFill>
          <a:ln/>
        </p:spPr>
        <p:txBody>
          <a:bodyPr wrap="square" lIns="127000" tIns="127000" rIns="127000" bIns="127000" rtlCol="0" anchor="t"/>
          <a:lstStyle/>
          <a:p>
            <a:pPr marL="0" indent="0">
              <a:spcAft>
                <a:spcPts val="400"/>
              </a:spcAft>
              <a:buNone/>
            </a:pPr>
            <a:r>
              <a:rPr lang="en-US" sz="1400" b="1" dirty="0">
                <a:solidFill>
                  <a:schemeClr val="bg1"/>
                </a:solidFill>
              </a:rPr>
              <a:t>User evidence: preliminary, unverified</a:t>
            </a:r>
          </a:p>
          <a:p>
            <a:pPr marL="0" indent="0">
              <a:spcAft>
                <a:spcPts val="0"/>
              </a:spcAft>
              <a:buNone/>
            </a:pPr>
            <a:r>
              <a:rPr lang="en-US" sz="1400" dirty="0">
                <a:solidFill>
                  <a:schemeClr val="bg2"/>
                </a:solidFill>
              </a:rPr>
              <a:t>The earlier submission reported a 42-person survey and preliminary stakeholder interviews. Original responses and interview records are unavailable for verification. These findings are preliminary and require a new documented study.</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04 · SOLUTION  ·  ~65 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Our solution</a:t>
            </a:r>
            <a:endParaRPr lang="en-US" sz="3400" dirty="0"/>
          </a:p>
        </p:txBody>
      </p:sp>
      <p:sp>
        <p:nvSpPr>
          <p:cNvPr id="5" name="Concept visual"/>
          <p:cNvSpPr/>
          <p:nvPr/>
        </p:nvSpPr>
        <p:spPr>
          <a:xfrm>
            <a:off x="548640" y="1417320"/>
            <a:ext cx="5760720" cy="4572000"/>
          </a:xfrm>
          <a:prstGeom prst="roundRect">
            <a:avLst>
              <a:gd name="adj" fmla="val 1600"/>
            </a:avLst>
          </a:prstGeom>
          <a:solidFill>
            <a:schemeClr val="bg2"/>
          </a:solidFill>
          <a:ln/>
        </p:spPr>
        <p:txBody>
          <a:bodyPr wrap="square" rtlCol="0" anchor="ctr"/>
          <a:lstStyle/>
          <a:p>
            <a:endParaRPr lang="en-US" sz="1400"/>
          </a:p>
        </p:txBody>
      </p:sp>
      <p:sp>
        <p:nvSpPr>
          <p:cNvPr id="6" name="One-sentence solution"/>
          <p:cNvSpPr/>
          <p:nvPr/>
        </p:nvSpPr>
        <p:spPr>
          <a:xfrm>
            <a:off x="6537960" y="1417320"/>
            <a:ext cx="5074920" cy="1325880"/>
          </a:xfrm>
          <a:prstGeom prst="roundRect">
            <a:avLst>
              <a:gd name="adj" fmla="val 5161"/>
            </a:avLst>
          </a:prstGeom>
          <a:solidFill>
            <a:schemeClr val="tx2"/>
          </a:solidFill>
          <a:ln/>
        </p:spPr>
        <p:txBody>
          <a:bodyPr wrap="square" lIns="127000" tIns="127000" rIns="127000" bIns="127000" rtlCol="0" anchor="t"/>
          <a:lstStyle/>
          <a:p>
            <a:pPr marL="0" indent="0">
              <a:spcAft>
                <a:spcPts val="400"/>
              </a:spcAft>
              <a:buNone/>
            </a:pPr>
            <a:r>
              <a:rPr lang="en-US" sz="1400" b="1" dirty="0">
                <a:solidFill>
                  <a:schemeClr val="bg1"/>
                </a:solidFill>
              </a:rPr>
              <a:t>One-sentence solution (proposed)</a:t>
            </a:r>
          </a:p>
          <a:p>
            <a:pPr marL="0" indent="0">
              <a:spcAft>
                <a:spcPts val="0"/>
              </a:spcAft>
              <a:buNone/>
            </a:pPr>
            <a:r>
              <a:rPr lang="en-US" sz="1400" dirty="0">
                <a:solidFill>
                  <a:schemeClr val="bg1"/>
                </a:solidFill>
              </a:rPr>
              <a:t>We help food vendors move eligible surplus to nearby buyers and recipients by listing it for discounted sale or free donation, collected by the buyer or recipient.</a:t>
            </a:r>
          </a:p>
        </p:txBody>
      </p:sp>
      <p:sp>
        <p:nvSpPr>
          <p:cNvPr id="7" name="Step 1"/>
          <p:cNvSpPr/>
          <p:nvPr/>
        </p:nvSpPr>
        <p:spPr>
          <a:xfrm>
            <a:off x="6537960" y="3154679"/>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Key feature 1"/>
          <p:cNvSpPr/>
          <p:nvPr/>
        </p:nvSpPr>
        <p:spPr>
          <a:xfrm>
            <a:off x="7132320" y="2880360"/>
            <a:ext cx="4480560" cy="1005840"/>
          </a:xfrm>
          <a:prstGeom prst="roundRect">
            <a:avLst>
              <a:gd name="adj" fmla="val 8421"/>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Two streams, one platform</a:t>
            </a:r>
            <a:r>
              <a:rPr lang="en-US" sz="1400" b="1" dirty="0">
                <a:solidFill>
                  <a:schemeClr val="accent1"/>
                </a:solidFill>
              </a:rPr>
              <a:t>  ·  Planned</a:t>
            </a:r>
          </a:p>
          <a:p>
            <a:pPr marL="0" indent="0">
              <a:spcAft>
                <a:spcPts val="0"/>
              </a:spcAft>
              <a:buNone/>
            </a:pPr>
            <a:r>
              <a:rPr lang="en-US" sz="1400" dirty="0">
                <a:solidFill>
                  <a:schemeClr val="tx1"/>
                </a:solidFill>
              </a:rPr>
              <a:t>Retail bundles and wholesale lots share accounts and records.</a:t>
            </a:r>
          </a:p>
        </p:txBody>
      </p:sp>
      <p:sp>
        <p:nvSpPr>
          <p:cNvPr id="9" name="Step 2"/>
          <p:cNvSpPr/>
          <p:nvPr/>
        </p:nvSpPr>
        <p:spPr>
          <a:xfrm>
            <a:off x="6537960" y="420624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Key feature 2"/>
          <p:cNvSpPr/>
          <p:nvPr/>
        </p:nvSpPr>
        <p:spPr>
          <a:xfrm>
            <a:off x="7132320" y="3931920"/>
            <a:ext cx="4480560" cy="1005840"/>
          </a:xfrm>
          <a:prstGeom prst="roundRect">
            <a:avLst>
              <a:gd name="adj" fmla="val 8421"/>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Sale or free donation</a:t>
            </a:r>
            <a:r>
              <a:rPr lang="en-US" sz="1400" b="1" dirty="0">
                <a:solidFill>
                  <a:schemeClr val="accent1"/>
                </a:solidFill>
              </a:rPr>
              <a:t>  ·  Planned</a:t>
            </a:r>
          </a:p>
          <a:p>
            <a:pPr marL="0" indent="0">
              <a:spcAft>
                <a:spcPts val="0"/>
              </a:spcAft>
              <a:buNone/>
            </a:pPr>
            <a:r>
              <a:rPr lang="en-US" sz="1400" dirty="0">
                <a:solidFill>
                  <a:schemeClr val="tx1"/>
                </a:solidFill>
              </a:rPr>
              <a:t>Donations carry no food price and no platform fee.</a:t>
            </a:r>
          </a:p>
        </p:txBody>
      </p:sp>
      <p:sp>
        <p:nvSpPr>
          <p:cNvPr id="11" name="Step 3"/>
          <p:cNvSpPr/>
          <p:nvPr/>
        </p:nvSpPr>
        <p:spPr>
          <a:xfrm>
            <a:off x="6537960" y="5257799"/>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2" name="Key feature 3"/>
          <p:cNvSpPr/>
          <p:nvPr/>
        </p:nvSpPr>
        <p:spPr>
          <a:xfrm>
            <a:off x="7132320" y="4983479"/>
            <a:ext cx="4480560" cy="1005840"/>
          </a:xfrm>
          <a:prstGeom prst="roundRect">
            <a:avLst>
              <a:gd name="adj" fmla="val 8421"/>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Reserve, collect, record</a:t>
            </a:r>
            <a:r>
              <a:rPr lang="en-US" sz="1400" b="1" dirty="0">
                <a:solidFill>
                  <a:schemeClr val="accent1"/>
                </a:solidFill>
              </a:rPr>
              <a:t>  ·  Planned</a:t>
            </a:r>
          </a:p>
          <a:p>
            <a:pPr marL="0" indent="0">
              <a:spcAft>
                <a:spcPts val="0"/>
              </a:spcAft>
              <a:buNone/>
            </a:pPr>
            <a:r>
              <a:rPr lang="en-US" sz="1400" dirty="0">
                <a:solidFill>
                  <a:schemeClr val="tx1"/>
                </a:solidFill>
              </a:rPr>
              <a:t>Stock-controlled reservations; the vendor confirms the actual handover.</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5</a:t>
            </a:fld>
            <a:endParaRPr lang="en-US"/>
          </a:p>
        </p:txBody>
      </p:sp>
      <p:sp>
        <p:nvSpPr>
          <p:cNvPr id="26" name="Visual caption"/>
          <p:cNvSpPr/>
          <p:nvPr/>
        </p:nvSpPr>
        <p:spPr>
          <a:xfrm>
            <a:off x="731520" y="1536192"/>
            <a:ext cx="5394960" cy="365760"/>
          </a:xfrm>
          <a:prstGeom prst="roundRect">
            <a:avLst>
              <a:gd name="adj" fmla="val 1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spcAft>
                <a:spcPts val="0"/>
              </a:spcAft>
              <a:buNone/>
            </a:pPr>
            <a:r>
              <a:rPr lang="en-US" sz="1400" i="1" dirty="0">
                <a:solidFill>
                  <a:schemeClr val="accent4"/>
                </a:solidFill>
              </a:rPr>
              <a:t>Concept diagram; nothing is built or tested yet</a:t>
            </a:r>
          </a:p>
        </p:txBody>
      </p:sp>
      <p:sp>
        <p:nvSpPr>
          <p:cNvPr id="27" name="Retail vendor"/>
          <p:cNvSpPr/>
          <p:nvPr/>
        </p:nvSpPr>
        <p:spPr>
          <a:xfrm>
            <a:off x="685800" y="2057400"/>
            <a:ext cx="1554480" cy="1143000"/>
          </a:xfrm>
          <a:prstGeom prst="roundRect">
            <a:avLst>
              <a:gd name="adj" fmla="val 1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spcAft>
                <a:spcPts val="100"/>
              </a:spcAft>
              <a:buNone/>
            </a:pPr>
            <a:r>
              <a:rPr lang="en-US" sz="1400" b="1" dirty="0">
                <a:solidFill>
                  <a:schemeClr val="bg1"/>
                </a:solidFill>
              </a:rPr>
              <a:t>Retail vendor</a:t>
            </a:r>
          </a:p>
          <a:p>
            <a:pPr marL="0" indent="0" algn="ctr">
              <a:spcAft>
                <a:spcPts val="0"/>
              </a:spcAft>
              <a:buNone/>
            </a:pPr>
            <a:r>
              <a:rPr lang="en-US" sz="1400" dirty="0">
                <a:solidFill>
                  <a:schemeClr val="bg1"/>
                </a:solidFill>
              </a:rPr>
              <a:t>Small bundles</a:t>
            </a:r>
          </a:p>
        </p:txBody>
      </p:sp>
      <p:sp>
        <p:nvSpPr>
          <p:cNvPr id="28" name="Wholesale supplier"/>
          <p:cNvSpPr/>
          <p:nvPr/>
        </p:nvSpPr>
        <p:spPr>
          <a:xfrm>
            <a:off x="685800" y="3429000"/>
            <a:ext cx="1554480" cy="1143000"/>
          </a:xfrm>
          <a:prstGeom prst="roundRect">
            <a:avLst>
              <a:gd name="adj" fmla="val 1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spcAft>
                <a:spcPts val="100"/>
              </a:spcAft>
              <a:buNone/>
            </a:pPr>
            <a:r>
              <a:rPr lang="en-US" sz="1400" b="1" dirty="0">
                <a:solidFill>
                  <a:schemeClr val="bg1"/>
                </a:solidFill>
              </a:rPr>
              <a:t>Wholesale supplier</a:t>
            </a:r>
          </a:p>
          <a:p>
            <a:pPr marL="0" indent="0" algn="ctr">
              <a:spcAft>
                <a:spcPts val="0"/>
              </a:spcAft>
              <a:buNone/>
            </a:pPr>
            <a:r>
              <a:rPr lang="en-US" sz="1400" dirty="0">
                <a:solidFill>
                  <a:schemeClr val="bg1"/>
                </a:solidFill>
              </a:rPr>
              <a:t>Produce lots (kg)</a:t>
            </a:r>
          </a:p>
        </p:txBody>
      </p:sp>
      <p:sp>
        <p:nvSpPr>
          <p:cNvPr id="29" name="AgriLoop hub"/>
          <p:cNvSpPr/>
          <p:nvPr/>
        </p:nvSpPr>
        <p:spPr>
          <a:xfrm>
            <a:off x="2560320" y="2057400"/>
            <a:ext cx="1737360" cy="2514600"/>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spcAft>
                <a:spcPts val="200"/>
              </a:spcAft>
              <a:buNone/>
            </a:pPr>
            <a:r>
              <a:rPr lang="en-US" sz="2000" b="1" dirty="0">
                <a:solidFill>
                  <a:schemeClr val="bg1"/>
                </a:solidFill>
              </a:rPr>
              <a:t>AgriLoop</a:t>
            </a:r>
          </a:p>
          <a:p>
            <a:pPr marL="0" indent="0" algn="ctr">
              <a:spcAft>
                <a:spcPts val="0"/>
              </a:spcAft>
              <a:buNone/>
            </a:pPr>
            <a:r>
              <a:rPr lang="en-US" sz="1400" dirty="0">
                <a:solidFill>
                  <a:schemeClr val="bg1"/>
                </a:solidFill>
              </a:rPr>
              <a:t>Offer</a:t>
            </a:r>
          </a:p>
          <a:p>
            <a:pPr marL="0" indent="0" algn="ctr">
              <a:spcAft>
                <a:spcPts val="0"/>
              </a:spcAft>
              <a:buNone/>
            </a:pPr>
            <a:r>
              <a:rPr lang="en-US" sz="1400" dirty="0">
                <a:solidFill>
                  <a:schemeClr val="bg1"/>
                </a:solidFill>
              </a:rPr>
              <a:t>Reserve</a:t>
            </a:r>
          </a:p>
          <a:p>
            <a:pPr marL="0" indent="0" algn="ctr">
              <a:spcAft>
                <a:spcPts val="0"/>
              </a:spcAft>
              <a:buNone/>
            </a:pPr>
            <a:r>
              <a:rPr lang="en-US" sz="1400" dirty="0">
                <a:solidFill>
                  <a:schemeClr val="bg1"/>
                </a:solidFill>
              </a:rPr>
              <a:t>Record handover</a:t>
            </a:r>
          </a:p>
        </p:txBody>
      </p:sp>
      <p:sp>
        <p:nvSpPr>
          <p:cNvPr id="30" name="Buyer"/>
          <p:cNvSpPr/>
          <p:nvPr/>
        </p:nvSpPr>
        <p:spPr>
          <a:xfrm>
            <a:off x="4617720" y="2057400"/>
            <a:ext cx="1554480" cy="1143000"/>
          </a:xfrm>
          <a:prstGeom prst="roundRect">
            <a:avLst>
              <a:gd name="adj" fmla="val 1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spcAft>
                <a:spcPts val="100"/>
              </a:spcAft>
              <a:buNone/>
            </a:pPr>
            <a:r>
              <a:rPr lang="en-US" sz="1400" b="1" dirty="0">
                <a:solidFill>
                  <a:schemeClr val="bg1"/>
                </a:solidFill>
              </a:rPr>
              <a:t>Consumer</a:t>
            </a:r>
          </a:p>
          <a:p>
            <a:pPr marL="0" indent="0" algn="ctr">
              <a:spcAft>
                <a:spcPts val="0"/>
              </a:spcAft>
              <a:buNone/>
            </a:pPr>
            <a:r>
              <a:rPr lang="en-US" sz="1400" dirty="0">
                <a:solidFill>
                  <a:schemeClr val="bg1"/>
                </a:solidFill>
              </a:rPr>
              <a:t>collects the bundle</a:t>
            </a:r>
          </a:p>
        </p:txBody>
      </p:sp>
      <p:sp>
        <p:nvSpPr>
          <p:cNvPr id="31" name="Bulk recipient"/>
          <p:cNvSpPr/>
          <p:nvPr/>
        </p:nvSpPr>
        <p:spPr>
          <a:xfrm>
            <a:off x="4617720" y="3429000"/>
            <a:ext cx="1554480" cy="1143000"/>
          </a:xfrm>
          <a:prstGeom prst="roundRect">
            <a:avLst>
              <a:gd name="adj" fmla="val 1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spcAft>
                <a:spcPts val="100"/>
              </a:spcAft>
              <a:buNone/>
            </a:pPr>
            <a:r>
              <a:rPr lang="en-US" sz="1400" b="1" dirty="0">
                <a:solidFill>
                  <a:schemeClr val="bg1"/>
                </a:solidFill>
              </a:rPr>
              <a:t>Bulk recipient</a:t>
            </a:r>
          </a:p>
          <a:p>
            <a:pPr marL="0" indent="0" algn="ctr">
              <a:spcAft>
                <a:spcPts val="0"/>
              </a:spcAft>
              <a:buNone/>
            </a:pPr>
            <a:r>
              <a:rPr lang="en-US" sz="1400" dirty="0">
                <a:solidFill>
                  <a:schemeClr val="bg1"/>
                </a:solidFill>
              </a:rPr>
              <a:t>arranges own collection</a:t>
            </a:r>
          </a:p>
        </p:txBody>
      </p:sp>
      <p:sp>
        <p:nvSpPr>
          <p:cNvPr id="32" name="Arrow a"/>
          <p:cNvSpPr/>
          <p:nvPr/>
        </p:nvSpPr>
        <p:spPr>
          <a:xfrm>
            <a:off x="2304288" y="2514600"/>
            <a:ext cx="228600" cy="2286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Arrow b"/>
          <p:cNvSpPr/>
          <p:nvPr/>
        </p:nvSpPr>
        <p:spPr>
          <a:xfrm>
            <a:off x="2304288" y="3886200"/>
            <a:ext cx="228600" cy="2286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Arrow c"/>
          <p:cNvSpPr/>
          <p:nvPr/>
        </p:nvSpPr>
        <p:spPr>
          <a:xfrm>
            <a:off x="4361688" y="2514600"/>
            <a:ext cx="228600" cy="2286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Arrow d"/>
          <p:cNvSpPr/>
          <p:nvPr/>
        </p:nvSpPr>
        <p:spPr>
          <a:xfrm>
            <a:off x="4361688" y="3886200"/>
            <a:ext cx="228600" cy="2286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Mode sale"/>
          <p:cNvSpPr/>
          <p:nvPr/>
        </p:nvSpPr>
        <p:spPr>
          <a:xfrm>
            <a:off x="685800" y="4800600"/>
            <a:ext cx="2697480" cy="457200"/>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spcAft>
                <a:spcPts val="0"/>
              </a:spcAft>
              <a:buNone/>
            </a:pPr>
            <a:r>
              <a:rPr lang="en-US" sz="1400" b="1" dirty="0">
                <a:solidFill>
                  <a:schemeClr val="bg1"/>
                </a:solidFill>
              </a:rPr>
              <a:t>Discounted sale</a:t>
            </a:r>
          </a:p>
        </p:txBody>
      </p:sp>
      <p:sp>
        <p:nvSpPr>
          <p:cNvPr id="37" name="Mode donation"/>
          <p:cNvSpPr/>
          <p:nvPr/>
        </p:nvSpPr>
        <p:spPr>
          <a:xfrm>
            <a:off x="3520440" y="4800600"/>
            <a:ext cx="2651760" cy="457200"/>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marL="0" indent="0" algn="ctr">
              <a:spcAft>
                <a:spcPts val="0"/>
              </a:spcAft>
              <a:buNone/>
            </a:pPr>
            <a:r>
              <a:rPr lang="en-US" sz="1400" b="1" dirty="0">
                <a:solidFill>
                  <a:schemeClr val="bg1"/>
                </a:solidFill>
              </a:rPr>
              <a:t>Free donation, no platform fee</a:t>
            </a:r>
          </a:p>
        </p:txBody>
      </p:sp>
      <p:sp>
        <p:nvSpPr>
          <p:cNvPr id="38" name="Visual footnote"/>
          <p:cNvSpPr/>
          <p:nvPr/>
        </p:nvSpPr>
        <p:spPr>
          <a:xfrm>
            <a:off x="731520" y="5349240"/>
            <a:ext cx="5394960" cy="502920"/>
          </a:xfrm>
          <a:prstGeom prst="roundRect">
            <a:avLst>
              <a:gd name="adj" fmla="val 1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Aft>
                <a:spcPts val="0"/>
              </a:spcAft>
              <a:buNone/>
            </a:pPr>
            <a:r>
              <a:rPr lang="en-US" sz="1400" dirty="0">
                <a:solidFill>
                  <a:schemeClr val="tx1"/>
                </a:solidFill>
              </a:rPr>
              <a:t>Buyer or recipient collects. AgriLoop provides no delivery.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05 · HOW IT WORKS  ·  ~55 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How it works</a:t>
            </a:r>
            <a:endParaRPr lang="en-US" sz="3400" dirty="0"/>
          </a:p>
        </p:txBody>
      </p:sp>
      <p:sp>
        <p:nvSpPr>
          <p:cNvPr id="5" name="1 · Input"/>
          <p:cNvSpPr/>
          <p:nvPr/>
        </p:nvSpPr>
        <p:spPr>
          <a:xfrm>
            <a:off x="548640" y="1417320"/>
            <a:ext cx="2514600" cy="1554480"/>
          </a:xfrm>
          <a:prstGeom prst="roundRect">
            <a:avLst>
              <a:gd name="adj" fmla="val 4706"/>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1 · Input</a:t>
            </a:r>
          </a:p>
          <a:p>
            <a:pPr marL="0" indent="0">
              <a:spcAft>
                <a:spcPts val="0"/>
              </a:spcAft>
              <a:buNone/>
            </a:pPr>
            <a:r>
              <a:rPr lang="en-US" sz="1400" dirty="0">
                <a:solidFill>
                  <a:schemeClr val="tx1"/>
                </a:solidFill>
              </a:rPr>
              <a:t>Vendor lists eligible surplus: stream, unit, quantity, price or donation, pickup window.</a:t>
            </a:r>
          </a:p>
        </p:txBody>
      </p:sp>
      <p:sp>
        <p:nvSpPr>
          <p:cNvPr id="6" name="Arrow"/>
          <p:cNvSpPr/>
          <p:nvPr/>
        </p:nvSpPr>
        <p:spPr>
          <a:xfrm>
            <a:off x="3108960" y="2057400"/>
            <a:ext cx="274320" cy="274320"/>
          </a:xfrm>
          <a:prstGeom prst="rightArrow">
            <a:avLst/>
          </a:prstGeom>
          <a:solidFill>
            <a:schemeClr val="accent2"/>
          </a:solidFill>
          <a:ln/>
        </p:spPr>
        <p:txBody>
          <a:bodyPr/>
          <a:lstStyle/>
          <a:p>
            <a:endParaRPr/>
          </a:p>
        </p:txBody>
      </p:sp>
      <p:sp>
        <p:nvSpPr>
          <p:cNvPr id="7" name="2 · Process"/>
          <p:cNvSpPr/>
          <p:nvPr/>
        </p:nvSpPr>
        <p:spPr>
          <a:xfrm>
            <a:off x="3401568" y="1417320"/>
            <a:ext cx="2514600" cy="1554480"/>
          </a:xfrm>
          <a:prstGeom prst="roundRect">
            <a:avLst>
              <a:gd name="adj" fmla="val 4706"/>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2 · Process</a:t>
            </a:r>
          </a:p>
          <a:p>
            <a:pPr marL="0" indent="0">
              <a:spcAft>
                <a:spcPts val="0"/>
              </a:spcAft>
              <a:buNone/>
            </a:pPr>
            <a:r>
              <a:rPr lang="en-US" sz="1400" dirty="0">
                <a:solidFill>
                  <a:schemeClr val="tx1"/>
                </a:solidFill>
              </a:rPr>
              <a:t>Server checks policy and stock. Buyer reserves; a bulk request waits for vendor acceptance.</a:t>
            </a:r>
          </a:p>
        </p:txBody>
      </p:sp>
      <p:sp>
        <p:nvSpPr>
          <p:cNvPr id="8" name="Arrow"/>
          <p:cNvSpPr/>
          <p:nvPr/>
        </p:nvSpPr>
        <p:spPr>
          <a:xfrm>
            <a:off x="5961888" y="2057400"/>
            <a:ext cx="274320" cy="274320"/>
          </a:xfrm>
          <a:prstGeom prst="rightArrow">
            <a:avLst/>
          </a:prstGeom>
          <a:solidFill>
            <a:schemeClr val="accent2"/>
          </a:solidFill>
          <a:ln/>
        </p:spPr>
        <p:txBody>
          <a:bodyPr/>
          <a:lstStyle/>
          <a:p>
            <a:endParaRPr/>
          </a:p>
        </p:txBody>
      </p:sp>
      <p:sp>
        <p:nvSpPr>
          <p:cNvPr id="9" name="3 · Output"/>
          <p:cNvSpPr/>
          <p:nvPr/>
        </p:nvSpPr>
        <p:spPr>
          <a:xfrm>
            <a:off x="6254496" y="1417320"/>
            <a:ext cx="2514600" cy="1554480"/>
          </a:xfrm>
          <a:prstGeom prst="roundRect">
            <a:avLst>
              <a:gd name="adj" fmla="val 4706"/>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3 · Output</a:t>
            </a:r>
          </a:p>
          <a:p>
            <a:pPr marL="0" indent="0">
              <a:spcAft>
                <a:spcPts val="0"/>
              </a:spcAft>
              <a:buNone/>
            </a:pPr>
            <a:r>
              <a:rPr lang="en-US" sz="1400" dirty="0">
                <a:solidFill>
                  <a:schemeClr val="tx1"/>
                </a:solidFill>
              </a:rPr>
              <a:t>Reservation reference (QR optional), pickup instructions and an updated stock count.</a:t>
            </a:r>
          </a:p>
        </p:txBody>
      </p:sp>
      <p:sp>
        <p:nvSpPr>
          <p:cNvPr id="10" name="Arrow"/>
          <p:cNvSpPr/>
          <p:nvPr/>
        </p:nvSpPr>
        <p:spPr>
          <a:xfrm>
            <a:off x="8814816" y="2057400"/>
            <a:ext cx="274320" cy="274320"/>
          </a:xfrm>
          <a:prstGeom prst="rightArrow">
            <a:avLst/>
          </a:prstGeom>
          <a:solidFill>
            <a:schemeClr val="accent2"/>
          </a:solidFill>
          <a:ln/>
        </p:spPr>
        <p:txBody>
          <a:bodyPr/>
          <a:lstStyle/>
          <a:p>
            <a:endParaRPr/>
          </a:p>
        </p:txBody>
      </p:sp>
      <p:sp>
        <p:nvSpPr>
          <p:cNvPr id="11" name="4 · User action"/>
          <p:cNvSpPr/>
          <p:nvPr/>
        </p:nvSpPr>
        <p:spPr>
          <a:xfrm>
            <a:off x="9107424" y="1417320"/>
            <a:ext cx="2514600" cy="1554480"/>
          </a:xfrm>
          <a:prstGeom prst="roundRect">
            <a:avLst>
              <a:gd name="adj" fmla="val 4706"/>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4 · User action</a:t>
            </a:r>
          </a:p>
          <a:p>
            <a:pPr marL="0" indent="0">
              <a:spcAft>
                <a:spcPts val="0"/>
              </a:spcAft>
              <a:buNone/>
            </a:pPr>
            <a:r>
              <a:rPr lang="en-US" sz="1400" dirty="0">
                <a:solidFill>
                  <a:schemeClr val="tx1"/>
                </a:solidFill>
              </a:rPr>
              <a:t>Collect in the window, check the food; vendor confirms the actual handover.</a:t>
            </a:r>
          </a:p>
        </p:txBody>
      </p:sp>
      <p:sp>
        <p:nvSpPr>
          <p:cNvPr id="12" name="Technology &amp; components"/>
          <p:cNvSpPr/>
          <p:nvPr/>
        </p:nvSpPr>
        <p:spPr>
          <a:xfrm>
            <a:off x="548640" y="3200400"/>
            <a:ext cx="5486400" cy="2788920"/>
          </a:xfrm>
          <a:prstGeom prst="roundRect">
            <a:avLst>
              <a:gd name="adj" fmla="val 262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Technology &amp; components (proposals)</a:t>
            </a:r>
          </a:p>
          <a:p>
            <a:pPr marL="171450" indent="-171450">
              <a:spcAft>
                <a:spcPts val="400"/>
              </a:spcAft>
              <a:buClr>
                <a:schemeClr val="accent1"/>
              </a:buClr>
              <a:buFont typeface="Arial"/>
              <a:buChar char="•"/>
            </a:pPr>
            <a:r>
              <a:rPr lang="en-US" sz="1400" b="1" dirty="0">
                <a:solidFill>
                  <a:schemeClr val="tx1"/>
                </a:solidFill>
              </a:rPr>
              <a:t>Idea stage: </a:t>
            </a:r>
            <a:r>
              <a:rPr lang="en-US" sz="1400" dirty="0">
                <a:solidFill>
                  <a:schemeClr val="tx1"/>
                </a:solidFill>
              </a:rPr>
              <a:t>nothing built or tested yet. All Planned.</a:t>
            </a:r>
          </a:p>
          <a:p>
            <a:pPr marL="171450" indent="-171450">
              <a:spcAft>
                <a:spcPts val="400"/>
              </a:spcAft>
              <a:buClr>
                <a:schemeClr val="accent1"/>
              </a:buClr>
              <a:buFont typeface="Arial"/>
              <a:buChar char="•"/>
            </a:pPr>
            <a:r>
              <a:rPr lang="en-US" sz="1400" dirty="0">
                <a:solidFill>
                  <a:schemeClr val="tx1"/>
                </a:solidFill>
              </a:rPr>
              <a:t>Mobile-friendly web app, run locally on existing laptops and phones at first.</a:t>
            </a:r>
          </a:p>
          <a:p>
            <a:pPr marL="171450" indent="-171450">
              <a:spcAft>
                <a:spcPts val="400"/>
              </a:spcAft>
              <a:buClr>
                <a:schemeClr val="accent1"/>
              </a:buClr>
              <a:buFont typeface="Arial"/>
              <a:buChar char="•"/>
            </a:pPr>
            <a:r>
              <a:rPr lang="en-US" sz="1400" dirty="0">
                <a:solidFill>
                  <a:schemeClr val="tx1"/>
                </a:solidFill>
              </a:rPr>
              <a:t>Server rules for stock and permissions; PostgreSQL option.</a:t>
            </a:r>
          </a:p>
          <a:p>
            <a:pPr marL="171450" indent="-171450">
              <a:spcAft>
                <a:spcPts val="400"/>
              </a:spcAft>
              <a:buClr>
                <a:schemeClr val="accent1"/>
              </a:buClr>
              <a:buFont typeface="Arial"/>
              <a:buChar char="•"/>
            </a:pPr>
            <a:r>
              <a:rPr lang="en-US" sz="1400" dirty="0">
                <a:solidFill>
                  <a:schemeClr val="tx1"/>
                </a:solidFill>
              </a:rPr>
              <a:t>Admin console: vendor review, suspension, incidents, audit trail.</a:t>
            </a:r>
          </a:p>
          <a:p>
            <a:pPr marL="171450" indent="-171450">
              <a:spcAft>
                <a:spcPts val="0"/>
              </a:spcAft>
              <a:buClr>
                <a:schemeClr val="accent1"/>
              </a:buClr>
              <a:buFont typeface="Arial"/>
              <a:buChar char="•"/>
            </a:pPr>
            <a:r>
              <a:rPr lang="en-US" sz="1400" dirty="0">
                <a:solidFill>
                  <a:schemeClr val="tx1"/>
                </a:solidFill>
              </a:rPr>
              <a:t>Hosting, maps and notifications for a live pilot: not yet chosen.</a:t>
            </a:r>
          </a:p>
        </p:txBody>
      </p:sp>
      <p:sp>
        <p:nvSpPr>
          <p:cNvPr id="13" name="User experience"/>
          <p:cNvSpPr/>
          <p:nvPr/>
        </p:nvSpPr>
        <p:spPr>
          <a:xfrm>
            <a:off x="6217920" y="3200400"/>
            <a:ext cx="5394960" cy="2788920"/>
          </a:xfrm>
          <a:prstGeom prst="roundRect">
            <a:avLst>
              <a:gd name="adj" fmla="val 262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User experience</a:t>
            </a:r>
          </a:p>
          <a:p>
            <a:pPr marL="171450" indent="-171450">
              <a:spcAft>
                <a:spcPts val="400"/>
              </a:spcAft>
              <a:buClr>
                <a:schemeClr val="accent1"/>
              </a:buClr>
              <a:buFont typeface="Arial"/>
              <a:buChar char="•"/>
            </a:pPr>
            <a:r>
              <a:rPr lang="en-US" sz="1400" dirty="0">
                <a:solidFill>
                  <a:schemeClr val="tx1"/>
                </a:solidFill>
              </a:rPr>
              <a:t>Vendor posts from a template and confirms quantity and time.</a:t>
            </a:r>
          </a:p>
          <a:p>
            <a:pPr marL="171450" indent="-171450">
              <a:spcAft>
                <a:spcPts val="400"/>
              </a:spcAft>
              <a:buClr>
                <a:schemeClr val="accent1"/>
              </a:buClr>
              <a:buFont typeface="Arial"/>
              <a:buChar char="•"/>
            </a:pPr>
            <a:r>
              <a:rPr lang="en-US" sz="1400" dirty="0">
                <a:solidFill>
                  <a:schemeClr val="tx1"/>
                </a:solidFill>
              </a:rPr>
              <a:t>Buyer browses a simple list (map optional) and sees total price and pickup rules before reserving.</a:t>
            </a:r>
          </a:p>
          <a:p>
            <a:pPr marL="171450" indent="-171450">
              <a:spcAft>
                <a:spcPts val="400"/>
              </a:spcAft>
              <a:buClr>
                <a:schemeClr val="accent1"/>
              </a:buClr>
              <a:buFont typeface="Arial"/>
              <a:buChar char="•"/>
            </a:pPr>
            <a:r>
              <a:rPr lang="en-US" sz="1400" dirty="0">
                <a:solidFill>
                  <a:schemeClr val="tx1"/>
                </a:solidFill>
              </a:rPr>
              <a:t>Bulk recipient confirms capacity and arranges transport; accepted weight is recorded (illustrative: 27 of 30 kg).</a:t>
            </a:r>
          </a:p>
          <a:p>
            <a:pPr marL="171450" indent="-171450">
              <a:spcAft>
                <a:spcPts val="0"/>
              </a:spcAft>
              <a:buClr>
                <a:schemeClr val="accent1"/>
              </a:buClr>
              <a:buFont typeface="Arial"/>
              <a:buChar char="•"/>
            </a:pPr>
            <a:r>
              <a:rPr lang="en-US" sz="1400" dirty="0">
                <a:solidFill>
                  <a:schemeClr val="tx1"/>
                </a:solidFill>
              </a:rPr>
              <a:t>Sinhala, Tamil and English are language goals, to be tested.</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06 · INNOVATION  ·  ~55 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What exists, and what is new</a:t>
            </a:r>
            <a:endParaRPr lang="en-US" sz="34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337560"/>
        </p:xfrm>
        <a:graphic>
          <a:graphicData uri="http://schemas.openxmlformats.org/drawingml/2006/table">
            <a:tbl>
              <a:tblPr/>
              <a:tblGrid>
                <a:gridCol w="21031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11480">
                <a:tc>
                  <a:txBody>
                    <a:bodyPr/>
                    <a:lstStyle/>
                    <a:p>
                      <a:pPr marL="0" indent="0">
                        <a:buNone/>
                      </a:pPr>
                      <a:r>
                        <a:rPr lang="en-US" sz="1400" b="1" dirty="0">
                          <a:solidFill>
                            <a:srgbClr val="FFFFFF"/>
                          </a:solidFill>
                        </a:rPr>
                        <a:t>Solution</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tc>
                  <a:txBody>
                    <a:bodyPr/>
                    <a:lstStyle/>
                    <a:p>
                      <a:pPr marL="0" indent="0">
                        <a:buNone/>
                      </a:pPr>
                      <a:r>
                        <a:rPr lang="en-US" sz="1400" b="1" dirty="0">
                          <a:solidFill>
                            <a:srgbClr val="FFFFFF"/>
                          </a:solidFill>
                        </a:rPr>
                        <a:t>Sales and donations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tc>
                  <a:txBody>
                    <a:bodyPr/>
                    <a:lstStyle/>
                    <a:p>
                      <a:pPr marL="0" indent="0">
                        <a:buNone/>
                      </a:pPr>
                      <a:r>
                        <a:rPr lang="en-US" sz="1400" b="1" dirty="0">
                          <a:solidFill>
                            <a:srgbClr val="FFFFFF"/>
                          </a:solidFill>
                        </a:rPr>
                        <a:t>Bulk produce and collection</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tc>
                  <a:txBody>
                    <a:bodyPr/>
                    <a:lstStyle/>
                    <a:p>
                      <a:pPr marL="0" indent="0">
                        <a:buNone/>
                      </a:pPr>
                      <a:r>
                        <a:rPr lang="en-US" sz="1400" b="1" dirty="0">
                          <a:solidFill>
                            <a:srgbClr val="FFFFFF"/>
                          </a:solidFill>
                        </a:rPr>
                        <a:t>Transfer records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extLst>
                  <a:ext uri="{0D108BD9-81ED-4DB2-BD59-A6C34878D82A}">
                    <a16:rowId xmlns:a16="http://schemas.microsoft.com/office/drawing/2014/main" val="10000"/>
                  </a:ext>
                </a:extLst>
              </a:tr>
              <a:tr h="731520">
                <a:tc>
                  <a:txBody>
                    <a:bodyPr/>
                    <a:lstStyle/>
                    <a:p>
                      <a:pPr marL="0" indent="0">
                        <a:spcAft>
                          <a:spcPts val="0"/>
                        </a:spcAft>
                        <a:buNone/>
                      </a:pPr>
                      <a:r>
                        <a:rPr lang="en-US" sz="1400" b="1" dirty="0">
                          <a:solidFill>
                            <a:schemeClr val="tx1"/>
                          </a:solidFill>
                        </a:rPr>
                        <a:t>Too Good To Go [3][4]</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Sells Surprise Bags at half price or less; donation workflow not established</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Bags: in-store pickup at a set time. Parcels: manufacturer and wholesale goods, delivered</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Pick-up Code redeemed at the store [3]</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1"/>
                  </a:ext>
                </a:extLst>
              </a:tr>
              <a:tr h="731520">
                <a:tc>
                  <a:txBody>
                    <a:bodyPr/>
                    <a:lstStyle/>
                    <a:p>
                      <a:pPr marL="0" indent="0">
                        <a:spcAft>
                          <a:spcPts val="0"/>
                        </a:spcAft>
                        <a:buNone/>
                      </a:pPr>
                      <a:r>
                        <a:rPr lang="en-US" sz="1400" b="1" dirty="0">
                          <a:solidFill>
                            <a:schemeClr val="tx1"/>
                          </a:solidFill>
                        </a:rPr>
                        <a:t>FoodLoop (no official Sri Lankan source found)</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established from reviewed sources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established from reviewed sources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established from reviewed sources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731520">
                <a:tc>
                  <a:txBody>
                    <a:bodyPr/>
                    <a:lstStyle/>
                    <a:p>
                      <a:pPr marL="0" indent="0">
                        <a:spcAft>
                          <a:spcPts val="0"/>
                        </a:spcAft>
                        <a:buNone/>
                      </a:pPr>
                      <a:r>
                        <a:rPr lang="en-US" sz="1400" b="1" dirty="0">
                          <a:solidFill>
                            <a:schemeClr val="tx1"/>
                          </a:solidFill>
                        </a:rPr>
                        <a:t>Robin Hood Army Sri Lanka [5]</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Free redistribution by volunteers; no sales; no money accepted</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Volunteers collect and distribute; bulk produce not established</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established from reviewed sources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3"/>
                  </a:ext>
                </a:extLst>
              </a:tr>
              <a:tr h="731520">
                <a:tc>
                  <a:txBody>
                    <a:bodyPr/>
                    <a:lstStyle/>
                    <a:p>
                      <a:pPr marL="0" indent="0">
                        <a:spcAft>
                          <a:spcPts val="0"/>
                        </a:spcAft>
                        <a:buNone/>
                      </a:pPr>
                      <a:r>
                        <a:rPr lang="en-US" sz="1400" b="1" dirty="0">
                          <a:solidFill>
                            <a:schemeClr val="tx1"/>
                          </a:solidFill>
                        </a:rPr>
                        <a:t>AgriLoop (proposed)</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DF0DF"/>
                    </a:solidFill>
                  </a:tcPr>
                </a:tc>
                <a:tc>
                  <a:txBody>
                    <a:bodyPr/>
                    <a:lstStyle/>
                    <a:p>
                      <a:pPr marL="0" indent="0">
                        <a:spcAft>
                          <a:spcPts val="0"/>
                        </a:spcAft>
                        <a:buNone/>
                      </a:pPr>
                      <a:r>
                        <a:rPr lang="en-US" sz="1400" b="1" dirty="0">
                          <a:solidFill>
                            <a:schemeClr val="tx1"/>
                          </a:solidFill>
                        </a:rPr>
                        <a:t>Discounted sale or free donation in both streams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DF0DF"/>
                    </a:solidFill>
                  </a:tcPr>
                </a:tc>
                <a:tc>
                  <a:txBody>
                    <a:bodyPr/>
                    <a:lstStyle/>
                    <a:p>
                      <a:pPr marL="0" indent="0">
                        <a:spcAft>
                          <a:spcPts val="0"/>
                        </a:spcAft>
                        <a:buNone/>
                      </a:pPr>
                      <a:r>
                        <a:rPr lang="en-US" sz="1400" b="1" dirty="0">
                          <a:solidFill>
                            <a:schemeClr val="tx1"/>
                          </a:solidFill>
                        </a:rPr>
                        <a:t>Retail bundles and bulk lots; buyer or recipient collects; no delivery</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DF0DF"/>
                    </a:solidFill>
                  </a:tcPr>
                </a:tc>
                <a:tc>
                  <a:txBody>
                    <a:bodyPr/>
                    <a:lstStyle/>
                    <a:p>
                      <a:pPr marL="0" indent="0">
                        <a:spcAft>
                          <a:spcPts val="0"/>
                        </a:spcAft>
                        <a:buNone/>
                      </a:pPr>
                      <a:r>
                        <a:rPr lang="en-US" sz="1400" b="1" dirty="0">
                          <a:solidFill>
                            <a:schemeClr val="tx1"/>
                          </a:solidFill>
                        </a:rPr>
                        <a:t>Reservation and handover records, actual weight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DF0DF"/>
                    </a:solidFill>
                  </a:tcPr>
                </a:tc>
                <a:extLst>
                  <a:ext uri="{0D108BD9-81ED-4DB2-BD59-A6C34878D82A}">
                    <a16:rowId xmlns:a16="http://schemas.microsoft.com/office/drawing/2014/main" val="10004"/>
                  </a:ext>
                </a:extLst>
              </a:tr>
            </a:tbl>
          </a:graphicData>
        </a:graphic>
      </p:graphicFrame>
      <p:sp>
        <p:nvSpPr>
          <p:cNvPr id="6" name="Innovation type"/>
          <p:cNvSpPr/>
          <p:nvPr/>
        </p:nvSpPr>
        <p:spPr>
          <a:xfrm>
            <a:off x="548640" y="4846320"/>
            <a:ext cx="5394960" cy="1417320"/>
          </a:xfrm>
          <a:prstGeom prst="roundRect">
            <a:avLst>
              <a:gd name="adj" fmla="val 4444"/>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Innovation type (tick one)</a:t>
            </a:r>
          </a:p>
          <a:p>
            <a:pPr marL="0" indent="0">
              <a:spcAft>
                <a:spcPts val="100"/>
              </a:spcAft>
              <a:buNone/>
            </a:pPr>
            <a:r>
              <a:rPr lang="en-US" sz="1400" dirty="0">
                <a:solidFill>
                  <a:schemeClr val="tx1"/>
                </a:solidFill>
              </a:rPr>
              <a:t>☐ Existing innovation introduced to Sri Lanka</a:t>
            </a:r>
          </a:p>
          <a:p>
            <a:pPr marL="0" indent="0">
              <a:spcAft>
                <a:spcPts val="100"/>
              </a:spcAft>
              <a:buNone/>
            </a:pPr>
            <a:r>
              <a:rPr lang="en-US" sz="1400" b="1" dirty="0">
                <a:solidFill>
                  <a:schemeClr val="tx1"/>
                </a:solidFill>
              </a:rPr>
              <a:t>☒ Existing innovation adapted to Sri Lankan conditions</a:t>
            </a:r>
          </a:p>
          <a:p>
            <a:pPr marL="0" indent="0">
              <a:spcAft>
                <a:spcPts val="100"/>
              </a:spcAft>
              <a:buNone/>
            </a:pPr>
            <a:r>
              <a:rPr lang="en-US" sz="1400" dirty="0">
                <a:solidFill>
                  <a:schemeClr val="tx1"/>
                </a:solidFill>
              </a:rPr>
              <a:t>☐ Improvement to an existing Sri Lankan solution</a:t>
            </a:r>
          </a:p>
          <a:p>
            <a:pPr marL="0" indent="0">
              <a:spcAft>
                <a:spcPts val="0"/>
              </a:spcAft>
              <a:buNone/>
            </a:pPr>
            <a:r>
              <a:rPr lang="en-US" sz="1400" dirty="0">
                <a:solidFill>
                  <a:schemeClr val="tx1"/>
                </a:solidFill>
              </a:rPr>
              <a:t>☐ New invention</a:t>
            </a:r>
          </a:p>
        </p:txBody>
      </p:sp>
      <p:sp>
        <p:nvSpPr>
          <p:cNvPr id="7" name="Where we searched"/>
          <p:cNvSpPr/>
          <p:nvPr/>
        </p:nvSpPr>
        <p:spPr>
          <a:xfrm>
            <a:off x="6035040" y="4846320"/>
            <a:ext cx="5577840" cy="1417320"/>
          </a:xfrm>
          <a:prstGeom prst="roundRect">
            <a:avLst>
              <a:gd name="adj" fmla="val 4444"/>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Where we searched</a:t>
            </a:r>
          </a:p>
          <a:p>
            <a:pPr marL="0" indent="0">
              <a:spcAft>
                <a:spcPts val="400"/>
              </a:spcAft>
              <a:buNone/>
            </a:pPr>
            <a:r>
              <a:rPr lang="en-US" sz="1400" b="1" dirty="0">
                <a:solidFill>
                  <a:schemeClr val="tx1"/>
                </a:solidFill>
              </a:rPr>
              <a:t>Done, 25 Oct 2026: </a:t>
            </a:r>
            <a:r>
              <a:rPr lang="en-US" sz="1400" dirty="0">
                <a:solidFill>
                  <a:schemeClr val="tx1"/>
                </a:solidFill>
              </a:rPr>
              <a:t>official Too Good To Go pages and terms; Robin Hood Army Sri Lanka page. Planned: patent and academic searches.</a:t>
            </a:r>
          </a:p>
          <a:p>
            <a:pPr marL="0" indent="0">
              <a:spcAft>
                <a:spcPts val="0"/>
              </a:spcAft>
              <a:buNone/>
            </a:pPr>
            <a:r>
              <a:rPr lang="en-US" sz="1400" dirty="0">
                <a:solidFill>
                  <a:schemeClr val="tx1"/>
                </a:solidFill>
              </a:rPr>
              <a:t>Our combination is a proposed adaptation to test.</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07 · IMPACT  ·  ~45 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Impact &amp; SDG alignment</a:t>
            </a:r>
            <a:endParaRPr lang="en-US" sz="3400" dirty="0"/>
          </a:p>
        </p:txBody>
      </p:sp>
      <p:sp>
        <p:nvSpPr>
          <p:cNvPr id="5" name="Primary SDG"/>
          <p:cNvSpPr/>
          <p:nvPr/>
        </p:nvSpPr>
        <p:spPr>
          <a:xfrm>
            <a:off x="548640" y="1417320"/>
            <a:ext cx="2148840" cy="1828800"/>
          </a:xfrm>
          <a:prstGeom prst="roundRect">
            <a:avLst>
              <a:gd name="adj" fmla="val 4000"/>
            </a:avLst>
          </a:prstGeom>
          <a:solidFill>
            <a:schemeClr val="accent1"/>
          </a:solidFill>
          <a:ln/>
        </p:spPr>
        <p:txBody>
          <a:bodyPr wrap="square" rtlCol="0" anchor="ctr"/>
          <a:lstStyle/>
          <a:p>
            <a:pPr marL="0" indent="0" algn="ctr">
              <a:spcAft>
                <a:spcPts val="200"/>
              </a:spcAft>
              <a:buNone/>
            </a:pPr>
            <a:r>
              <a:rPr lang="en-US" sz="3200" b="1" dirty="0">
                <a:solidFill>
                  <a:schemeClr val="bg1"/>
                </a:solidFill>
              </a:rPr>
              <a:t>SDG 12</a:t>
            </a:r>
          </a:p>
          <a:p>
            <a:pPr marL="0" indent="0" algn="ctr">
              <a:spcAft>
                <a:spcPts val="100"/>
              </a:spcAft>
              <a:buNone/>
            </a:pPr>
            <a:r>
              <a:rPr lang="en-US" sz="1400" b="1" dirty="0">
                <a:solidFill>
                  <a:schemeClr val="bg1"/>
                </a:solidFill>
              </a:rPr>
              <a:t>Primary</a:t>
            </a:r>
          </a:p>
          <a:p>
            <a:pPr marL="0" indent="0" algn="ctr">
              <a:spcAft>
                <a:spcPts val="0"/>
              </a:spcAft>
              <a:buNone/>
            </a:pPr>
            <a:r>
              <a:rPr lang="en-US" sz="1400" dirty="0">
                <a:solidFill>
                  <a:schemeClr val="bg1"/>
                </a:solidFill>
              </a:rPr>
              <a:t>Responsible consumption and production</a:t>
            </a:r>
          </a:p>
        </p:txBody>
      </p:sp>
      <p:sp>
        <p:nvSpPr>
          <p:cNvPr id="6" name="Secondary SDG"/>
          <p:cNvSpPr/>
          <p:nvPr/>
        </p:nvSpPr>
        <p:spPr>
          <a:xfrm>
            <a:off x="2880360" y="1417320"/>
            <a:ext cx="2148840" cy="1828800"/>
          </a:xfrm>
          <a:prstGeom prst="roundRect">
            <a:avLst>
              <a:gd name="adj" fmla="val 4000"/>
            </a:avLst>
          </a:prstGeom>
          <a:solidFill>
            <a:schemeClr val="accent4"/>
          </a:solidFill>
          <a:ln/>
        </p:spPr>
        <p:txBody>
          <a:bodyPr wrap="square" rtlCol="0" anchor="ctr"/>
          <a:lstStyle/>
          <a:p>
            <a:pPr marL="0" indent="0" algn="ctr">
              <a:spcAft>
                <a:spcPts val="200"/>
              </a:spcAft>
              <a:buNone/>
            </a:pPr>
            <a:r>
              <a:rPr lang="en-US" sz="3200" b="1" dirty="0">
                <a:solidFill>
                  <a:schemeClr val="bg1"/>
                </a:solidFill>
              </a:rPr>
              <a:t>SDG 2</a:t>
            </a:r>
          </a:p>
          <a:p>
            <a:pPr marL="0" indent="0" algn="ctr">
              <a:spcAft>
                <a:spcPts val="100"/>
              </a:spcAft>
              <a:buNone/>
            </a:pPr>
            <a:r>
              <a:rPr lang="en-US" sz="1400" b="1" dirty="0">
                <a:solidFill>
                  <a:schemeClr val="bg1"/>
                </a:solidFill>
              </a:rPr>
              <a:t>Secondary</a:t>
            </a:r>
          </a:p>
          <a:p>
            <a:pPr marL="0" indent="0" algn="ctr">
              <a:spcAft>
                <a:spcPts val="0"/>
              </a:spcAft>
              <a:buNone/>
            </a:pPr>
            <a:r>
              <a:rPr lang="en-US" sz="1400" dirty="0">
                <a:solidFill>
                  <a:schemeClr val="bg1"/>
                </a:solidFill>
              </a:rPr>
              <a:t>Zero hunger</a:t>
            </a:r>
          </a:p>
        </p:txBody>
      </p:sp>
      <p:sp>
        <p:nvSpPr>
          <p:cNvPr id="7" name="SDG target &amp; indicator"/>
          <p:cNvSpPr/>
          <p:nvPr/>
        </p:nvSpPr>
        <p:spPr>
          <a:xfrm>
            <a:off x="548640" y="3429000"/>
            <a:ext cx="4480560" cy="2560320"/>
          </a:xfrm>
          <a:prstGeom prst="roundRect">
            <a:avLst>
              <a:gd name="adj" fmla="val 2857"/>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SDG target &amp; indicator</a:t>
            </a:r>
          </a:p>
          <a:p>
            <a:pPr marL="171450" indent="-171450">
              <a:spcAft>
                <a:spcPts val="400"/>
              </a:spcAft>
              <a:buClr>
                <a:schemeClr val="accent1"/>
              </a:buClr>
              <a:buFont typeface="Arial"/>
              <a:buChar char="•"/>
            </a:pPr>
            <a:r>
              <a:rPr lang="en-US" sz="1400" dirty="0">
                <a:solidFill>
                  <a:schemeClr val="tx1"/>
                </a:solidFill>
              </a:rPr>
              <a:t>Target 12.3: food waste and losses; indicator 12.3.1, food loss and waste indices [8].</a:t>
            </a:r>
          </a:p>
          <a:p>
            <a:pPr marL="171450" indent="-171450">
              <a:spcAft>
                <a:spcPts val="400"/>
              </a:spcAft>
              <a:buClr>
                <a:schemeClr val="accent1"/>
              </a:buClr>
              <a:buFont typeface="Arial"/>
              <a:buChar char="•"/>
            </a:pPr>
            <a:r>
              <a:rPr lang="en-US" sz="1400" dirty="0">
                <a:solidFill>
                  <a:schemeClr val="tx1"/>
                </a:solidFill>
              </a:rPr>
              <a:t>Target 2.1: access to food; indicator 2.1.2, moderate or severe food insecurity [9].</a:t>
            </a:r>
          </a:p>
          <a:p>
            <a:pPr marL="171450" indent="-171450">
              <a:spcAft>
                <a:spcPts val="0"/>
              </a:spcAft>
              <a:buClr>
                <a:schemeClr val="accent1"/>
              </a:buClr>
              <a:buFont typeface="Arial"/>
              <a:buChar char="•"/>
            </a:pPr>
            <a:r>
              <a:rPr lang="en-US" sz="1400" dirty="0">
                <a:solidFill>
                  <a:schemeClr val="tx1"/>
                </a:solidFill>
              </a:rPr>
              <a:t>Our kg and savings would be project measures; they do not replace these indicators.</a:t>
            </a:r>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257800" y="1417320"/>
          <a:ext cx="6355080" cy="2148840"/>
        </p:xfrm>
        <a:graphic>
          <a:graphicData uri="http://schemas.openxmlformats.org/drawingml/2006/table">
            <a:tbl>
              <a:tblPr/>
              <a:tblGrid>
                <a:gridCol w="21945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502920">
                <a:tc>
                  <a:txBody>
                    <a:bodyPr/>
                    <a:lstStyle/>
                    <a:p>
                      <a:pPr marL="0" indent="0">
                        <a:buNone/>
                      </a:pPr>
                      <a:r>
                        <a:rPr lang="en-US" sz="1400" b="1" dirty="0">
                          <a:solidFill>
                            <a:srgbClr val="FFFFFF"/>
                          </a:solidFill>
                        </a:rPr>
                        <a:t>Live-pilot measure (later)</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tc>
                  <a:txBody>
                    <a:bodyPr/>
                    <a:lstStyle/>
                    <a:p>
                      <a:pPr marL="0" indent="0">
                        <a:buNone/>
                      </a:pPr>
                      <a:r>
                        <a:rPr lang="en-US" sz="1400" b="1" dirty="0">
                          <a:solidFill>
                            <a:srgbClr val="FFFFFF"/>
                          </a:solidFill>
                        </a:rPr>
                        <a:t>Baseline</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tc>
                  <a:txBody>
                    <a:bodyPr/>
                    <a:lstStyle/>
                    <a:p>
                      <a:pPr marL="0" indent="0">
                        <a:buNone/>
                      </a:pPr>
                      <a:r>
                        <a:rPr lang="en-US" sz="1400" b="1" dirty="0">
                          <a:solidFill>
                            <a:srgbClr val="FFFFFF"/>
                          </a:solidFill>
                        </a:rPr>
                        <a:t>Target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tc>
                  <a:txBody>
                    <a:bodyPr/>
                    <a:lstStyle/>
                    <a:p>
                      <a:pPr marL="0" indent="0">
                        <a:buNone/>
                      </a:pPr>
                      <a:r>
                        <a:rPr lang="en-US" sz="1400" b="1" dirty="0">
                          <a:solidFill>
                            <a:srgbClr val="FFFFFF"/>
                          </a:solidFill>
                        </a:rPr>
                        <a:t>Measured by</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extLst>
                  <a:ext uri="{0D108BD9-81ED-4DB2-BD59-A6C34878D82A}">
                    <a16:rowId xmlns:a16="http://schemas.microsoft.com/office/drawing/2014/main" val="10000"/>
                  </a:ext>
                </a:extLst>
              </a:tr>
              <a:tr h="548640">
                <a:tc>
                  <a:txBody>
                    <a:bodyPr/>
                    <a:lstStyle/>
                    <a:p>
                      <a:pPr marL="0" indent="0">
                        <a:spcAft>
                          <a:spcPts val="0"/>
                        </a:spcAft>
                        <a:buNone/>
                      </a:pPr>
                      <a:r>
                        <a:rPr lang="en-US" sz="1400" b="1" dirty="0">
                          <a:solidFill>
                            <a:schemeClr val="tx1"/>
                          </a:solidFill>
                        </a:rPr>
                        <a:t>Food collected (kg, portions separately)</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yet set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yet set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Handover records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1"/>
                  </a:ext>
                </a:extLst>
              </a:tr>
              <a:tr h="548640">
                <a:tc>
                  <a:txBody>
                    <a:bodyPr/>
                    <a:lstStyle/>
                    <a:p>
                      <a:pPr marL="0" indent="0">
                        <a:spcAft>
                          <a:spcPts val="0"/>
                        </a:spcAft>
                        <a:buNone/>
                      </a:pPr>
                      <a:r>
                        <a:rPr lang="en-US" sz="1400" b="1" dirty="0">
                          <a:solidFill>
                            <a:schemeClr val="tx1"/>
                          </a:solidFill>
                        </a:rPr>
                        <a:t>Collection rate</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yet set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yet set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Completed ÷ due reservations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548640">
                <a:tc>
                  <a:txBody>
                    <a:bodyPr/>
                    <a:lstStyle/>
                    <a:p>
                      <a:pPr marL="0" indent="0">
                        <a:spcAft>
                          <a:spcPts val="0"/>
                        </a:spcAft>
                        <a:buNone/>
                      </a:pPr>
                      <a:r>
                        <a:rPr lang="en-US" sz="1400" b="1" dirty="0">
                          <a:solidFill>
                            <a:schemeClr val="tx1"/>
                          </a:solidFill>
                        </a:rPr>
                        <a:t>Net saving after travel</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yet set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yet set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Price gap minus travel cost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3"/>
                  </a:ext>
                </a:extLst>
              </a:tr>
            </a:tbl>
          </a:graphicData>
        </a:graphic>
      </p:graphicFrame>
      <p:sp>
        <p:nvSpPr>
          <p:cNvPr id="9" name="Beneficiaries &amp; scale"/>
          <p:cNvSpPr/>
          <p:nvPr/>
        </p:nvSpPr>
        <p:spPr>
          <a:xfrm>
            <a:off x="5257800" y="3840480"/>
            <a:ext cx="6355080" cy="2331720"/>
          </a:xfrm>
          <a:prstGeom prst="roundRect">
            <a:avLst>
              <a:gd name="adj" fmla="val 3636"/>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Initial four-week phase: prototype measures (proposed)</a:t>
            </a:r>
          </a:p>
          <a:p>
            <a:pPr marL="171450" indent="-171450">
              <a:spcAft>
                <a:spcPts val="400"/>
              </a:spcAft>
              <a:buClr>
                <a:schemeClr val="accent1"/>
              </a:buClr>
              <a:buFont typeface="Arial"/>
              <a:buChar char="•"/>
            </a:pPr>
            <a:r>
              <a:rPr lang="en-US" sz="1400" dirty="0">
                <a:solidFill>
                  <a:schemeClr val="tx1"/>
                </a:solidFill>
              </a:rPr>
              <a:t>All four workflows demonstrated: retail and wholesale, sale and donation.</a:t>
            </a:r>
          </a:p>
          <a:p>
            <a:pPr marL="171450" indent="-171450">
              <a:spcAft>
                <a:spcPts val="400"/>
              </a:spcAft>
              <a:buClr>
                <a:schemeClr val="accent1"/>
              </a:buClr>
              <a:buFont typeface="Arial"/>
              <a:buChar char="•"/>
            </a:pPr>
            <a:r>
              <a:rPr lang="en-US" sz="1400" dirty="0">
                <a:solidFill>
                  <a:schemeClr val="tx1"/>
                </a:solidFill>
              </a:rPr>
              <a:t>Tasks completed independently, with help or not at all.</a:t>
            </a:r>
          </a:p>
          <a:p>
            <a:pPr marL="171450" indent="-171450">
              <a:spcAft>
                <a:spcPts val="400"/>
              </a:spcAft>
              <a:buClr>
                <a:schemeClr val="accent1"/>
              </a:buClr>
              <a:buFont typeface="Arial"/>
              <a:buChar char="•"/>
            </a:pPr>
            <a:r>
              <a:rPr lang="en-US" sz="1400" dirty="0">
                <a:solidFill>
                  <a:schemeClr val="tx1"/>
                </a:solidFill>
              </a:rPr>
              <a:t>Price or free status and collection arrangements understood.</a:t>
            </a:r>
          </a:p>
          <a:p>
            <a:pPr marL="171450" indent="-171450">
              <a:spcAft>
                <a:spcPts val="400"/>
              </a:spcAft>
              <a:buClr>
                <a:schemeClr val="accent1"/>
              </a:buClr>
              <a:buFont typeface="Arial"/>
              <a:buChar char="•"/>
            </a:pPr>
            <a:r>
              <a:rPr lang="en-US" sz="1400" dirty="0">
                <a:solidFill>
                  <a:schemeClr val="tx1"/>
                </a:solidFill>
              </a:rPr>
              <a:t>Cancellation, expiry and partial wholesale acceptance tested.</a:t>
            </a:r>
          </a:p>
          <a:p>
            <a:pPr marL="171450" indent="-171450">
              <a:spcAft>
                <a:spcPts val="400"/>
              </a:spcAft>
              <a:buClr>
                <a:schemeClr val="accent1"/>
              </a:buClr>
              <a:buFont typeface="Arial"/>
              <a:buChar char="•"/>
            </a:pPr>
            <a:r>
              <a:rPr lang="en-US" sz="1400" dirty="0">
                <a:solidFill>
                  <a:schemeClr val="tx1"/>
                </a:solidFill>
              </a:rPr>
              <a:t>Stock-control tests prevent double booking.</a:t>
            </a:r>
          </a:p>
          <a:p>
            <a:pPr marL="0" indent="0">
              <a:spcAft>
                <a:spcPts val="0"/>
              </a:spcAft>
              <a:buNone/>
            </a:pPr>
            <a:r>
              <a:rPr lang="en-US" sz="1400" i="1" dirty="0">
                <a:solidFill>
                  <a:schemeClr val="accent4"/>
                </a:solidFill>
              </a:rPr>
              <a:t>Simulated transfers never count as food rescued, meals or waste prevented. This test does not establish demand.</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08 · FEASIBILITY  ·  ~45 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Is it realistic in Sri Lanka?</a:t>
            </a:r>
            <a:endParaRPr lang="en-US" sz="3400" dirty="0"/>
          </a:p>
        </p:txBody>
      </p:sp>
      <p:sp>
        <p:nvSpPr>
          <p:cNvPr id="5" name="Technical feasibility"/>
          <p:cNvSpPr/>
          <p:nvPr/>
        </p:nvSpPr>
        <p:spPr>
          <a:xfrm>
            <a:off x="548640" y="1417320"/>
            <a:ext cx="3566160" cy="2194560"/>
          </a:xfrm>
          <a:prstGeom prst="roundRect">
            <a:avLst>
              <a:gd name="adj" fmla="val 333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Technical feasibility</a:t>
            </a:r>
          </a:p>
          <a:p>
            <a:pPr marL="171450" indent="-171450">
              <a:spcAft>
                <a:spcPts val="300"/>
              </a:spcAft>
              <a:buClr>
                <a:schemeClr val="accent1"/>
              </a:buClr>
              <a:buFont typeface="Arial"/>
              <a:buChar char="•"/>
            </a:pPr>
            <a:r>
              <a:rPr lang="en-US" sz="1400" dirty="0">
                <a:solidFill>
                  <a:schemeClr val="tx1"/>
                </a:solidFill>
              </a:rPr>
              <a:t>Proposal: web prototype run locally on existing laptops and phones.</a:t>
            </a:r>
          </a:p>
          <a:p>
            <a:pPr marL="171450" indent="-171450">
              <a:spcAft>
                <a:spcPts val="300"/>
              </a:spcAft>
              <a:buClr>
                <a:schemeClr val="accent1"/>
              </a:buClr>
              <a:buFont typeface="Arial"/>
              <a:buChar char="•"/>
            </a:pPr>
            <a:r>
              <a:rPr lang="en-US" sz="1400" dirty="0">
                <a:solidFill>
                  <a:schemeClr val="tx1"/>
                </a:solidFill>
              </a:rPr>
              <a:t>Risk: double booking, duplicate pickup.</a:t>
            </a:r>
          </a:p>
          <a:p>
            <a:pPr marL="171450" indent="-171450">
              <a:spcAft>
                <a:spcPts val="300"/>
              </a:spcAft>
              <a:buClr>
                <a:schemeClr val="accent1"/>
              </a:buClr>
              <a:buFont typeface="Arial"/>
              <a:buChar char="•"/>
            </a:pPr>
            <a:r>
              <a:rPr lang="en-US" sz="1400" dirty="0">
                <a:solidFill>
                  <a:schemeClr val="tx1"/>
                </a:solidFill>
              </a:rPr>
              <a:t>Test: stock-control tests in the prototype.</a:t>
            </a:r>
          </a:p>
        </p:txBody>
      </p:sp>
      <p:sp>
        <p:nvSpPr>
          <p:cNvPr id="6" name="Cost &amp; affordability"/>
          <p:cNvSpPr/>
          <p:nvPr/>
        </p:nvSpPr>
        <p:spPr>
          <a:xfrm>
            <a:off x="4297680" y="1417320"/>
            <a:ext cx="3566160" cy="2194560"/>
          </a:xfrm>
          <a:prstGeom prst="roundRect">
            <a:avLst>
              <a:gd name="adj" fmla="val 333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Cost &amp; affordability</a:t>
            </a:r>
          </a:p>
          <a:p>
            <a:pPr marL="171450" indent="-171450">
              <a:spcAft>
                <a:spcPts val="300"/>
              </a:spcAft>
              <a:buClr>
                <a:schemeClr val="accent1"/>
              </a:buClr>
              <a:buFont typeface="Arial"/>
              <a:buChar char="•"/>
            </a:pPr>
            <a:r>
              <a:rPr lang="en-US" sz="1400" dirty="0">
                <a:solidFill>
                  <a:schemeClr val="tx1"/>
                </a:solidFill>
              </a:rPr>
              <a:t>Four-week allowance: LKR 5,000 (not quotes).</a:t>
            </a:r>
          </a:p>
          <a:p>
            <a:pPr marL="171450" indent="-171450">
              <a:spcAft>
                <a:spcPts val="300"/>
              </a:spcAft>
              <a:buClr>
                <a:schemeClr val="accent1"/>
              </a:buClr>
              <a:buFont typeface="Arial"/>
              <a:buChar char="•"/>
            </a:pPr>
            <a:r>
              <a:rPr lang="en-US" sz="1400" dirty="0">
                <a:solidFill>
                  <a:schemeClr val="tx1"/>
                </a:solidFill>
              </a:rPr>
              <a:t>Excludes food, delivery, later pilot.</a:t>
            </a:r>
          </a:p>
          <a:p>
            <a:pPr marL="171450" indent="-171450">
              <a:spcAft>
                <a:spcPts val="300"/>
              </a:spcAft>
              <a:buClr>
                <a:schemeClr val="accent1"/>
              </a:buClr>
              <a:buFont typeface="Arial"/>
              <a:buChar char="•"/>
            </a:pPr>
            <a:r>
              <a:rPr lang="en-US" sz="1400" dirty="0">
                <a:solidFill>
                  <a:schemeClr val="tx1"/>
                </a:solidFill>
              </a:rPr>
              <a:t>Existing laptops and phones; labour unpaid.</a:t>
            </a:r>
          </a:p>
          <a:p>
            <a:pPr marL="171450" indent="-171450">
              <a:spcAft>
                <a:spcPts val="300"/>
              </a:spcAft>
              <a:buClr>
                <a:schemeClr val="accent1"/>
              </a:buClr>
              <a:buFont typeface="Arial"/>
              <a:buChar char="•"/>
            </a:pPr>
            <a:r>
              <a:rPr lang="en-US" sz="1400" dirty="0">
                <a:solidFill>
                  <a:schemeClr val="tx1"/>
                </a:solidFill>
              </a:rPr>
              <a:t>Fee model undecided; 5% is an illustration.</a:t>
            </a:r>
          </a:p>
        </p:txBody>
      </p:sp>
      <p:sp>
        <p:nvSpPr>
          <p:cNvPr id="7" name="Materials &amp; local supply"/>
          <p:cNvSpPr/>
          <p:nvPr/>
        </p:nvSpPr>
        <p:spPr>
          <a:xfrm>
            <a:off x="8046720" y="1417320"/>
            <a:ext cx="3566160" cy="2194560"/>
          </a:xfrm>
          <a:prstGeom prst="roundRect">
            <a:avLst>
              <a:gd name="adj" fmla="val 333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Materials &amp; local supply</a:t>
            </a:r>
          </a:p>
          <a:p>
            <a:pPr marL="171450" indent="-171450">
              <a:spcAft>
                <a:spcPts val="300"/>
              </a:spcAft>
              <a:buClr>
                <a:schemeClr val="accent1"/>
              </a:buClr>
              <a:buFont typeface="Arial"/>
              <a:buChar char="•"/>
            </a:pPr>
            <a:r>
              <a:rPr lang="en-US" sz="1400" dirty="0">
                <a:solidFill>
                  <a:schemeClr val="tx1"/>
                </a:solidFill>
              </a:rPr>
              <a:t>No custom hardware planned; phones and internet needed.</a:t>
            </a:r>
          </a:p>
          <a:p>
            <a:pPr marL="171450" indent="-171450">
              <a:spcAft>
                <a:spcPts val="300"/>
              </a:spcAft>
              <a:buClr>
                <a:schemeClr val="accent1"/>
              </a:buClr>
              <a:buFont typeface="Arial"/>
              <a:buChar char="•"/>
            </a:pPr>
            <a:r>
              <a:rPr lang="en-US" sz="1400" dirty="0">
                <a:solidFill>
                  <a:schemeClr val="tx1"/>
                </a:solidFill>
              </a:rPr>
              <a:t>Proposed outreach: Wellawatte, Ratmalana, Panadura; Peliyagoda is an unconfirmed earlier lead.</a:t>
            </a:r>
          </a:p>
          <a:p>
            <a:pPr marL="171450" indent="-171450">
              <a:spcAft>
                <a:spcPts val="300"/>
              </a:spcAft>
              <a:buClr>
                <a:schemeClr val="accent1"/>
              </a:buClr>
              <a:buFont typeface="Arial"/>
              <a:buChar char="•"/>
            </a:pPr>
            <a:r>
              <a:rPr lang="en-US" sz="1400" dirty="0">
                <a:solidFill>
                  <a:schemeClr val="tx1"/>
                </a:solidFill>
              </a:rPr>
              <a:t>Vendors and recipients not yet recruited.</a:t>
            </a:r>
          </a:p>
        </p:txBody>
      </p:sp>
      <p:sp>
        <p:nvSpPr>
          <p:cNvPr id="8" name="Regulation &amp; safety"/>
          <p:cNvSpPr/>
          <p:nvPr/>
        </p:nvSpPr>
        <p:spPr>
          <a:xfrm>
            <a:off x="548640" y="3794760"/>
            <a:ext cx="3566160" cy="2194560"/>
          </a:xfrm>
          <a:prstGeom prst="roundRect">
            <a:avLst>
              <a:gd name="adj" fmla="val 333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Regulation &amp; safety</a:t>
            </a:r>
          </a:p>
          <a:p>
            <a:pPr marL="171450" indent="-171450">
              <a:spcAft>
                <a:spcPts val="300"/>
              </a:spcAft>
              <a:buClr>
                <a:schemeClr val="accent1"/>
              </a:buClr>
              <a:buFont typeface="Arial"/>
              <a:buChar char="•"/>
            </a:pPr>
            <a:r>
              <a:rPr lang="en-US" sz="1400" dirty="0">
                <a:solidFill>
                  <a:schemeClr val="tx1"/>
                </a:solidFill>
              </a:rPr>
              <a:t>Food (Hygiene) Regulations 2011 apply to food handling [6].</a:t>
            </a:r>
          </a:p>
          <a:p>
            <a:pPr marL="171450" indent="-171450">
              <a:spcAft>
                <a:spcPts val="300"/>
              </a:spcAft>
              <a:buClr>
                <a:schemeClr val="accent1"/>
              </a:buClr>
              <a:buFont typeface="Arial"/>
              <a:buChar char="•"/>
            </a:pPr>
            <a:r>
              <a:rPr lang="en-US" sz="1400" dirty="0">
                <a:solidFill>
                  <a:schemeClr val="tx1"/>
                </a:solidFill>
              </a:rPr>
              <a:t>No real food in this phase; no approval or readiness claimed.</a:t>
            </a:r>
          </a:p>
          <a:p>
            <a:pPr marL="171450" indent="-171450">
              <a:spcAft>
                <a:spcPts val="300"/>
              </a:spcAft>
              <a:buClr>
                <a:schemeClr val="accent1"/>
              </a:buClr>
              <a:buFont typeface="Arial"/>
              <a:buChar char="•"/>
            </a:pPr>
            <a:r>
              <a:rPr lang="en-US" sz="1400" dirty="0">
                <a:solidFill>
                  <a:schemeClr val="tx1"/>
                </a:solidFill>
              </a:rPr>
              <a:t>Safety advisor needed before any live pilot.</a:t>
            </a:r>
          </a:p>
        </p:txBody>
      </p:sp>
      <p:sp>
        <p:nvSpPr>
          <p:cNvPr id="9" name="Adoption by users"/>
          <p:cNvSpPr/>
          <p:nvPr/>
        </p:nvSpPr>
        <p:spPr>
          <a:xfrm>
            <a:off x="4297680" y="3794760"/>
            <a:ext cx="3566160" cy="2194560"/>
          </a:xfrm>
          <a:prstGeom prst="roundRect">
            <a:avLst>
              <a:gd name="adj" fmla="val 333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Adoption by users</a:t>
            </a:r>
          </a:p>
          <a:p>
            <a:pPr marL="171450" indent="-171450">
              <a:spcAft>
                <a:spcPts val="300"/>
              </a:spcAft>
              <a:buClr>
                <a:schemeClr val="accent1"/>
              </a:buClr>
              <a:buFont typeface="Arial"/>
              <a:buChar char="•"/>
            </a:pPr>
            <a:r>
              <a:rPr lang="en-US" sz="1400" dirty="0">
                <a:solidFill>
                  <a:schemeClr val="tx1"/>
                </a:solidFill>
              </a:rPr>
              <a:t>To test: can vendors list at closing and buyers collect?</a:t>
            </a:r>
          </a:p>
          <a:p>
            <a:pPr marL="171450" indent="-171450">
              <a:spcAft>
                <a:spcPts val="300"/>
              </a:spcAft>
              <a:buClr>
                <a:schemeClr val="accent1"/>
              </a:buClr>
              <a:buFont typeface="Arial"/>
              <a:buChar char="•"/>
            </a:pPr>
            <a:r>
              <a:rPr lang="en-US" sz="1400" dirty="0">
                <a:solidFill>
                  <a:schemeClr val="tx1"/>
                </a:solidFill>
              </a:rPr>
              <a:t>Willingness is not commitment; no demand is established.</a:t>
            </a:r>
          </a:p>
          <a:p>
            <a:pPr marL="171450" indent="-171450">
              <a:spcAft>
                <a:spcPts val="300"/>
              </a:spcAft>
              <a:buClr>
                <a:schemeClr val="accent1"/>
              </a:buClr>
              <a:buFont typeface="Arial"/>
              <a:buChar char="•"/>
            </a:pPr>
            <a:r>
              <a:rPr lang="en-US" sz="1400" dirty="0">
                <a:solidFill>
                  <a:schemeClr val="tx1"/>
                </a:solidFill>
              </a:rPr>
              <a:t>Simulated listings test usability only.</a:t>
            </a:r>
          </a:p>
        </p:txBody>
      </p:sp>
      <p:sp>
        <p:nvSpPr>
          <p:cNvPr id="10" name="Sustainability &amp; model"/>
          <p:cNvSpPr/>
          <p:nvPr/>
        </p:nvSpPr>
        <p:spPr>
          <a:xfrm>
            <a:off x="8046720" y="3794760"/>
            <a:ext cx="3566160" cy="2194560"/>
          </a:xfrm>
          <a:prstGeom prst="roundRect">
            <a:avLst>
              <a:gd name="adj" fmla="val 333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Sustainability &amp; model</a:t>
            </a:r>
          </a:p>
          <a:p>
            <a:pPr marL="171450" indent="-171450">
              <a:spcAft>
                <a:spcPts val="300"/>
              </a:spcAft>
              <a:buClr>
                <a:schemeClr val="accent1"/>
              </a:buClr>
              <a:buFont typeface="Arial"/>
              <a:buChar char="•"/>
            </a:pPr>
            <a:r>
              <a:rPr lang="en-US" sz="1400" dirty="0">
                <a:solidFill>
                  <a:schemeClr val="tx1"/>
                </a:solidFill>
              </a:rPr>
              <a:t>A proposed business with a free donation channel.</a:t>
            </a:r>
          </a:p>
          <a:p>
            <a:pPr marL="171450" indent="-171450">
              <a:spcAft>
                <a:spcPts val="300"/>
              </a:spcAft>
              <a:buClr>
                <a:schemeClr val="accent1"/>
              </a:buClr>
              <a:buFont typeface="Arial"/>
              <a:buChar char="•"/>
            </a:pPr>
            <a:r>
              <a:rPr lang="en-US" sz="1400" dirty="0">
                <a:solidFill>
                  <a:schemeClr val="tx1"/>
                </a:solidFill>
              </a:rPr>
              <a:t>Fee or subscription undecided; no sponsor secured.</a:t>
            </a:r>
          </a:p>
          <a:p>
            <a:pPr marL="171450" indent="-171450">
              <a:spcAft>
                <a:spcPts val="300"/>
              </a:spcAft>
              <a:buClr>
                <a:schemeClr val="accent1"/>
              </a:buClr>
              <a:buFont typeface="Arial"/>
              <a:buChar char="•"/>
            </a:pPr>
            <a:r>
              <a:rPr lang="en-US" sz="1400" dirty="0">
                <a:solidFill>
                  <a:schemeClr val="tx1"/>
                </a:solidFill>
              </a:rPr>
              <a:t>Donation costs tracked separately.</a:t>
            </a:r>
          </a:p>
          <a:p>
            <a:pPr marL="171450" indent="-171450">
              <a:spcAft>
                <a:spcPts val="300"/>
              </a:spcAft>
              <a:buClr>
                <a:schemeClr val="accent1"/>
              </a:buClr>
              <a:buFont typeface="Arial"/>
              <a:buChar char="•"/>
            </a:pPr>
            <a:r>
              <a:rPr lang="en-US" sz="1400" dirty="0">
                <a:solidFill>
                  <a:schemeClr val="tx1"/>
                </a:solidFill>
              </a:rPr>
              <a:t>Free hosting tiers may be non-commercial only [7].</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09 · PROTOTYPE PLAN  ·  ~45 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Prototype plan &amp; budget</a:t>
            </a:r>
            <a:endParaRPr lang="en-US" sz="3400" dirty="0"/>
          </a:p>
        </p:txBody>
      </p:sp>
      <p:sp>
        <p:nvSpPr>
          <p:cNvPr id="5" name="Week 1"/>
          <p:cNvSpPr/>
          <p:nvPr/>
        </p:nvSpPr>
        <p:spPr>
          <a:xfrm>
            <a:off x="548640" y="1417320"/>
            <a:ext cx="2651760" cy="1645920"/>
          </a:xfrm>
          <a:prstGeom prst="roundRect">
            <a:avLst>
              <a:gd name="adj" fmla="val 5714"/>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Week 1</a:t>
            </a:r>
            <a:r>
              <a:rPr lang="en-US" sz="1400" b="1" dirty="0">
                <a:solidFill>
                  <a:schemeClr val="accent1"/>
                </a:solidFill>
              </a:rPr>
              <a:t>  ·  Proposed</a:t>
            </a:r>
          </a:p>
          <a:p>
            <a:pPr marL="0" indent="0">
              <a:spcAft>
                <a:spcPts val="0"/>
              </a:spcAft>
              <a:buNone/>
            </a:pPr>
            <a:r>
              <a:rPr lang="en-US" sz="1400" dirty="0">
                <a:solidFill>
                  <a:schemeClr val="tx1"/>
                </a:solidFill>
              </a:rPr>
              <a:t>Approach participants, document interviews, define workflows, start surplus observations where access is granted.</a:t>
            </a:r>
          </a:p>
        </p:txBody>
      </p:sp>
      <p:sp>
        <p:nvSpPr>
          <p:cNvPr id="6" name="Week 2"/>
          <p:cNvSpPr/>
          <p:nvPr/>
        </p:nvSpPr>
        <p:spPr>
          <a:xfrm>
            <a:off x="3355848" y="1417320"/>
            <a:ext cx="2651760" cy="1645920"/>
          </a:xfrm>
          <a:prstGeom prst="roundRect">
            <a:avLst>
              <a:gd name="adj" fmla="val 5714"/>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Week 2</a:t>
            </a:r>
            <a:r>
              <a:rPr lang="en-US" sz="1400" b="1" dirty="0">
                <a:solidFill>
                  <a:schemeClr val="accent1"/>
                </a:solidFill>
              </a:rPr>
              <a:t>  ·  Proposed</a:t>
            </a:r>
          </a:p>
          <a:p>
            <a:pPr marL="0" indent="0">
              <a:spcAft>
                <a:spcPts val="0"/>
              </a:spcAft>
              <a:buNone/>
            </a:pPr>
            <a:r>
              <a:rPr lang="en-US" sz="1400" dirty="0">
                <a:solidFill>
                  <a:schemeClr val="tx1"/>
                </a:solidFill>
              </a:rPr>
              <a:t>Create listings and reservation workflows for both streams.</a:t>
            </a:r>
          </a:p>
        </p:txBody>
      </p:sp>
      <p:sp>
        <p:nvSpPr>
          <p:cNvPr id="7" name="Week 3"/>
          <p:cNvSpPr/>
          <p:nvPr/>
        </p:nvSpPr>
        <p:spPr>
          <a:xfrm>
            <a:off x="6163056" y="1417320"/>
            <a:ext cx="2651760" cy="1645920"/>
          </a:xfrm>
          <a:prstGeom prst="roundRect">
            <a:avLst>
              <a:gd name="adj" fmla="val 5714"/>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Week 3</a:t>
            </a:r>
            <a:r>
              <a:rPr lang="en-US" sz="1400" b="1" dirty="0">
                <a:solidFill>
                  <a:schemeClr val="accent1"/>
                </a:solidFill>
              </a:rPr>
              <a:t>  ·  Proposed</a:t>
            </a:r>
          </a:p>
          <a:p>
            <a:pPr marL="0" indent="0">
              <a:spcAft>
                <a:spcPts val="0"/>
              </a:spcAft>
              <a:buNone/>
            </a:pPr>
            <a:r>
              <a:rPr lang="en-US" sz="1400" dirty="0">
                <a:solidFill>
                  <a:schemeClr val="tx1"/>
                </a:solidFill>
              </a:rPr>
              <a:t>Add donation handling, bulk acceptance, handover records, cancellation scenarios.</a:t>
            </a:r>
          </a:p>
        </p:txBody>
      </p:sp>
      <p:sp>
        <p:nvSpPr>
          <p:cNvPr id="8" name="Week 4"/>
          <p:cNvSpPr/>
          <p:nvPr/>
        </p:nvSpPr>
        <p:spPr>
          <a:xfrm>
            <a:off x="8970264" y="1417320"/>
            <a:ext cx="2651760" cy="1645920"/>
          </a:xfrm>
          <a:prstGeom prst="roundRect">
            <a:avLst>
              <a:gd name="adj" fmla="val 5714"/>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Week 4</a:t>
            </a:r>
            <a:r>
              <a:rPr lang="en-US" sz="1400" b="1" dirty="0">
                <a:solidFill>
                  <a:schemeClr val="accent1"/>
                </a:solidFill>
              </a:rPr>
              <a:t>  ·  Proposed</a:t>
            </a:r>
          </a:p>
          <a:p>
            <a:pPr marL="0" indent="0">
              <a:spcAft>
                <a:spcPts val="0"/>
              </a:spcAft>
              <a:buNone/>
            </a:pPr>
            <a:r>
              <a:rPr lang="en-US" sz="1400" dirty="0">
                <a:solidFill>
                  <a:schemeClr val="tx1"/>
                </a:solidFill>
              </a:rPr>
              <a:t>Run participant sessions and technical tests, fix problems, document findings.</a:t>
            </a:r>
          </a:p>
        </p:txBody>
      </p:sp>
      <p:sp>
        <p:nvSpPr>
          <p:cNvPr id="9" name="Stage"/>
          <p:cNvSpPr/>
          <p:nvPr/>
        </p:nvSpPr>
        <p:spPr>
          <a:xfrm>
            <a:off x="548640" y="3154680"/>
            <a:ext cx="11064240" cy="457200"/>
          </a:xfrm>
          <a:prstGeom prst="roundRect">
            <a:avLst>
              <a:gd name="adj" fmla="val 14545"/>
            </a:avLst>
          </a:prstGeom>
          <a:solidFill>
            <a:schemeClr val="tx2"/>
          </a:solidFill>
          <a:ln/>
        </p:spPr>
        <p:txBody>
          <a:bodyPr wrap="square" lIns="152400" tIns="152400" rIns="152400" bIns="152400" rtlCol="0" anchor="ctr"/>
          <a:lstStyle/>
          <a:p>
            <a:pPr marL="0" indent="0">
              <a:buNone/>
            </a:pPr>
            <a:r>
              <a:rPr lang="en-US" sz="1400" dirty="0">
                <a:solidFill>
                  <a:schemeClr val="bg1"/>
                </a:solidFill>
              </a:rPr>
              <a:t>Current stage (select one):  ☒ Idea   ☐ Concept design   ☐ Early prototype   ☐ Functional prototype   ☐ Tested with users</a:t>
            </a:r>
            <a:endParaRPr lang="en-US" sz="1300" dirty="0"/>
          </a:p>
        </p:txBody>
      </p:sp>
      <p:sp>
        <p:nvSpPr>
          <p:cNvPr id="10" name="Prototype scope"/>
          <p:cNvSpPr/>
          <p:nvPr/>
        </p:nvSpPr>
        <p:spPr>
          <a:xfrm>
            <a:off x="548640" y="3749039"/>
            <a:ext cx="6583680" cy="2514600"/>
          </a:xfrm>
          <a:prstGeom prst="roundRect">
            <a:avLst>
              <a:gd name="adj" fmla="val 296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Prototype scope</a:t>
            </a:r>
            <a:r>
              <a:rPr lang="en-US" sz="1400" b="1" dirty="0">
                <a:solidFill>
                  <a:schemeClr val="accent1"/>
                </a:solidFill>
              </a:rPr>
              <a:t>  ·  Planned</a:t>
            </a:r>
          </a:p>
          <a:p>
            <a:pPr marL="0" indent="0">
              <a:spcAft>
                <a:spcPts val="400"/>
              </a:spcAft>
              <a:buNone/>
            </a:pPr>
            <a:r>
              <a:rPr lang="en-US" sz="1400" b="1" dirty="0">
                <a:solidFill>
                  <a:schemeClr val="tx1"/>
                </a:solidFill>
              </a:rPr>
              <a:t>Will build: </a:t>
            </a:r>
            <a:r>
              <a:rPr lang="en-US" sz="1400" dirty="0">
                <a:solidFill>
                  <a:schemeClr val="tx1"/>
                </a:solidFill>
              </a:rPr>
              <a:t>simulated listings for retail sale, retail donation, wholesale sale and wholesale donation.</a:t>
            </a:r>
          </a:p>
          <a:p>
            <a:pPr marL="0" indent="0">
              <a:spcAft>
                <a:spcPts val="400"/>
              </a:spcAft>
              <a:buNone/>
            </a:pPr>
            <a:r>
              <a:rPr lang="en-US" sz="1400" b="1" dirty="0">
                <a:solidFill>
                  <a:schemeClr val="tx1"/>
                </a:solidFill>
              </a:rPr>
              <a:t>Recruit (targets, subject to access): </a:t>
            </a:r>
            <a:r>
              <a:rPr lang="en-US" sz="1400" dirty="0">
                <a:solidFill>
                  <a:schemeClr val="tx1"/>
                </a:solidFill>
              </a:rPr>
              <a:t>2 retail vendors, 1 wholesale vendor, 4 potential buyers, 1 bulk-recipient representative.</a:t>
            </a:r>
          </a:p>
          <a:p>
            <a:pPr marL="0" indent="0">
              <a:spcAft>
                <a:spcPts val="400"/>
              </a:spcAft>
              <a:buNone/>
            </a:pPr>
            <a:r>
              <a:rPr lang="en-US" sz="1400" b="1" dirty="0">
                <a:solidFill>
                  <a:schemeClr val="tx1"/>
                </a:solidFill>
              </a:rPr>
              <a:t>Observe: </a:t>
            </a:r>
            <a:r>
              <a:rPr lang="en-US" sz="1400" dirty="0">
                <a:solidFill>
                  <a:schemeClr val="tx1"/>
                </a:solidFill>
              </a:rPr>
              <a:t>consenting vendors log surplus for five trading days, including none: quantity, units, time, usual destination. No commitment to redistribute.</a:t>
            </a:r>
          </a:p>
          <a:p>
            <a:pPr marL="0" indent="0">
              <a:spcAft>
                <a:spcPts val="400"/>
              </a:spcAft>
              <a:buNone/>
            </a:pPr>
            <a:r>
              <a:rPr lang="en-US" sz="1400" b="1" dirty="0">
                <a:solidFill>
                  <a:schemeClr val="tx1"/>
                </a:solidFill>
              </a:rPr>
              <a:t>Out of scope: </a:t>
            </a:r>
            <a:r>
              <a:rPr lang="en-US" sz="1400" dirty="0">
                <a:solidFill>
                  <a:schemeClr val="tx1"/>
                </a:solidFill>
              </a:rPr>
              <a:t>real food, delivery, live-food packaging.</a:t>
            </a:r>
          </a:p>
          <a:p>
            <a:pPr marL="0" indent="0">
              <a:spcAft>
                <a:spcPts val="0"/>
              </a:spcAft>
              <a:buNone/>
            </a:pPr>
            <a:r>
              <a:rPr lang="en-US" sz="1400" i="1" dirty="0">
                <a:solidFill>
                  <a:schemeClr val="accent4"/>
                </a:solidFill>
              </a:rPr>
              <a:t>Schedule is proposed and depends on recruitment.</a:t>
            </a:r>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7498079" y="3749039"/>
          <a:ext cx="4114800" cy="2194560"/>
        </p:xfrm>
        <a:graphic>
          <a:graphicData uri="http://schemas.openxmlformats.org/drawingml/2006/table">
            <a:tbl>
              <a:tblPr/>
              <a:tblGrid>
                <a:gridCol w="29260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65760">
                <a:tc>
                  <a:txBody>
                    <a:bodyPr/>
                    <a:lstStyle/>
                    <a:p>
                      <a:pPr marL="0" indent="0">
                        <a:buNone/>
                      </a:pPr>
                      <a:r>
                        <a:rPr lang="en-US" sz="1400" b="1" dirty="0">
                          <a:solidFill>
                            <a:srgbClr val="FFFFFF"/>
                          </a:solidFill>
                        </a:rPr>
                        <a:t>Planning allowance, not quotes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tc>
                  <a:txBody>
                    <a:bodyPr/>
                    <a:lstStyle/>
                    <a:p>
                      <a:pPr marL="0" indent="0">
                        <a:buNone/>
                      </a:pPr>
                      <a:r>
                        <a:rPr lang="en-US" sz="1400" b="1" dirty="0">
                          <a:solidFill>
                            <a:srgbClr val="FFFFFF"/>
                          </a:solidFill>
                        </a:rPr>
                        <a:t>LKR</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extLst>
                  <a:ext uri="{0D108BD9-81ED-4DB2-BD59-A6C34878D82A}">
                    <a16:rowId xmlns:a16="http://schemas.microsoft.com/office/drawing/2014/main" val="10000"/>
                  </a:ext>
                </a:extLst>
              </a:tr>
              <a:tr h="365760">
                <a:tc>
                  <a:txBody>
                    <a:bodyPr/>
                    <a:lstStyle/>
                    <a:p>
                      <a:pPr marL="0" indent="0">
                        <a:spcAft>
                          <a:spcPts val="0"/>
                        </a:spcAft>
                        <a:buNone/>
                      </a:pPr>
                      <a:r>
                        <a:rPr lang="en-US" sz="1400" b="1" dirty="0">
                          <a:solidFill>
                            <a:schemeClr val="tx1"/>
                          </a:solidFill>
                        </a:rPr>
                        <a:t>Travel</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3,000</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1"/>
                  </a:ext>
                </a:extLst>
              </a:tr>
              <a:tr h="365760">
                <a:tc>
                  <a:txBody>
                    <a:bodyPr/>
                    <a:lstStyle/>
                    <a:p>
                      <a:pPr marL="0" indent="0">
                        <a:spcAft>
                          <a:spcPts val="0"/>
                        </a:spcAft>
                        <a:buNone/>
                      </a:pPr>
                      <a:r>
                        <a:rPr lang="en-US" sz="1400" b="1" dirty="0">
                          <a:solidFill>
                            <a:schemeClr val="tx1"/>
                          </a:solidFill>
                        </a:rPr>
                        <a:t>Mobile data and calls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750</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365760">
                <a:tc>
                  <a:txBody>
                    <a:bodyPr/>
                    <a:lstStyle/>
                    <a:p>
                      <a:pPr marL="0" indent="0">
                        <a:spcAft>
                          <a:spcPts val="0"/>
                        </a:spcAft>
                        <a:buNone/>
                      </a:pPr>
                      <a:r>
                        <a:rPr lang="en-US" sz="1400" b="1" dirty="0">
                          <a:solidFill>
                            <a:schemeClr val="tx1"/>
                          </a:solidFill>
                        </a:rPr>
                        <a:t>Printing</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250</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3"/>
                  </a:ext>
                </a:extLst>
              </a:tr>
              <a:tr h="365760">
                <a:tc>
                  <a:txBody>
                    <a:bodyPr/>
                    <a:lstStyle/>
                    <a:p>
                      <a:pPr marL="0" indent="0">
                        <a:spcAft>
                          <a:spcPts val="0"/>
                        </a:spcAft>
                        <a:buNone/>
                      </a:pPr>
                      <a:r>
                        <a:rPr lang="en-US" sz="1400" b="1" dirty="0">
                          <a:solidFill>
                            <a:schemeClr val="tx1"/>
                          </a:solidFill>
                        </a:rPr>
                        <a:t>Contingency</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1,000</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43953205"/>
                  </a:ext>
                </a:extLst>
              </a:tr>
              <a:tr h="365760">
                <a:tc>
                  <a:txBody>
                    <a:bodyPr/>
                    <a:lstStyle/>
                    <a:p>
                      <a:pPr marL="0" indent="0">
                        <a:spcAft>
                          <a:spcPts val="0"/>
                        </a:spcAft>
                        <a:buNone/>
                      </a:pPr>
                      <a:r>
                        <a:rPr lang="en-US" sz="1400" b="1" dirty="0">
                          <a:solidFill>
                            <a:schemeClr val="tx1"/>
                          </a:solidFill>
                        </a:rPr>
                        <a:t>Total (maximum)</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DF0DF"/>
                    </a:solidFill>
                  </a:tcPr>
                </a:tc>
                <a:tc>
                  <a:txBody>
                    <a:bodyPr/>
                    <a:lstStyle/>
                    <a:p>
                      <a:pPr marL="0" indent="0">
                        <a:spcAft>
                          <a:spcPts val="0"/>
                        </a:spcAft>
                        <a:buNone/>
                      </a:pPr>
                      <a:r>
                        <a:rPr lang="en-US" sz="1400" b="1" dirty="0">
                          <a:solidFill>
                            <a:schemeClr val="tx1"/>
                          </a:solidFill>
                        </a:rPr>
                        <a:t>5,000</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DF0D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10 · RISKS &amp; ETHICS  ·  ~35 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Risks, ethics &amp; inclusion</a:t>
            </a:r>
            <a:endParaRPr lang="en-US" sz="3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7040880" cy="3337560"/>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11480">
                <a:tc>
                  <a:txBody>
                    <a:bodyPr/>
                    <a:lstStyle/>
                    <a:p>
                      <a:pPr marL="0" indent="0">
                        <a:buNone/>
                      </a:pPr>
                      <a:r>
                        <a:rPr lang="en-US" sz="1400" b="1" dirty="0">
                          <a:solidFill>
                            <a:srgbClr val="FFFFFF"/>
                          </a:solidFill>
                        </a:rPr>
                        <a:t>Risk</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tc>
                  <a:txBody>
                    <a:bodyPr/>
                    <a:lstStyle/>
                    <a:p>
                      <a:pPr marL="0" indent="0">
                        <a:buNone/>
                      </a:pPr>
                      <a:r>
                        <a:rPr lang="en-US" sz="1400" b="1" dirty="0">
                          <a:solidFill>
                            <a:srgbClr val="FFFFFF"/>
                          </a:solidFill>
                        </a:rPr>
                        <a:t>Likelihood</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tc>
                  <a:txBody>
                    <a:bodyPr/>
                    <a:lstStyle/>
                    <a:p>
                      <a:pPr marL="0" indent="0">
                        <a:buNone/>
                      </a:pPr>
                      <a:r>
                        <a:rPr lang="en-US" sz="1400" b="1" dirty="0">
                          <a:solidFill>
                            <a:srgbClr val="FFFFFF"/>
                          </a:solidFill>
                        </a:rPr>
                        <a:t>Impact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tc>
                  <a:txBody>
                    <a:bodyPr/>
                    <a:lstStyle/>
                    <a:p>
                      <a:pPr marL="0" indent="0">
                        <a:buNone/>
                      </a:pPr>
                      <a:r>
                        <a:rPr lang="en-US" sz="1400" b="1" dirty="0">
                          <a:solidFill>
                            <a:srgbClr val="FFFFFF"/>
                          </a:solidFill>
                        </a:rPr>
                        <a:t>Mitigation</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1B2B63"/>
                    </a:solidFill>
                  </a:tcPr>
                </a:tc>
                <a:extLst>
                  <a:ext uri="{0D108BD9-81ED-4DB2-BD59-A6C34878D82A}">
                    <a16:rowId xmlns:a16="http://schemas.microsoft.com/office/drawing/2014/main" val="10000"/>
                  </a:ext>
                </a:extLst>
              </a:tr>
              <a:tr h="731520">
                <a:tc>
                  <a:txBody>
                    <a:bodyPr/>
                    <a:lstStyle/>
                    <a:p>
                      <a:pPr marL="0" indent="0">
                        <a:spcAft>
                          <a:spcPts val="0"/>
                        </a:spcAft>
                        <a:buNone/>
                      </a:pPr>
                      <a:r>
                        <a:rPr lang="en-US" sz="1400" dirty="0">
                          <a:solidFill>
                            <a:schemeClr val="tx1"/>
                          </a:solidFill>
                        </a:rPr>
                        <a:t>Technical: double booking, duplicate pickup</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Medium</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Medium</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Stock-control tests in the prototype; one server-side pickup record.</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1"/>
                  </a:ext>
                </a:extLst>
              </a:tr>
              <a:tr h="731520">
                <a:tc>
                  <a:txBody>
                    <a:bodyPr/>
                    <a:lstStyle/>
                    <a:p>
                      <a:pPr marL="0" indent="0">
                        <a:spcAft>
                          <a:spcPts val="0"/>
                        </a:spcAft>
                        <a:buNone/>
                      </a:pPr>
                      <a:r>
                        <a:rPr lang="en-US" sz="1400" dirty="0">
                          <a:solidFill>
                            <a:schemeClr val="tx1"/>
                          </a:solidFill>
                        </a:rPr>
                        <a:t>Recruitment not secured</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High</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High</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Report the limitation; keep wholesale and recipient workflows as simulated demonstrations.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731520">
                <a:tc>
                  <a:txBody>
                    <a:bodyPr/>
                    <a:lstStyle/>
                    <a:p>
                      <a:pPr marL="0" indent="0">
                        <a:spcAft>
                          <a:spcPts val="0"/>
                        </a:spcAft>
                        <a:buNone/>
                      </a:pPr>
                      <a:r>
                        <a:rPr lang="en-US" sz="1400" dirty="0">
                          <a:solidFill>
                            <a:schemeClr val="tx1"/>
                          </a:solidFill>
                        </a:rPr>
                        <a:t>Cost or supply: uneven surplus, LKR 5,000 cap</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Medium</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Medium</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Limit trips; use the allowances; observe several days.</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3"/>
                  </a:ext>
                </a:extLst>
              </a:tr>
              <a:tr h="731520">
                <a:tc>
                  <a:txBody>
                    <a:bodyPr/>
                    <a:lstStyle/>
                    <a:p>
                      <a:pPr marL="0" indent="0">
                        <a:spcAft>
                          <a:spcPts val="0"/>
                        </a:spcAft>
                        <a:buNone/>
                      </a:pPr>
                      <a:r>
                        <a:rPr lang="en-US" sz="1400" dirty="0">
                          <a:solidFill>
                            <a:schemeClr val="tx1"/>
                          </a:solidFill>
                        </a:rPr>
                        <a:t>Food safety and regulation</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Not assessed</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High</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tc>
                  <a:txBody>
                    <a:bodyPr/>
                    <a:lstStyle/>
                    <a:p>
                      <a:pPr marL="0" indent="0">
                        <a:spcAft>
                          <a:spcPts val="0"/>
                        </a:spcAft>
                        <a:buNone/>
                      </a:pPr>
                      <a:r>
                        <a:rPr lang="en-US" sz="1400" dirty="0">
                          <a:solidFill>
                            <a:schemeClr val="tx1"/>
                          </a:solidFill>
                        </a:rPr>
                        <a:t>No real food in this phase; advisor-reviewed rules before any later pilot.</a:t>
                      </a:r>
                    </a:p>
                  </a:txBody>
                  <a:tcPr marL="101600" marR="101600" marT="38100" marB="3810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bl>
          </a:graphicData>
        </a:graphic>
      </p:graphicFrame>
      <p:sp>
        <p:nvSpPr>
          <p:cNvPr id="6" name="Riskiest assumption to test first"/>
          <p:cNvSpPr/>
          <p:nvPr/>
        </p:nvSpPr>
        <p:spPr>
          <a:xfrm>
            <a:off x="548640" y="4892040"/>
            <a:ext cx="7040880" cy="1188720"/>
          </a:xfrm>
          <a:prstGeom prst="roundRect">
            <a:avLst>
              <a:gd name="adj" fmla="val 6957"/>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Riskiest assumption to test first</a:t>
            </a:r>
          </a:p>
          <a:p>
            <a:pPr marL="0" indent="0">
              <a:spcAft>
                <a:spcPts val="0"/>
              </a:spcAft>
              <a:buNone/>
            </a:pPr>
            <a:r>
              <a:rPr lang="en-US" sz="1400" dirty="0">
                <a:solidFill>
                  <a:schemeClr val="tx1"/>
                </a:solidFill>
              </a:rPr>
              <a:t>That vendors can list surplus in time and nearby buyers or recipients can collect it at an acceptable total cost. Recruitment is not secured. Ratings are working estimates.</a:t>
            </a:r>
          </a:p>
        </p:txBody>
      </p:sp>
      <p:sp>
        <p:nvSpPr>
          <p:cNvPr id="7" name="Ethics, inclusion &amp; environment"/>
          <p:cNvSpPr/>
          <p:nvPr/>
        </p:nvSpPr>
        <p:spPr>
          <a:xfrm>
            <a:off x="7772400" y="1417320"/>
            <a:ext cx="3840480" cy="4572000"/>
          </a:xfrm>
          <a:prstGeom prst="roundRect">
            <a:avLst>
              <a:gd name="adj" fmla="val 1905"/>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Ethics, inclusion &amp; environment</a:t>
            </a:r>
          </a:p>
          <a:p>
            <a:pPr marL="171450" indent="-171450">
              <a:spcAft>
                <a:spcPts val="400"/>
              </a:spcAft>
              <a:buClr>
                <a:schemeClr val="accent1"/>
              </a:buClr>
              <a:buFont typeface="Arial"/>
              <a:buChar char="•"/>
            </a:pPr>
            <a:r>
              <a:rPr lang="en-US" sz="1400" b="1" dirty="0">
                <a:solidFill>
                  <a:schemeClr val="tx1"/>
                </a:solidFill>
              </a:rPr>
              <a:t>Privacy: </a:t>
            </a:r>
            <a:r>
              <a:rPr lang="en-US" sz="1400" dirty="0">
                <a:solidFill>
                  <a:schemeClr val="tx1"/>
                </a:solidFill>
              </a:rPr>
              <a:t>minimal data; contact details private.</a:t>
            </a:r>
          </a:p>
          <a:p>
            <a:pPr marL="171450" indent="-171450">
              <a:spcAft>
                <a:spcPts val="400"/>
              </a:spcAft>
              <a:buClr>
                <a:schemeClr val="accent1"/>
              </a:buClr>
              <a:buFont typeface="Arial"/>
              <a:buChar char="•"/>
            </a:pPr>
            <a:r>
              <a:rPr lang="en-US" sz="1400" b="1" dirty="0">
                <a:solidFill>
                  <a:schemeClr val="tx1"/>
                </a:solidFill>
              </a:rPr>
              <a:t>Safety: </a:t>
            </a:r>
            <a:r>
              <a:rPr lang="en-US" sz="1400" dirty="0">
                <a:solidFill>
                  <a:schemeClr val="tx1"/>
                </a:solidFill>
              </a:rPr>
              <a:t>vendors can withdraw food; collectors can reject it.</a:t>
            </a:r>
          </a:p>
          <a:p>
            <a:pPr marL="171450" indent="-171450">
              <a:spcAft>
                <a:spcPts val="400"/>
              </a:spcAft>
              <a:buClr>
                <a:schemeClr val="accent1"/>
              </a:buClr>
              <a:buFont typeface="Arial"/>
              <a:buChar char="•"/>
            </a:pPr>
            <a:r>
              <a:rPr lang="en-US" sz="1400" b="1" dirty="0">
                <a:solidFill>
                  <a:schemeClr val="tx1"/>
                </a:solidFill>
              </a:rPr>
              <a:t>Access: </a:t>
            </a:r>
            <a:r>
              <a:rPr lang="en-US" sz="1400" dirty="0">
                <a:solidFill>
                  <a:schemeClr val="tx1"/>
                </a:solidFill>
              </a:rPr>
              <a:t>Sinhala, Tamil, English goals; list view; no hardship labels.</a:t>
            </a:r>
          </a:p>
          <a:p>
            <a:pPr marL="171450" indent="-171450">
              <a:spcAft>
                <a:spcPts val="300"/>
              </a:spcAft>
              <a:buClr>
                <a:schemeClr val="accent1"/>
              </a:buClr>
              <a:buFont typeface="Arial"/>
              <a:buChar char="•"/>
            </a:pPr>
            <a:r>
              <a:rPr lang="en-US" sz="1400" b="1" dirty="0">
                <a:solidFill>
                  <a:schemeClr val="tx1"/>
                </a:solidFill>
              </a:rPr>
              <a:t>Environment: </a:t>
            </a:r>
            <a:r>
              <a:rPr lang="en-US" sz="1400" dirty="0">
                <a:solidFill>
                  <a:schemeClr val="tx1"/>
                </a:solidFill>
              </a:rPr>
              <a:t>say who supplies containers.</a:t>
            </a:r>
          </a:p>
          <a:p>
            <a:pPr marL="0" indent="0">
              <a:spcAft>
                <a:spcPts val="400"/>
              </a:spcAft>
              <a:buNone/>
            </a:pPr>
            <a:r>
              <a:rPr lang="en-US" sz="1400" b="1" dirty="0">
                <a:solidFill>
                  <a:schemeClr val="tx2"/>
                </a:solidFill>
              </a:rPr>
              <a:t>Before a later real-food pilot</a:t>
            </a:r>
          </a:p>
          <a:p>
            <a:pPr marL="0" indent="0">
              <a:spcAft>
                <a:spcPts val="0"/>
              </a:spcAft>
              <a:buNone/>
            </a:pPr>
            <a:r>
              <a:rPr lang="en-US" sz="1400" dirty="0">
                <a:solidFill>
                  <a:schemeClr val="tx1"/>
                </a:solidFill>
              </a:rPr>
              <a:t>Establish vendors, eligible categories, safety advice, handling and collection procedures, incident arrangements and a separate budget. No approval or readiness is claimed.</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1280160"/>
            <a:ext cx="11064240" cy="2194560"/>
          </a:xfrm>
          <a:prstGeom prst="rect">
            <a:avLst/>
          </a:prstGeom>
          <a:noFill/>
          <a:ln/>
        </p:spPr>
        <p:txBody>
          <a:bodyPr wrap="square" lIns="0" tIns="0" rIns="0" bIns="0" rtlCol="0" anchor="t"/>
          <a:lstStyle/>
          <a:p>
            <a:pPr marL="0" indent="0">
              <a:buNone/>
            </a:pPr>
            <a:r>
              <a:rPr lang="en-US" sz="4400" b="1" dirty="0">
                <a:solidFill>
                  <a:schemeClr val="bg1"/>
                </a:solidFill>
              </a:rPr>
              <a:t>AgriLoop aims to turn eligible surplus into discounted sales and free donations.</a:t>
            </a:r>
            <a:endParaRPr lang="en-US" sz="4400" dirty="0"/>
          </a:p>
        </p:txBody>
      </p:sp>
      <p:sp>
        <p:nvSpPr>
          <p:cNvPr id="4" name="Text 1"/>
          <p:cNvSpPr txBox="1"/>
          <p:nvPr/>
        </p:nvSpPr>
        <p:spPr>
          <a:xfrm>
            <a:off x="548640" y="731520"/>
            <a:ext cx="6400800" cy="320040"/>
          </a:xfrm>
          <a:prstGeom prst="rect">
            <a:avLst/>
          </a:prstGeom>
          <a:noFill/>
          <a:ln/>
        </p:spPr>
        <p:txBody>
          <a:bodyPr wrap="square" lIns="0" tIns="0" rIns="0" bIns="0" rtlCol="0" anchor="ctr"/>
          <a:lstStyle/>
          <a:p>
            <a:pPr marL="0" indent="0">
              <a:buNone/>
            </a:pPr>
            <a:r>
              <a:rPr lang="en-US" sz="1200" b="1" dirty="0">
                <a:solidFill>
                  <a:schemeClr val="accent2"/>
                </a:solidFill>
              </a:rPr>
              <a:t>11 · CLOSING  ·  ~25 s</a:t>
            </a:r>
            <a:endParaRPr lang="en-US" sz="1200" dirty="0"/>
          </a:p>
        </p:txBody>
      </p:sp>
      <p:sp>
        <p:nvSpPr>
          <p:cNvPr id="5" name="The problem"/>
          <p:cNvSpPr/>
          <p:nvPr/>
        </p:nvSpPr>
        <p:spPr>
          <a:xfrm>
            <a:off x="548640" y="3657600"/>
            <a:ext cx="3566160" cy="2148840"/>
          </a:xfrm>
          <a:prstGeom prst="roundRect">
            <a:avLst>
              <a:gd name="adj" fmla="val 3810"/>
            </a:avLst>
          </a:prstGeom>
          <a:solidFill>
            <a:schemeClr val="tx2"/>
          </a:solidFill>
          <a:ln/>
        </p:spPr>
        <p:txBody>
          <a:bodyPr wrap="square" lIns="127000" tIns="127000" rIns="127000" bIns="127000" rtlCol="0" anchor="t"/>
          <a:lstStyle/>
          <a:p>
            <a:pPr marL="0" indent="0">
              <a:spcAft>
                <a:spcPts val="400"/>
              </a:spcAft>
              <a:buNone/>
            </a:pPr>
            <a:r>
              <a:rPr lang="en-US" sz="1400" b="1" dirty="0">
                <a:solidFill>
                  <a:schemeClr val="bg1"/>
                </a:solidFill>
              </a:rPr>
              <a:t>The problem</a:t>
            </a:r>
          </a:p>
          <a:p>
            <a:pPr marL="0" indent="0">
              <a:spcAft>
                <a:spcPts val="0"/>
              </a:spcAft>
              <a:buNone/>
            </a:pPr>
            <a:r>
              <a:rPr lang="en-US" sz="1400" dirty="0">
                <a:solidFill>
                  <a:schemeClr val="bg1"/>
                </a:solidFill>
              </a:rPr>
              <a:t>Unsold food and produce were reported in an earlier submission. 32.8% of Sri Lankan households experienced moderate or severe food insecurity in the 12 months preceding the 2024–25 BRIGHT survey [1].</a:t>
            </a:r>
          </a:p>
        </p:txBody>
      </p:sp>
      <p:sp>
        <p:nvSpPr>
          <p:cNvPr id="6" name="Our solution"/>
          <p:cNvSpPr/>
          <p:nvPr/>
        </p:nvSpPr>
        <p:spPr>
          <a:xfrm>
            <a:off x="4297680" y="3657600"/>
            <a:ext cx="3566160" cy="2148840"/>
          </a:xfrm>
          <a:prstGeom prst="roundRect">
            <a:avLst>
              <a:gd name="adj" fmla="val 3810"/>
            </a:avLst>
          </a:prstGeom>
          <a:solidFill>
            <a:schemeClr val="tx2"/>
          </a:solidFill>
          <a:ln/>
        </p:spPr>
        <p:txBody>
          <a:bodyPr wrap="square" lIns="127000" tIns="127000" rIns="127000" bIns="127000" rtlCol="0" anchor="t"/>
          <a:lstStyle/>
          <a:p>
            <a:pPr marL="0" indent="0">
              <a:spcAft>
                <a:spcPts val="400"/>
              </a:spcAft>
              <a:buNone/>
            </a:pPr>
            <a:r>
              <a:rPr lang="en-US" sz="1400" b="1" dirty="0">
                <a:solidFill>
                  <a:schemeClr val="bg1"/>
                </a:solidFill>
              </a:rPr>
              <a:t>Our solution</a:t>
            </a:r>
          </a:p>
          <a:p>
            <a:pPr marL="0" indent="0">
              <a:spcAft>
                <a:spcPts val="0"/>
              </a:spcAft>
              <a:buNone/>
            </a:pPr>
            <a:r>
              <a:rPr lang="en-US" sz="1400" dirty="0">
                <a:solidFill>
                  <a:schemeClr val="bg1"/>
                </a:solidFill>
              </a:rPr>
              <a:t>A proposed platform for retail and wholesale surplus, with discounted sales or free donations collected by buyers or recipients.</a:t>
            </a:r>
          </a:p>
        </p:txBody>
      </p:sp>
      <p:sp>
        <p:nvSpPr>
          <p:cNvPr id="7" name="Our ask"/>
          <p:cNvSpPr/>
          <p:nvPr/>
        </p:nvSpPr>
        <p:spPr>
          <a:xfrm>
            <a:off x="8046720" y="3657600"/>
            <a:ext cx="3566160" cy="2148840"/>
          </a:xfrm>
          <a:prstGeom prst="roundRect">
            <a:avLst>
              <a:gd name="adj" fmla="val 3810"/>
            </a:avLst>
          </a:prstGeom>
          <a:solidFill>
            <a:schemeClr val="tx2"/>
          </a:solidFill>
          <a:ln/>
        </p:spPr>
        <p:txBody>
          <a:bodyPr wrap="square" lIns="127000" tIns="127000" rIns="127000" bIns="127000" rtlCol="0" anchor="t"/>
          <a:lstStyle/>
          <a:p>
            <a:pPr marL="0" indent="0">
              <a:spcAft>
                <a:spcPts val="400"/>
              </a:spcAft>
              <a:buNone/>
            </a:pPr>
            <a:r>
              <a:rPr lang="en-US" sz="1400" b="1" dirty="0">
                <a:solidFill>
                  <a:schemeClr val="bg1"/>
                </a:solidFill>
              </a:rPr>
              <a:t>Our ask</a:t>
            </a:r>
          </a:p>
          <a:p>
            <a:pPr marL="0" indent="0">
              <a:spcAft>
                <a:spcPts val="0"/>
              </a:spcAft>
              <a:buNone/>
            </a:pPr>
            <a:r>
              <a:rPr lang="en-US" sz="1400" dirty="0">
                <a:solidFill>
                  <a:schemeClr val="bg1"/>
                </a:solidFill>
              </a:rPr>
              <a:t>We are seeking retail and wholesale vendors and potential recipients for interviews and prototype testing, plus a food-safety advisor to guide a later live-food pilot.</a:t>
            </a:r>
          </a:p>
        </p:txBody>
      </p:sp>
      <p:sp>
        <p:nvSpPr>
          <p:cNvPr id="8" name="Text 5"/>
          <p:cNvSpPr txBox="1"/>
          <p:nvPr/>
        </p:nvSpPr>
        <p:spPr>
          <a:xfrm>
            <a:off x="548640" y="5943600"/>
            <a:ext cx="10972800" cy="320040"/>
          </a:xfrm>
          <a:prstGeom prst="rect">
            <a:avLst/>
          </a:prstGeom>
          <a:noFill/>
          <a:ln/>
        </p:spPr>
        <p:txBody>
          <a:bodyPr wrap="square" lIns="0" tIns="0" rIns="0" bIns="0" rtlCol="0" anchor="ctr"/>
          <a:lstStyle/>
          <a:p>
            <a:pPr marL="0" indent="0">
              <a:buNone/>
            </a:pPr>
            <a:r>
              <a:rPr lang="en-US" sz="1400" dirty="0">
                <a:solidFill>
                  <a:schemeClr val="bg2"/>
                </a:solidFill>
              </a:rPr>
              <a:t>Team Fade  ·  mohanuvaram123@gmail.com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APPENDIX A · REFERENCES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References</a:t>
            </a:r>
            <a:endParaRPr lang="en-US" sz="3400" dirty="0"/>
          </a:p>
        </p:txBody>
      </p:sp>
      <p:sp>
        <p:nvSpPr>
          <p:cNvPr id="5" name="References"/>
          <p:cNvSpPr/>
          <p:nvPr/>
        </p:nvSpPr>
        <p:spPr>
          <a:xfrm>
            <a:off x="548640" y="1417320"/>
            <a:ext cx="11064240" cy="4754880"/>
          </a:xfrm>
          <a:prstGeom prst="roundRect">
            <a:avLst>
              <a:gd name="adj" fmla="val 1600"/>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References (IEEE format)</a:t>
            </a:r>
          </a:p>
          <a:p>
            <a:pPr marL="0" indent="0">
              <a:spcAft>
                <a:spcPts val="400"/>
              </a:spcAft>
              <a:buNone/>
            </a:pPr>
            <a:r>
              <a:rPr lang="en-US" sz="1400" dirty="0">
                <a:solidFill>
                  <a:schemeClr val="tx1"/>
                </a:solidFill>
              </a:rPr>
              <a:t>[1] D. Headey et al., “Food insecurity in post-crisis Sri Lanka: Evidence from the 2024–2025 BRIGHT survey,” IFPRI, 2025, Table 2. Accessed: Oct. 18, 2026. [Online]. Available: https://cgspace.cgiar.org/server/api/core/bitstreams/3714264a-7860-4a77-b9dc-1dffb100e327/content</a:t>
            </a:r>
          </a:p>
          <a:p>
            <a:pPr marL="0" indent="0">
              <a:spcAft>
                <a:spcPts val="400"/>
              </a:spcAft>
              <a:buNone/>
            </a:pPr>
            <a:r>
              <a:rPr lang="en-US" sz="1400" dirty="0">
                <a:solidFill>
                  <a:schemeClr val="tx1"/>
                </a:solidFill>
              </a:rPr>
              <a:t>[2] M. Reitemeier, M. Aheeyar and P. Drechsel, “Perceptions of food waste reduction in Sri Lanka’s commercial capital, Colombo,” Sustainability, vol. 13, no. 2, art. 838, 2021, doi: 10.3390/su13020838.</a:t>
            </a:r>
          </a:p>
          <a:p>
            <a:pPr marL="0" indent="0">
              <a:spcAft>
                <a:spcPts val="400"/>
              </a:spcAft>
              <a:buNone/>
            </a:pPr>
            <a:r>
              <a:rPr lang="en-US" sz="1400" dirty="0">
                <a:solidFill>
                  <a:schemeClr val="tx1"/>
                </a:solidFill>
              </a:rPr>
              <a:t>[3] Too Good To Go, “Marketplace Store Terms.” Accessed: Oct. 25, 2026. [Online]. Available: https://www.toogoodtogo.com/en-us/legal/terms-and-conditions-marketplace</a:t>
            </a:r>
          </a:p>
          <a:p>
            <a:pPr marL="0" indent="0">
              <a:spcAft>
                <a:spcPts val="400"/>
              </a:spcAft>
              <a:buNone/>
            </a:pPr>
            <a:r>
              <a:rPr lang="en-US" sz="1400" dirty="0">
                <a:solidFill>
                  <a:schemeClr val="tx1"/>
                </a:solidFill>
              </a:rPr>
              <a:t>[4] Too Good To Go, website and business solutions (Surprise Bags, Platform, Parcels). Accessed: Oct. 25, 2026. [Online]. Available: https://www.toogoodtogo.com/</a:t>
            </a:r>
          </a:p>
          <a:p>
            <a:pPr marL="0" indent="0">
              <a:spcAft>
                <a:spcPts val="400"/>
              </a:spcAft>
              <a:buNone/>
            </a:pPr>
            <a:r>
              <a:rPr lang="en-US" sz="1400" dirty="0">
                <a:solidFill>
                  <a:schemeClr val="tx1"/>
                </a:solidFill>
              </a:rPr>
              <a:t>[5] Robin Hood Army Sri Lanka, “Volunteer duties + expectations,” hosted on iVolunteer International. Accessed: Oct. 25, 2026. [Online]. Available: https://www.ivint.org/?p=1269</a:t>
            </a:r>
          </a:p>
          <a:p>
            <a:pPr marL="0" indent="0">
              <a:spcAft>
                <a:spcPts val="400"/>
              </a:spcAft>
              <a:buNone/>
            </a:pPr>
            <a:r>
              <a:rPr lang="en-US" sz="1400" dirty="0">
                <a:solidFill>
                  <a:schemeClr val="tx1"/>
                </a:solidFill>
              </a:rPr>
              <a:t>[6] Sri Lanka, Food (Hygiene) Regulations, 2011, Gazette Extraordinary No. 1742/26, Jan. 26, 2012. Accessed: Oct. 25, 2026. [Online]. Available: https://leap.unep.org/en/countries/lk/national-legislation/food-hygiene-regulations-2011</a:t>
            </a:r>
          </a:p>
          <a:p>
            <a:pPr marL="0" indent="0">
              <a:spcAft>
                <a:spcPts val="400"/>
              </a:spcAft>
              <a:buNone/>
            </a:pPr>
            <a:r>
              <a:rPr lang="en-US" sz="1400" dirty="0">
                <a:solidFill>
                  <a:schemeClr val="tx1"/>
                </a:solidFill>
              </a:rPr>
              <a:t>[7] Vercel, “Vercel Hobby Plan.” Accessed: Oct. 25, 2026. [Online]. Available: https://vercel.com/docs/plans/hobby</a:t>
            </a:r>
          </a:p>
          <a:p>
            <a:pPr marL="0" indent="0">
              <a:spcAft>
                <a:spcPts val="400"/>
              </a:spcAft>
              <a:buNone/>
            </a:pPr>
            <a:r>
              <a:rPr lang="en-US" sz="1400" dirty="0">
                <a:solidFill>
                  <a:schemeClr val="tx1"/>
                </a:solidFill>
              </a:rPr>
              <a:t>[8] United Nations, “Goal 12: Ensure sustainable consumption and production patterns” (target 12.3, indicator 12.3.1). [Online]. Available: https://sdgs.un.org/goals/goal12</a:t>
            </a:r>
          </a:p>
          <a:p>
            <a:pPr marL="0" indent="0">
              <a:spcAft>
                <a:spcPts val="400"/>
              </a:spcAft>
              <a:buNone/>
            </a:pPr>
            <a:r>
              <a:rPr lang="en-US" sz="1400" dirty="0">
                <a:solidFill>
                  <a:schemeClr val="tx1"/>
                </a:solidFill>
              </a:rPr>
              <a:t>[9] United Nations, “Goal 2: Zero hunger” (target 2.1, indicator 2.1.2). [Online]. Available: https://sdgs.un.org/goals/goal2</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marL="0" indent="0">
              <a:buNone/>
            </a:pPr>
            <a:r>
              <a:rPr lang="en-US" sz="1200" b="1" dirty="0">
                <a:solidFill>
                  <a:schemeClr val="accent2"/>
                </a:solidFill>
              </a:rPr>
              <a:t>APPENDIX B · EVIDENCE &amp; OPEN DECISIONS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t"/>
          <a:lstStyle/>
          <a:p>
            <a:pPr marL="0" indent="0">
              <a:buNone/>
            </a:pPr>
            <a:r>
              <a:rPr lang="en-US" sz="3400" b="1" dirty="0">
                <a:solidFill>
                  <a:schemeClr val="tx1"/>
                </a:solidFill>
              </a:rPr>
              <a:t>Preliminary evidence and open decisions</a:t>
            </a:r>
            <a:endParaRPr lang="en-US" sz="3400" dirty="0"/>
          </a:p>
        </p:txBody>
      </p:sp>
      <p:sp>
        <p:nvSpPr>
          <p:cNvPr id="5" name="Primary evidence"/>
          <p:cNvSpPr/>
          <p:nvPr/>
        </p:nvSpPr>
        <p:spPr>
          <a:xfrm>
            <a:off x="548640" y="1417320"/>
            <a:ext cx="6400800" cy="4297680"/>
          </a:xfrm>
          <a:prstGeom prst="roundRect">
            <a:avLst>
              <a:gd name="adj" fmla="val 1600"/>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Preliminary evidence: unverified</a:t>
            </a:r>
          </a:p>
          <a:p>
            <a:pPr marL="0" indent="0">
              <a:spcAft>
                <a:spcPts val="300"/>
              </a:spcAft>
              <a:buNone/>
            </a:pPr>
            <a:r>
              <a:rPr lang="en-US" sz="1400" dirty="0">
                <a:solidFill>
                  <a:schemeClr val="tx1"/>
                </a:solidFill>
              </a:rPr>
              <a:t>The earlier submission reported a 42-person survey and preliminary stakeholder interviews. Original responses and interview records are unavailable for verification. These findings are preliminary and require a new documented study.</a:t>
            </a:r>
          </a:p>
          <a:p>
            <a:pPr marL="0" indent="0">
              <a:spcAft>
                <a:spcPts val="300"/>
              </a:spcAft>
              <a:buNone/>
            </a:pPr>
            <a:r>
              <a:rPr lang="en-US" sz="1400" b="1" dirty="0">
                <a:solidFill>
                  <a:schemeClr val="tx1"/>
                </a:solidFill>
              </a:rPr>
              <a:t>Reported in the earlier submission; not independently verified: </a:t>
            </a:r>
            <a:r>
              <a:rPr lang="en-US" sz="1400" dirty="0">
                <a:solidFill>
                  <a:schemeClr val="tx1"/>
                </a:solidFill>
              </a:rPr>
              <a:t>4 market vendors, 3 bakery or cafeteria managers, 2 commission agents, 1 driver and 1 kitchen coordinator were interviewed; 15–30 unsold bakery items; 40–70 kg/day of market discards. These are items and kilograms, not meals, and not all is eligible for redistribution.</a:t>
            </a:r>
          </a:p>
          <a:p>
            <a:pPr marL="0" indent="0">
              <a:spcAft>
                <a:spcPts val="0"/>
              </a:spcAft>
              <a:buNone/>
            </a:pPr>
            <a:r>
              <a:rPr lang="en-US" sz="1400" dirty="0">
                <a:solidFill>
                  <a:schemeClr val="tx1"/>
                </a:solidFill>
              </a:rPr>
              <a:t>Willingness expressed in interviews is not a partnership, commitment or proven demand.</a:t>
            </a:r>
          </a:p>
        </p:txBody>
      </p:sp>
      <p:sp>
        <p:nvSpPr>
          <p:cNvPr id="6" name="Secondary sources"/>
          <p:cNvSpPr/>
          <p:nvPr/>
        </p:nvSpPr>
        <p:spPr>
          <a:xfrm>
            <a:off x="7132320" y="1417320"/>
            <a:ext cx="4480560" cy="2057400"/>
          </a:xfrm>
          <a:prstGeom prst="roundRect">
            <a:avLst>
              <a:gd name="adj" fmla="val 333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Secondary sources used</a:t>
            </a:r>
          </a:p>
          <a:p>
            <a:pPr marL="0" indent="0">
              <a:spcAft>
                <a:spcPts val="0"/>
              </a:spcAft>
              <a:buNone/>
            </a:pPr>
            <a:r>
              <a:rPr lang="en-US" sz="1400" dirty="0">
                <a:solidFill>
                  <a:schemeClr val="tx1"/>
                </a:solidFill>
              </a:rPr>
              <a:t>BRIGHT survey [1]: Table 2, 12-month recall (the report text prints 35.5% urban; we use the table value, 35.3%). Colombo study [2]: the ~42% share is cited there from earlier research.</a:t>
            </a:r>
          </a:p>
        </p:txBody>
      </p:sp>
      <p:sp>
        <p:nvSpPr>
          <p:cNvPr id="7" name="Open decisions"/>
          <p:cNvSpPr/>
          <p:nvPr/>
        </p:nvSpPr>
        <p:spPr>
          <a:xfrm>
            <a:off x="7132320" y="3611880"/>
            <a:ext cx="4480560" cy="2103120"/>
          </a:xfrm>
          <a:prstGeom prst="roundRect">
            <a:avLst>
              <a:gd name="adj" fmla="val 3333"/>
            </a:avLst>
          </a:prstGeom>
          <a:solidFill>
            <a:schemeClr val="bg2"/>
          </a:solidFill>
          <a:ln/>
        </p:spPr>
        <p:txBody>
          <a:bodyPr wrap="square" lIns="127000" tIns="127000" rIns="127000" bIns="127000" rtlCol="0" anchor="t"/>
          <a:lstStyle/>
          <a:p>
            <a:pPr marL="0" indent="0">
              <a:spcAft>
                <a:spcPts val="400"/>
              </a:spcAft>
              <a:buNone/>
            </a:pPr>
            <a:r>
              <a:rPr lang="en-US" sz="1400" b="1" dirty="0">
                <a:solidFill>
                  <a:schemeClr val="tx2"/>
                </a:solidFill>
              </a:rPr>
              <a:t>Open decisions</a:t>
            </a:r>
          </a:p>
          <a:p>
            <a:pPr marL="171450" indent="-171450">
              <a:spcAft>
                <a:spcPts val="400"/>
              </a:spcAft>
              <a:buClr>
                <a:schemeClr val="accent1"/>
              </a:buClr>
              <a:buFont typeface="Arial"/>
              <a:buChar char="•"/>
            </a:pPr>
            <a:r>
              <a:rPr lang="en-US" sz="1400" dirty="0">
                <a:solidFill>
                  <a:schemeClr val="tx1"/>
                </a:solidFill>
              </a:rPr>
              <a:t>First sites and food categories</a:t>
            </a:r>
          </a:p>
          <a:p>
            <a:pPr marL="171450" indent="-171450">
              <a:spcAft>
                <a:spcPts val="400"/>
              </a:spcAft>
              <a:buClr>
                <a:schemeClr val="accent1"/>
              </a:buClr>
              <a:buFont typeface="Arial"/>
              <a:buChar char="•"/>
            </a:pPr>
            <a:r>
              <a:rPr lang="en-US" sz="1400" dirty="0">
                <a:solidFill>
                  <a:schemeClr val="tx1"/>
                </a:solidFill>
              </a:rPr>
              <a:t>Donations: individual access (proposed: organisations first)</a:t>
            </a:r>
          </a:p>
          <a:p>
            <a:pPr marL="171450" indent="-171450">
              <a:spcAft>
                <a:spcPts val="400"/>
              </a:spcAft>
              <a:buClr>
                <a:schemeClr val="accent1"/>
              </a:buClr>
              <a:buFont typeface="Arial"/>
              <a:buChar char="•"/>
            </a:pPr>
            <a:r>
              <a:rPr lang="en-US" sz="1400" dirty="0">
                <a:solidFill>
                  <a:schemeClr val="tx1"/>
                </a:solidFill>
              </a:rPr>
              <a:t>Payment, fee or subscription model</a:t>
            </a:r>
          </a:p>
          <a:p>
            <a:pPr marL="171450" indent="-171450">
              <a:spcAft>
                <a:spcPts val="0"/>
              </a:spcAft>
              <a:buClr>
                <a:schemeClr val="accent1"/>
              </a:buClr>
              <a:buFont typeface="Arial"/>
              <a:buChar char="•"/>
            </a:pPr>
            <a:r>
              <a:rPr lang="en-US" sz="1400" dirty="0">
                <a:solidFill>
                  <a:schemeClr val="tx1"/>
                </a:solidFill>
              </a:rPr>
              <a:t>Technology, hosting and a later pilot budget</a:t>
            </a:r>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SDG Sprints 2026">
  <a:themeElements>
    <a:clrScheme name="SDG Sprints 2026">
      <a:dk1>
        <a:srgbClr val="0F1B3D"/>
      </a:dk1>
      <a:lt1>
        <a:srgbClr val="FFFFFF"/>
      </a:lt1>
      <a:dk2>
        <a:srgbClr val="1B2B63"/>
      </a:dk2>
      <a:lt2>
        <a:srgbClr val="EEF2F8"/>
      </a:lt2>
      <a:accent1>
        <a:srgbClr val="00629B"/>
      </a:accent1>
      <a:accent2>
        <a:srgbClr val="F28C28"/>
      </a:accent2>
      <a:accent3>
        <a:srgbClr val="2E9E6B"/>
      </a:accent3>
      <a:accent4>
        <a:srgbClr val="55606E"/>
      </a:accent4>
      <a:accent5>
        <a:srgbClr val="C0392B"/>
      </a:accent5>
      <a:accent6>
        <a:srgbClr val="7B5EA7"/>
      </a:accent6>
      <a:hlink>
        <a:srgbClr val="00629B"/>
      </a:hlink>
      <a:folHlink>
        <a:srgbClr val="7B5EA7"/>
      </a:folHlink>
    </a:clrScheme>
    <a:fontScheme name="SDG Sprints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4111</Words>
  <Application>Microsoft Office PowerPoint</Application>
  <PresentationFormat>Widescreen</PresentationFormat>
  <Paragraphs>357</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SDG Sprints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IEEE Sri Lanka Section SIGHT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Solution Concept Deck Template</dc:title>
  <dc:subject>SDG Sprints 2026</dc:subject>
  <dc:creator>IEEE SIGHT SDG Sprints 2026</dc:creator>
  <cp:keywords>SDG Solutions Challenge</cp:keywords>
  <cp:lastModifiedBy>Manidu Samaranayake</cp:lastModifiedBy>
  <cp:revision>3</cp:revision>
  <dcterms:created xsi:type="dcterms:W3CDTF">2026-10-15T16:16:32Z</dcterms:created>
  <dcterms:modified xsi:type="dcterms:W3CDTF">2026-10-25T09:21:13Z</dcterms:modified>
  <cp:category>Competition Stage 2</cp:category>
</cp:coreProperties>
</file>